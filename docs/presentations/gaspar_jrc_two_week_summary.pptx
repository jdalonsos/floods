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5c5700ccc14f0c" /><Relationship Type="http://schemas.openxmlformats.org/officeDocument/2006/relationships/extended-properties" Target="/docProps/app.xml" Id="R6aaa6b3769cf47c7" /><Relationship Type="http://schemas.openxmlformats.org/officeDocument/2006/relationships/officeDocument" Target="/ppt/presentation.xml" Id="R7f51b5e7db194107" /></Relationships>
</file>

<file path=ppt/presentation.xml><?xml version="1.0" encoding="utf-8"?>
<p:presentation xmlns:p="http://schemas.openxmlformats.org/presentationml/2006/main">
  <p:sldMasterIdLst>
    <p:sldMasterId xmlns:r="http://schemas.openxmlformats.org/officeDocument/2006/relationships" id="2147483648" r:id="Rc1ec64bb72e544b2"/>
  </p:sldMasterIdLst>
  <p:notesMasterIdLst>
    <p:notesMasterId xmlns:r="http://schemas.openxmlformats.org/officeDocument/2006/relationships" r:id="Rc678417cbb354cb5"/>
  </p:notesMasterIdLst>
  <p:sldIdLst>
    <p:sldId xmlns:r="http://schemas.openxmlformats.org/officeDocument/2006/relationships" id="256" r:id="R12666995ef464f20"/>
    <p:sldId xmlns:r="http://schemas.openxmlformats.org/officeDocument/2006/relationships" id="257" r:id="Rf7b83faa2d9247d0"/>
    <p:sldId xmlns:r="http://schemas.openxmlformats.org/officeDocument/2006/relationships" id="258" r:id="Re24cb3922bfa4b43"/>
    <p:sldId xmlns:r="http://schemas.openxmlformats.org/officeDocument/2006/relationships" id="259" r:id="R1224b83a1e884c50"/>
    <p:sldId xmlns:r="http://schemas.openxmlformats.org/officeDocument/2006/relationships" id="260" r:id="Rcc430d41987d4d47"/>
    <p:sldId xmlns:r="http://schemas.openxmlformats.org/officeDocument/2006/relationships" id="261" r:id="R5e74da38401548ac"/>
    <p:sldId xmlns:r="http://schemas.openxmlformats.org/officeDocument/2006/relationships" id="262" r:id="Rdeb89a3e06fc4080"/>
    <p:sldId xmlns:r="http://schemas.openxmlformats.org/officeDocument/2006/relationships" id="263" r:id="Rebe1c6da665c477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bb64b38d4044e53" /><Relationship Type="http://schemas.openxmlformats.org/officeDocument/2006/relationships/slideMaster" Target="/ppt/slideMasters/slideMaster1.xml" Id="Rc1ec64bb72e544b2" /><Relationship Type="http://schemas.openxmlformats.org/officeDocument/2006/relationships/notesMaster" Target="/ppt/notesMasters/notesMaster1.xml" Id="Rc678417cbb354cb5" /><Relationship Type="http://schemas.openxmlformats.org/officeDocument/2006/relationships/presProps" Target="/ppt/presProps.xml" Id="Rc9538155b7f64cc7" /><Relationship Type="http://schemas.openxmlformats.org/officeDocument/2006/relationships/viewProps" Target="/ppt/viewProps.xml" Id="Rc9336a7dd1af47f9" /><Relationship Type="http://schemas.openxmlformats.org/officeDocument/2006/relationships/tableStyles" Target="/ppt/tableStyles.xml" Id="R50de71266b1840bf" /><Relationship Type="http://schemas.openxmlformats.org/officeDocument/2006/relationships/slide" Target="/ppt/slides/slide1.xml" Id="R12666995ef464f20" /><Relationship Type="http://schemas.openxmlformats.org/officeDocument/2006/relationships/slide" Target="/ppt/slides/slide2.xml" Id="Rf7b83faa2d9247d0" /><Relationship Type="http://schemas.openxmlformats.org/officeDocument/2006/relationships/slide" Target="/ppt/slides/slide3.xml" Id="Re24cb3922bfa4b43" /><Relationship Type="http://schemas.openxmlformats.org/officeDocument/2006/relationships/slide" Target="/ppt/slides/slide4.xml" Id="R1224b83a1e884c50" /><Relationship Type="http://schemas.openxmlformats.org/officeDocument/2006/relationships/slide" Target="/ppt/slides/slide5.xml" Id="Rcc430d41987d4d47" /><Relationship Type="http://schemas.openxmlformats.org/officeDocument/2006/relationships/slide" Target="/ppt/slides/slide6.xml" Id="R5e74da38401548ac" /><Relationship Type="http://schemas.openxmlformats.org/officeDocument/2006/relationships/slide" Target="/ppt/slides/slide7.xml" Id="Rdeb89a3e06fc4080" /><Relationship Type="http://schemas.openxmlformats.org/officeDocument/2006/relationships/slide" Target="/ppt/slides/slide8.xml" Id="Rebe1c6da665c47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5deb846cf140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5308d5e7694d2a" /><Relationship Type="http://schemas.openxmlformats.org/officeDocument/2006/relationships/notesMaster" Target="/ppt/notesMasters/notesMaster1.xml" Id="R821f989c096e41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cf8410fc604b79" /><Relationship Type="http://schemas.openxmlformats.org/officeDocument/2006/relationships/notesMaster" Target="/ppt/notesMasters/notesMaster1.xml" Id="Rd6082fdf9efc48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432e47535a4554" /><Relationship Type="http://schemas.openxmlformats.org/officeDocument/2006/relationships/notesMaster" Target="/ppt/notesMasters/notesMaster1.xml" Id="Rd98e3363019944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0c47c1628c46ae" /><Relationship Type="http://schemas.openxmlformats.org/officeDocument/2006/relationships/notesMaster" Target="/ppt/notesMasters/notesMaster1.xml" Id="Rfb1141a63e03499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4f22135bba4b63" /><Relationship Type="http://schemas.openxmlformats.org/officeDocument/2006/relationships/notesMaster" Target="/ppt/notesMasters/notesMaster1.xml" Id="R0cf05c41198249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54355776ae45ff" /><Relationship Type="http://schemas.openxmlformats.org/officeDocument/2006/relationships/notesMaster" Target="/ppt/notesMasters/notesMaster1.xml" Id="R78dd20ba178541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4d215b6e5f4512" /><Relationship Type="http://schemas.openxmlformats.org/officeDocument/2006/relationships/notesMaster" Target="/ppt/notesMasters/notesMaster1.xml" Id="Rfe2df3dd805645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2ffbcb7e064385" /><Relationship Type="http://schemas.openxmlformats.org/officeDocument/2006/relationships/notesMaster" Target="/ppt/notesMasters/notesMaster1.xml" Id="R5781d0a728fc46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6f7fcf95ce46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36deb359374872" /><Relationship Type="http://schemas.openxmlformats.org/officeDocument/2006/relationships/slideLayout" Target="/ppt/slideLayouts/slideLayout1.xml" Id="Rd7de65bb61774c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de65bb61774c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4401802f12407a" /><Relationship Type="http://schemas.openxmlformats.org/officeDocument/2006/relationships/notesSlide" Target="/ppt/notesSlides/notesSlide1.xml" Id="Rfac3550a567d41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0af44426f954609" /><Relationship Type="http://schemas.openxmlformats.org/officeDocument/2006/relationships/notesSlide" Target="/ppt/notesSlides/notesSlide2.xml" Id="R9a5f6816d9224d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922af621fee46bb" /><Relationship Type="http://schemas.openxmlformats.org/officeDocument/2006/relationships/notesSlide" Target="/ppt/notesSlides/notesSlide3.xml" Id="Rf29cf3f336a9453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5b9c78e6f194daf" /><Relationship Type="http://schemas.openxmlformats.org/officeDocument/2006/relationships/image" Target="/ppt/media/image.png" Id="Re38db7aa70d140d8" /><Relationship Type="http://schemas.openxmlformats.org/officeDocument/2006/relationships/notesSlide" Target="/ppt/notesSlides/notesSlide4.xml" Id="Re75973e0f45d4a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63ac9922bec418a" /><Relationship Type="http://schemas.openxmlformats.org/officeDocument/2006/relationships/notesSlide" Target="/ppt/notesSlides/notesSlide5.xml" Id="Rbdb5702c6c1c4b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691a251fcc4000" /><Relationship Type="http://schemas.openxmlformats.org/officeDocument/2006/relationships/image" Target="/ppt/media/image2.png" Id="Rf5342a2a9838456b" /><Relationship Type="http://schemas.openxmlformats.org/officeDocument/2006/relationships/image" Target="/ppt/media/image3.png" Id="R7a29300896d74f41" /><Relationship Type="http://schemas.openxmlformats.org/officeDocument/2006/relationships/image" Target="/ppt/media/image4.png" Id="Rd91512601bbd46ee" /><Relationship Type="http://schemas.openxmlformats.org/officeDocument/2006/relationships/notesSlide" Target="/ppt/notesSlides/notesSlide6.xml" Id="R37d007a0f698494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dad4474b4bd45ce" /><Relationship Type="http://schemas.openxmlformats.org/officeDocument/2006/relationships/notesSlide" Target="/ppt/notesSlides/notesSlide7.xml" Id="R8ccf5322dbf342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1bd2b9fff24a66" /><Relationship Type="http://schemas.openxmlformats.org/officeDocument/2006/relationships/notesSlide" Target="/ppt/notesSlides/notesSlide8.xml" Id="R13be3f8fcf524ff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B6C0FC67-FF8C-40F6-8E0D-3E6D41DC01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01826"/>
              </a:gs>
              <a:gs pos="100000">
                <a:srgbClr val="1B2840"/>
              </a:gs>
            </a:gsLst>
            <a:lin ang="10800000"/>
          </a:gradFill>
          <a:ln xmlns:a="http://schemas.openxmlformats.org/drawingml/2006/main" w="0">
            <a:solidFill>
              <a:srgbClr val="000000">
                <a:alpha val="0"/>
              </a:srgbClr>
            </a:solidFill>
            <a:prstDash val="solid"/>
          </a:ln>
        </p:spPr>
      </p:sp>
      <p:sp>
        <p:nvSpPr>
          <p:cNvPr id="2" name="AccentBand">
            <a:extLst xmlns:a="http://schemas.openxmlformats.org/drawingml/2006/main">
              <a:ext uri="{FF2B5EF4-FFF2-40B4-BE49-F238E27FC236}">
                <a16:creationId xmlns:a16="http://schemas.microsoft.com/office/drawing/2014/main" id="{4034A39B-4B6D-4F44-92E3-F3E02DB6D77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3" name="Label">
            <a:extLst xmlns:a="http://schemas.openxmlformats.org/drawingml/2006/main">
              <a:ext uri="{FF2B5EF4-FFF2-40B4-BE49-F238E27FC236}">
                <a16:creationId xmlns:a16="http://schemas.microsoft.com/office/drawing/2014/main" id="{1419B262-B2C7-4C40-9987-E8291DBC3F1D}"/>
              </a:ext>
            </a:extLst>
          </p:cNvPr>
          <p:cNvSpPr>
            <a:spLocks xmlns:a="http://schemas.openxmlformats.org/drawingml/2006/main" noGrp="1"/>
          </p:cNvSpPr>
          <p:nvPr/>
        </p:nvSpPr>
        <p:spPr>
          <a:xfrm xmlns:a="http://schemas.openxmlformats.org/drawingml/2006/main">
            <a:off x="552450" y="514350"/>
            <a:ext cx="2667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4B39F"/>
                </a:solidFill>
                <a:latin typeface="Aptos"/>
                <a:ea typeface="Aptos"/>
                <a:cs typeface="Aptos"/>
              </a:defRPr>
            </a:pPr>
            <a:r>
              <a:rPr sz="1350" b="1">
                <a:solidFill>
                  <a:srgbClr val="F4B39F"/>
                </a:solidFill>
                <a:latin typeface="Aptos"/>
                <a:ea typeface="Aptos"/>
                <a:cs typeface="Aptos"/>
              </a:rPr>
              <a:t>TWO-WEEK SUMMARY</a:t>
            </a:r>
          </a:p>
        </p:txBody>
      </p:sp>
      <p:sp>
        <p:nvSpPr>
          <p:cNvPr id="4" name="Title">
            <a:extLst xmlns:a="http://schemas.openxmlformats.org/drawingml/2006/main">
              <a:ext uri="{FF2B5EF4-FFF2-40B4-BE49-F238E27FC236}">
                <a16:creationId xmlns:a16="http://schemas.microsoft.com/office/drawing/2014/main" id="{3682504E-F41A-4EFD-B3F9-969BAEF6846A}"/>
              </a:ext>
            </a:extLst>
          </p:cNvPr>
          <p:cNvSpPr>
            <a:spLocks xmlns:a="http://schemas.openxmlformats.org/drawingml/2006/main" noGrp="1"/>
          </p:cNvSpPr>
          <p:nvPr/>
        </p:nvSpPr>
        <p:spPr>
          <a:xfrm xmlns:a="http://schemas.openxmlformats.org/drawingml/2006/main">
            <a:off x="552450" y="895350"/>
            <a:ext cx="74295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3450" b="1">
                <a:solidFill>
                  <a:srgbClr val="F5F1E8"/>
                </a:solidFill>
                <a:latin typeface="Aptos Display"/>
                <a:ea typeface="Aptos Display"/>
                <a:cs typeface="Aptos Display"/>
              </a:defRPr>
            </a:pPr>
            <a:r>
              <a:rPr sz="3450" b="1">
                <a:solidFill>
                  <a:srgbClr val="F5F1E8"/>
                </a:solidFill>
                <a:latin typeface="Aptos Display"/>
                <a:ea typeface="Aptos Display"/>
                <a:cs typeface="Aptos Display"/>
              </a:rPr>
              <a:t>Gaspar vs JRC Flood Comparison in France</a:t>
            </a:r>
          </a:p>
        </p:txBody>
      </p:sp>
      <p:sp>
        <p:nvSpPr>
          <p:cNvPr id="5" name="BodyText">
            <a:extLst xmlns:a="http://schemas.openxmlformats.org/drawingml/2006/main">
              <a:ext uri="{FF2B5EF4-FFF2-40B4-BE49-F238E27FC236}">
                <a16:creationId xmlns:a16="http://schemas.microsoft.com/office/drawing/2014/main" id="{EEC90736-97EF-4BDB-A524-D9E56328F8DE}"/>
              </a:ext>
            </a:extLst>
          </p:cNvPr>
          <p:cNvSpPr>
            <a:spLocks xmlns:a="http://schemas.openxmlformats.org/drawingml/2006/main" noGrp="1"/>
          </p:cNvSpPr>
          <p:nvPr/>
        </p:nvSpPr>
        <p:spPr>
          <a:xfrm xmlns:a="http://schemas.openxmlformats.org/drawingml/2006/main">
            <a:off x="552450" y="2019300"/>
            <a:ext cx="619125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5000"/>
              </a:lnSpc>
              <a:buNone/>
              <a:defRPr sz="1800" b="0">
                <a:solidFill>
                  <a:srgbClr val="E6ECF5"/>
                </a:solidFill>
                <a:latin typeface="Aptos"/>
                <a:ea typeface="Aptos"/>
                <a:cs typeface="Aptos"/>
              </a:defRPr>
            </a:pPr>
            <a:r>
              <a:rPr sz="1800" b="0">
                <a:solidFill>
                  <a:srgbClr val="E6ECF5"/>
                </a:solidFill>
                <a:latin typeface="Aptos"/>
                <a:ea typeface="Aptos"/>
                <a:cs typeface="Aptos"/>
              </a:rPr>
              <a:t>Two-week delivery summary: commune matching, July 2021 evidence, national audit, and T20 screening.</a:t>
            </a:r>
          </a:p>
        </p:txBody>
      </p:sp>
      <p:sp>
        <p:nvSpPr>
          <p:cNvPr id="6" name="Rule">
            <a:extLst xmlns:a="http://schemas.openxmlformats.org/drawingml/2006/main">
              <a:ext uri="{FF2B5EF4-FFF2-40B4-BE49-F238E27FC236}">
                <a16:creationId xmlns:a16="http://schemas.microsoft.com/office/drawing/2014/main" id="{45069457-B64B-4424-BCA7-83F57055134F}"/>
              </a:ext>
            </a:extLst>
          </p:cNvPr>
          <p:cNvSpPr>
            <a:spLocks xmlns:a="http://schemas.openxmlformats.org/drawingml/2006/main" noGrp="1"/>
          </p:cNvSpPr>
          <p:nvPr/>
        </p:nvSpPr>
        <p:spPr>
          <a:xfrm xmlns:a="http://schemas.openxmlformats.org/drawingml/2006/main">
            <a:off x="552450" y="3009900"/>
            <a:ext cx="7239000" cy="19050"/>
          </a:xfrm>
          <a:prstGeom xmlns:a="http://schemas.openxmlformats.org/drawingml/2006/main" prst="rect">
            <a:avLst/>
          </a:prstGeom>
          <a:solidFill xmlns:a="http://schemas.openxmlformats.org/drawingml/2006/main">
            <a:srgbClr val="314056"/>
          </a:solidFill>
          <a:ln xmlns:a="http://schemas.openxmlformats.org/drawingml/2006/main" w="0">
            <a:solidFill>
              <a:srgbClr val="000000">
                <a:alpha val="0"/>
              </a:srgbClr>
            </a:solidFill>
            <a:prstDash val="solid"/>
          </a:ln>
        </p:spPr>
      </p:sp>
      <p:sp>
        <p:nvSpPr>
          <p:cNvPr id="7" name="BodyText">
            <a:extLst xmlns:a="http://schemas.openxmlformats.org/drawingml/2006/main">
              <a:ext uri="{FF2B5EF4-FFF2-40B4-BE49-F238E27FC236}">
                <a16:creationId xmlns:a16="http://schemas.microsoft.com/office/drawing/2014/main" id="{0AF775CB-3958-481D-A783-F5B1AC6EBD50}"/>
              </a:ext>
            </a:extLst>
          </p:cNvPr>
          <p:cNvSpPr>
            <a:spLocks xmlns:a="http://schemas.openxmlformats.org/drawingml/2006/main" noGrp="1"/>
          </p:cNvSpPr>
          <p:nvPr/>
        </p:nvSpPr>
        <p:spPr>
          <a:xfrm xmlns:a="http://schemas.openxmlformats.org/drawingml/2006/main">
            <a:off x="552450" y="3238500"/>
            <a:ext cx="6762750" cy="1695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575" b="0">
                <a:solidFill>
                  <a:srgbClr val="E6ECF5"/>
                </a:solidFill>
                <a:latin typeface="Aptos"/>
                <a:ea typeface="Aptos"/>
                <a:cs typeface="Aptos"/>
              </a:defRPr>
            </a:pPr>
            <a:r>
              <a:rPr sz="1575" b="0">
                <a:solidFill>
                  <a:srgbClr val="E6ECF5"/>
                </a:solidFill>
                <a:latin typeface="Aptos"/>
                <a:ea typeface="Aptos"/>
                <a:cs typeface="Aptos"/>
              </a:rPr>
              <a:t>A France-wide comparison workflow now exists from raw commune rows to map-ready diagnostics.</a:t>
            </a:r>
          </a:p>
          <a:p xmlns:a="http://schemas.openxmlformats.org/drawingml/2006/main">
            <a:r>
              <a:t/>
            </a:r>
          </a:p>
          <a:p xmlns:a="http://schemas.openxmlformats.org/drawingml/2006/main">
            <a:pPr algn="l">
              <a:lnSpc>
                <a:spcPct val="110000"/>
              </a:lnSpc>
              <a:buNone/>
              <a:defRPr sz="1575" b="0">
                <a:solidFill>
                  <a:srgbClr val="E6ECF5"/>
                </a:solidFill>
                <a:latin typeface="Aptos"/>
                <a:ea typeface="Aptos"/>
                <a:cs typeface="Aptos"/>
              </a:defRPr>
            </a:pPr>
            <a:r>
              <a:rPr sz="1575" b="0">
                <a:solidFill>
                  <a:srgbClr val="E6ECF5"/>
                </a:solidFill>
                <a:latin typeface="Aptos"/>
                <a:ea typeface="Aptos"/>
                <a:cs typeface="Aptos"/>
              </a:rPr>
              <a:t>The July 2021 mismatch has been documented with public evidence from both the Gaspar-only and JRC-only sides.</a:t>
            </a:r>
          </a:p>
          <a:p xmlns:a="http://schemas.openxmlformats.org/drawingml/2006/main">
            <a:r>
              <a:t/>
            </a:r>
          </a:p>
          <a:p xmlns:a="http://schemas.openxmlformats.org/drawingml/2006/main">
            <a:pPr algn="l">
              <a:lnSpc>
                <a:spcPct val="110000"/>
              </a:lnSpc>
              <a:buNone/>
              <a:defRPr sz="1575" b="0">
                <a:solidFill>
                  <a:srgbClr val="E6ECF5"/>
                </a:solidFill>
                <a:latin typeface="Aptos"/>
                <a:ea typeface="Aptos"/>
                <a:cs typeface="Aptos"/>
              </a:defRPr>
            </a:pPr>
            <a:r>
              <a:rPr sz="1575" b="0">
                <a:solidFill>
                  <a:srgbClr val="E6ECF5"/>
                </a:solidFill>
                <a:latin typeface="Aptos"/>
                <a:ea typeface="Aptos"/>
                <a:cs typeface="Aptos"/>
              </a:rPr>
              <a:t>National commune-level event matching remains low even after widening the time window.</a:t>
            </a:r>
          </a:p>
          <a:p xmlns:a="http://schemas.openxmlformats.org/drawingml/2006/main">
            <a:r>
              <a:t/>
            </a:r>
          </a:p>
          <a:p xmlns:a="http://schemas.openxmlformats.org/drawingml/2006/main">
            <a:pPr algn="l">
              <a:lnSpc>
                <a:spcPct val="110000"/>
              </a:lnSpc>
              <a:buNone/>
              <a:defRPr sz="1575" b="0">
                <a:solidFill>
                  <a:srgbClr val="E6ECF5"/>
                </a:solidFill>
                <a:latin typeface="Aptos"/>
                <a:ea typeface="Aptos"/>
                <a:cs typeface="Aptos"/>
              </a:defRPr>
            </a:pPr>
            <a:r>
              <a:rPr sz="1575" b="0">
                <a:solidFill>
                  <a:srgbClr val="E6ECF5"/>
                </a:solidFill>
                <a:latin typeface="Aptos"/>
                <a:ea typeface="Aptos"/>
                <a:cs typeface="Aptos"/>
              </a:rPr>
              <a:t>The T20 point workflow is operational and already tested against processed JRC flood rasters.</a:t>
            </a:r>
          </a:p>
        </p:txBody>
      </p:sp>
      <p:sp>
        <p:nvSpPr>
          <p:cNvPr id="8" name="MetricCard">
            <a:extLst xmlns:a="http://schemas.openxmlformats.org/drawingml/2006/main">
              <a:ext uri="{FF2B5EF4-FFF2-40B4-BE49-F238E27FC236}">
                <a16:creationId xmlns:a16="http://schemas.microsoft.com/office/drawing/2014/main" id="{E93BF459-8C2C-4F5B-85FD-3B5794A9DB8C}"/>
              </a:ext>
            </a:extLst>
          </p:cNvPr>
          <p:cNvSpPr>
            <a:spLocks xmlns:a="http://schemas.openxmlformats.org/drawingml/2006/main" noGrp="1"/>
          </p:cNvSpPr>
          <p:nvPr/>
        </p:nvSpPr>
        <p:spPr>
          <a:xfrm xmlns:a="http://schemas.openxmlformats.org/drawingml/2006/main">
            <a:off x="8191500" y="1028700"/>
            <a:ext cx="2952750" cy="1123950"/>
          </a:xfrm>
          <a:prstGeom xmlns:a="http://schemas.openxmlformats.org/drawingml/2006/main" prst="rect">
            <a:avLst/>
          </a:prstGeom>
          <a:solidFill xmlns:a="http://schemas.openxmlformats.org/drawingml/2006/main">
            <a:srgbClr val="F7EFE6"/>
          </a:solidFill>
          <a:ln xmlns:a="http://schemas.openxmlformats.org/drawingml/2006/main" w="9525">
            <a:solidFill>
              <a:srgbClr val="D7CEC0"/>
            </a:solidFill>
            <a:prstDash val="solid"/>
          </a:ln>
        </p:spPr>
      </p:sp>
      <p:sp>
        <p:nvSpPr>
          <p:cNvPr id="9" name="Rule">
            <a:extLst xmlns:a="http://schemas.openxmlformats.org/drawingml/2006/main">
              <a:ext uri="{FF2B5EF4-FFF2-40B4-BE49-F238E27FC236}">
                <a16:creationId xmlns:a16="http://schemas.microsoft.com/office/drawing/2014/main" id="{4C2152D4-520E-41E1-B767-0D823FFB9FEF}"/>
              </a:ext>
            </a:extLst>
          </p:cNvPr>
          <p:cNvSpPr>
            <a:spLocks xmlns:a="http://schemas.openxmlformats.org/drawingml/2006/main" noGrp="1"/>
          </p:cNvSpPr>
          <p:nvPr/>
        </p:nvSpPr>
        <p:spPr>
          <a:xfrm xmlns:a="http://schemas.openxmlformats.org/drawingml/2006/main">
            <a:off x="8191500" y="1028700"/>
            <a:ext cx="2952750" cy="571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0" name="SmallText">
            <a:extLst xmlns:a="http://schemas.openxmlformats.org/drawingml/2006/main">
              <a:ext uri="{FF2B5EF4-FFF2-40B4-BE49-F238E27FC236}">
                <a16:creationId xmlns:a16="http://schemas.microsoft.com/office/drawing/2014/main" id="{B0065151-1BD9-4931-9CF0-82BC6A6B79B5}"/>
              </a:ext>
            </a:extLst>
          </p:cNvPr>
          <p:cNvSpPr>
            <a:spLocks xmlns:a="http://schemas.openxmlformats.org/drawingml/2006/main" noGrp="1"/>
          </p:cNvSpPr>
          <p:nvPr/>
        </p:nvSpPr>
        <p:spPr>
          <a:xfrm xmlns:a="http://schemas.openxmlformats.org/drawingml/2006/main">
            <a:off x="8362950" y="1200150"/>
            <a:ext cx="26098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MAIN BUILD</a:t>
            </a:r>
          </a:p>
        </p:txBody>
      </p:sp>
      <p:sp>
        <p:nvSpPr>
          <p:cNvPr id="11" name="MetricValue">
            <a:extLst xmlns:a="http://schemas.openxmlformats.org/drawingml/2006/main">
              <a:ext uri="{FF2B5EF4-FFF2-40B4-BE49-F238E27FC236}">
                <a16:creationId xmlns:a16="http://schemas.microsoft.com/office/drawing/2014/main" id="{70E9EDD9-8020-46B4-BAF9-8E919889C85D}"/>
              </a:ext>
            </a:extLst>
          </p:cNvPr>
          <p:cNvSpPr>
            <a:spLocks xmlns:a="http://schemas.openxmlformats.org/drawingml/2006/main" noGrp="1"/>
          </p:cNvSpPr>
          <p:nvPr/>
        </p:nvSpPr>
        <p:spPr>
          <a:xfrm xmlns:a="http://schemas.openxmlformats.org/drawingml/2006/main">
            <a:off x="8362950" y="1466850"/>
            <a:ext cx="26098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France comparison app</a:t>
            </a:r>
          </a:p>
        </p:txBody>
      </p:sp>
      <p:sp>
        <p:nvSpPr>
          <p:cNvPr id="12" name="MetricCard">
            <a:extLst xmlns:a="http://schemas.openxmlformats.org/drawingml/2006/main">
              <a:ext uri="{FF2B5EF4-FFF2-40B4-BE49-F238E27FC236}">
                <a16:creationId xmlns:a16="http://schemas.microsoft.com/office/drawing/2014/main" id="{7D2DD2F8-DB01-4FE2-8872-E721719FD82B}"/>
              </a:ext>
            </a:extLst>
          </p:cNvPr>
          <p:cNvSpPr>
            <a:spLocks xmlns:a="http://schemas.openxmlformats.org/drawingml/2006/main" noGrp="1"/>
          </p:cNvSpPr>
          <p:nvPr/>
        </p:nvSpPr>
        <p:spPr>
          <a:xfrm xmlns:a="http://schemas.openxmlformats.org/drawingml/2006/main">
            <a:off x="8191500" y="2343150"/>
            <a:ext cx="1409700" cy="1066800"/>
          </a:xfrm>
          <a:prstGeom xmlns:a="http://schemas.openxmlformats.org/drawingml/2006/main" prst="rect">
            <a:avLst/>
          </a:prstGeom>
          <a:solidFill xmlns:a="http://schemas.openxmlformats.org/drawingml/2006/main">
            <a:srgbClr val="EEF3FB"/>
          </a:solidFill>
          <a:ln xmlns:a="http://schemas.openxmlformats.org/drawingml/2006/main" w="9525">
            <a:solidFill>
              <a:srgbClr val="D7CEC0"/>
            </a:solidFill>
            <a:prstDash val="solid"/>
          </a:ln>
        </p:spPr>
      </p:sp>
      <p:sp>
        <p:nvSpPr>
          <p:cNvPr id="13" name="Rule">
            <a:extLst xmlns:a="http://schemas.openxmlformats.org/drawingml/2006/main">
              <a:ext uri="{FF2B5EF4-FFF2-40B4-BE49-F238E27FC236}">
                <a16:creationId xmlns:a16="http://schemas.microsoft.com/office/drawing/2014/main" id="{CCA3B849-9614-4E02-910B-BDA56000AADC}"/>
              </a:ext>
            </a:extLst>
          </p:cNvPr>
          <p:cNvSpPr>
            <a:spLocks xmlns:a="http://schemas.openxmlformats.org/drawingml/2006/main" noGrp="1"/>
          </p:cNvSpPr>
          <p:nvPr/>
        </p:nvSpPr>
        <p:spPr>
          <a:xfrm xmlns:a="http://schemas.openxmlformats.org/drawingml/2006/main">
            <a:off x="8191500" y="2343150"/>
            <a:ext cx="1409700" cy="571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4" name="SmallText">
            <a:extLst xmlns:a="http://schemas.openxmlformats.org/drawingml/2006/main">
              <a:ext uri="{FF2B5EF4-FFF2-40B4-BE49-F238E27FC236}">
                <a16:creationId xmlns:a16="http://schemas.microsoft.com/office/drawing/2014/main" id="{A575FBF3-4624-42D8-A565-F8BD0580D1D6}"/>
              </a:ext>
            </a:extLst>
          </p:cNvPr>
          <p:cNvSpPr>
            <a:spLocks xmlns:a="http://schemas.openxmlformats.org/drawingml/2006/main" noGrp="1"/>
          </p:cNvSpPr>
          <p:nvPr/>
        </p:nvSpPr>
        <p:spPr>
          <a:xfrm xmlns:a="http://schemas.openxmlformats.org/drawingml/2006/main">
            <a:off x="8362950" y="2514600"/>
            <a:ext cx="10668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AUDIT DOCS</a:t>
            </a:r>
          </a:p>
        </p:txBody>
      </p:sp>
      <p:sp>
        <p:nvSpPr>
          <p:cNvPr id="15" name="MetricValue">
            <a:extLst xmlns:a="http://schemas.openxmlformats.org/drawingml/2006/main">
              <a:ext uri="{FF2B5EF4-FFF2-40B4-BE49-F238E27FC236}">
                <a16:creationId xmlns:a16="http://schemas.microsoft.com/office/drawing/2014/main" id="{9CB583DB-42AB-4D6B-AB0B-D3642A373468}"/>
              </a:ext>
            </a:extLst>
          </p:cNvPr>
          <p:cNvSpPr>
            <a:spLocks xmlns:a="http://schemas.openxmlformats.org/drawingml/2006/main" noGrp="1"/>
          </p:cNvSpPr>
          <p:nvPr/>
        </p:nvSpPr>
        <p:spPr>
          <a:xfrm xmlns:a="http://schemas.openxmlformats.org/drawingml/2006/main">
            <a:off x="8362950" y="2781300"/>
            <a:ext cx="10668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EN + FR</a:t>
            </a:r>
          </a:p>
        </p:txBody>
      </p:sp>
      <p:sp>
        <p:nvSpPr>
          <p:cNvPr id="16" name="MetricCard">
            <a:extLst xmlns:a="http://schemas.openxmlformats.org/drawingml/2006/main">
              <a:ext uri="{FF2B5EF4-FFF2-40B4-BE49-F238E27FC236}">
                <a16:creationId xmlns:a16="http://schemas.microsoft.com/office/drawing/2014/main" id="{84698D0D-B7B3-4957-B417-4BCAB7E47F4C}"/>
              </a:ext>
            </a:extLst>
          </p:cNvPr>
          <p:cNvSpPr>
            <a:spLocks xmlns:a="http://schemas.openxmlformats.org/drawingml/2006/main" noGrp="1"/>
          </p:cNvSpPr>
          <p:nvPr/>
        </p:nvSpPr>
        <p:spPr>
          <a:xfrm xmlns:a="http://schemas.openxmlformats.org/drawingml/2006/main">
            <a:off x="9734550" y="2343150"/>
            <a:ext cx="1409700" cy="1066800"/>
          </a:xfrm>
          <a:prstGeom xmlns:a="http://schemas.openxmlformats.org/drawingml/2006/main" prst="rect">
            <a:avLst/>
          </a:prstGeom>
          <a:solidFill xmlns:a="http://schemas.openxmlformats.org/drawingml/2006/main">
            <a:srgbClr val="EAF5F3"/>
          </a:solidFill>
          <a:ln xmlns:a="http://schemas.openxmlformats.org/drawingml/2006/main" w="9525">
            <a:solidFill>
              <a:srgbClr val="D7CEC0"/>
            </a:solidFill>
            <a:prstDash val="solid"/>
          </a:ln>
        </p:spPr>
      </p:sp>
      <p:sp>
        <p:nvSpPr>
          <p:cNvPr id="17" name="Rule">
            <a:extLst xmlns:a="http://schemas.openxmlformats.org/drawingml/2006/main">
              <a:ext uri="{FF2B5EF4-FFF2-40B4-BE49-F238E27FC236}">
                <a16:creationId xmlns:a16="http://schemas.microsoft.com/office/drawing/2014/main" id="{8800440B-E575-42CD-849D-A3880F137F09}"/>
              </a:ext>
            </a:extLst>
          </p:cNvPr>
          <p:cNvSpPr>
            <a:spLocks xmlns:a="http://schemas.openxmlformats.org/drawingml/2006/main" noGrp="1"/>
          </p:cNvSpPr>
          <p:nvPr/>
        </p:nvSpPr>
        <p:spPr>
          <a:xfrm xmlns:a="http://schemas.openxmlformats.org/drawingml/2006/main">
            <a:off x="9734550" y="2343150"/>
            <a:ext cx="1409700" cy="5715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18" name="SmallText">
            <a:extLst xmlns:a="http://schemas.openxmlformats.org/drawingml/2006/main">
              <a:ext uri="{FF2B5EF4-FFF2-40B4-BE49-F238E27FC236}">
                <a16:creationId xmlns:a16="http://schemas.microsoft.com/office/drawing/2014/main" id="{530F2590-F9CB-49B8-B6A7-00B8BE351280}"/>
              </a:ext>
            </a:extLst>
          </p:cNvPr>
          <p:cNvSpPr>
            <a:spLocks xmlns:a="http://schemas.openxmlformats.org/drawingml/2006/main" noGrp="1"/>
          </p:cNvSpPr>
          <p:nvPr/>
        </p:nvSpPr>
        <p:spPr>
          <a:xfrm xmlns:a="http://schemas.openxmlformats.org/drawingml/2006/main">
            <a:off x="9906000" y="2514600"/>
            <a:ext cx="10668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T20 RESULT</a:t>
            </a:r>
          </a:p>
        </p:txBody>
      </p:sp>
      <p:sp>
        <p:nvSpPr>
          <p:cNvPr id="19" name="MetricValue">
            <a:extLst xmlns:a="http://schemas.openxmlformats.org/drawingml/2006/main">
              <a:ext uri="{FF2B5EF4-FFF2-40B4-BE49-F238E27FC236}">
                <a16:creationId xmlns:a16="http://schemas.microsoft.com/office/drawing/2014/main" id="{39B599F5-4EE6-4172-AA94-E3E3D76FF12B}"/>
              </a:ext>
            </a:extLst>
          </p:cNvPr>
          <p:cNvSpPr>
            <a:spLocks xmlns:a="http://schemas.openxmlformats.org/drawingml/2006/main" noGrp="1"/>
          </p:cNvSpPr>
          <p:nvPr/>
        </p:nvSpPr>
        <p:spPr>
          <a:xfrm xmlns:a="http://schemas.openxmlformats.org/drawingml/2006/main">
            <a:off x="9906000" y="2781300"/>
            <a:ext cx="10668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1 / 49 hit</a:t>
            </a:r>
          </a:p>
        </p:txBody>
      </p:sp>
      <p:sp>
        <p:nvSpPr>
          <p:cNvPr id="20" name="MetricCard">
            <a:extLst xmlns:a="http://schemas.openxmlformats.org/drawingml/2006/main">
              <a:ext uri="{FF2B5EF4-FFF2-40B4-BE49-F238E27FC236}">
                <a16:creationId xmlns:a16="http://schemas.microsoft.com/office/drawing/2014/main" id="{3DB538E2-8BE5-4F12-BABD-3767B82E1C80}"/>
              </a:ext>
            </a:extLst>
          </p:cNvPr>
          <p:cNvSpPr>
            <a:spLocks xmlns:a="http://schemas.openxmlformats.org/drawingml/2006/main" noGrp="1"/>
          </p:cNvSpPr>
          <p:nvPr/>
        </p:nvSpPr>
        <p:spPr>
          <a:xfrm xmlns:a="http://schemas.openxmlformats.org/drawingml/2006/main">
            <a:off x="8191500" y="3600450"/>
            <a:ext cx="2952750" cy="1333500"/>
          </a:xfrm>
          <a:prstGeom xmlns:a="http://schemas.openxmlformats.org/drawingml/2006/main" prst="rect">
            <a:avLst/>
          </a:prstGeom>
          <a:solidFill xmlns:a="http://schemas.openxmlformats.org/drawingml/2006/main">
            <a:srgbClr val="F7F1D9"/>
          </a:solidFill>
          <a:ln xmlns:a="http://schemas.openxmlformats.org/drawingml/2006/main" w="9525">
            <a:solidFill>
              <a:srgbClr val="D7CEC0"/>
            </a:solidFill>
            <a:prstDash val="solid"/>
          </a:ln>
        </p:spPr>
      </p:sp>
      <p:sp>
        <p:nvSpPr>
          <p:cNvPr id="21" name="Rule">
            <a:extLst xmlns:a="http://schemas.openxmlformats.org/drawingml/2006/main">
              <a:ext uri="{FF2B5EF4-FFF2-40B4-BE49-F238E27FC236}">
                <a16:creationId xmlns:a16="http://schemas.microsoft.com/office/drawing/2014/main" id="{2B179981-B0E9-43B4-8FEB-020A800950B4}"/>
              </a:ext>
            </a:extLst>
          </p:cNvPr>
          <p:cNvSpPr>
            <a:spLocks xmlns:a="http://schemas.openxmlformats.org/drawingml/2006/main" noGrp="1"/>
          </p:cNvSpPr>
          <p:nvPr/>
        </p:nvSpPr>
        <p:spPr>
          <a:xfrm xmlns:a="http://schemas.openxmlformats.org/drawingml/2006/main">
            <a:off x="8191500" y="3600450"/>
            <a:ext cx="2952750" cy="57150"/>
          </a:xfrm>
          <a:prstGeom xmlns:a="http://schemas.openxmlformats.org/drawingml/2006/main" prst="rect">
            <a:avLst/>
          </a:prstGeom>
          <a:solidFill xmlns:a="http://schemas.openxmlformats.org/drawingml/2006/main">
            <a:srgbClr val="D4A72C"/>
          </a:solidFill>
          <a:ln xmlns:a="http://schemas.openxmlformats.org/drawingml/2006/main" w="0">
            <a:solidFill>
              <a:srgbClr val="000000">
                <a:alpha val="0"/>
              </a:srgbClr>
            </a:solidFill>
            <a:prstDash val="solid"/>
          </a:ln>
        </p:spPr>
      </p:sp>
      <p:sp>
        <p:nvSpPr>
          <p:cNvPr id="22" name="SmallText">
            <a:extLst xmlns:a="http://schemas.openxmlformats.org/drawingml/2006/main">
              <a:ext uri="{FF2B5EF4-FFF2-40B4-BE49-F238E27FC236}">
                <a16:creationId xmlns:a16="http://schemas.microsoft.com/office/drawing/2014/main" id="{4E24C740-6A14-4FCA-8AA2-B6AC01948B5E}"/>
              </a:ext>
            </a:extLst>
          </p:cNvPr>
          <p:cNvSpPr>
            <a:spLocks xmlns:a="http://schemas.openxmlformats.org/drawingml/2006/main" noGrp="1"/>
          </p:cNvSpPr>
          <p:nvPr/>
        </p:nvSpPr>
        <p:spPr>
          <a:xfrm xmlns:a="http://schemas.openxmlformats.org/drawingml/2006/main">
            <a:off x="8362950" y="3771900"/>
            <a:ext cx="26098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CORE FINDING</a:t>
            </a:r>
          </a:p>
        </p:txBody>
      </p:sp>
      <p:sp>
        <p:nvSpPr>
          <p:cNvPr id="23" name="MetricValue">
            <a:extLst xmlns:a="http://schemas.openxmlformats.org/drawingml/2006/main">
              <a:ext uri="{FF2B5EF4-FFF2-40B4-BE49-F238E27FC236}">
                <a16:creationId xmlns:a16="http://schemas.microsoft.com/office/drawing/2014/main" id="{2989E888-F759-43EA-AAE3-8411A998CFAF}"/>
              </a:ext>
            </a:extLst>
          </p:cNvPr>
          <p:cNvSpPr>
            <a:spLocks xmlns:a="http://schemas.openxmlformats.org/drawingml/2006/main" noGrp="1"/>
          </p:cNvSpPr>
          <p:nvPr/>
        </p:nvSpPr>
        <p:spPr>
          <a:xfrm xmlns:a="http://schemas.openxmlformats.org/drawingml/2006/main">
            <a:off x="8362950" y="4038600"/>
            <a:ext cx="2609850" cy="800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Commune-level match stays low, but manual checks show real evidence on both sides.</a:t>
            </a:r>
          </a:p>
        </p:txBody>
      </p:sp>
      <p:sp>
        <p:nvSpPr>
          <p:cNvPr id="24" name="Rule">
            <a:extLst xmlns:a="http://schemas.openxmlformats.org/drawingml/2006/main">
              <a:ext uri="{FF2B5EF4-FFF2-40B4-BE49-F238E27FC236}">
                <a16:creationId xmlns:a16="http://schemas.microsoft.com/office/drawing/2014/main" id="{7D2FFC93-641F-4309-908E-D39C9F0F1485}"/>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324157"/>
          </a:solidFill>
          <a:ln xmlns:a="http://schemas.openxmlformats.org/drawingml/2006/main" w="0">
            <a:solidFill>
              <a:srgbClr val="000000">
                <a:alpha val="0"/>
              </a:srgbClr>
            </a:solidFill>
            <a:prstDash val="solid"/>
          </a:ln>
        </p:spPr>
      </p:sp>
      <p:sp>
        <p:nvSpPr>
          <p:cNvPr id="25" name="SmallText">
            <a:extLst xmlns:a="http://schemas.openxmlformats.org/drawingml/2006/main">
              <a:ext uri="{FF2B5EF4-FFF2-40B4-BE49-F238E27FC236}">
                <a16:creationId xmlns:a16="http://schemas.microsoft.com/office/drawing/2014/main" id="{116B010F-32BB-460D-9074-309401A99614}"/>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Prepared on 2026-06-04 | Scope: July 2021 comparison, Streamlit viewer, national audit, and T20 point-screening workflow.</a:t>
            </a:r>
          </a:p>
        </p:txBody>
      </p:sp>
    </p:spTree>
    <p:extLst>
      <p:ext uri="{BB962C8B-B14F-4D97-AF65-F5344CB8AC3E}">
        <p14:creationId xmlns:p14="http://schemas.microsoft.com/office/powerpoint/2010/main" val="16636435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4B4D3A92-A292-4538-B9DE-8671C02E87C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1E8"/>
          </a:soli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537A8E6C-081B-444A-A1E1-171397FAA347}"/>
              </a:ext>
            </a:extLst>
          </p:cNvPr>
          <p:cNvSpPr>
            <a:spLocks xmlns:a="http://schemas.openxmlformats.org/drawingml/2006/main" noGrp="1"/>
          </p:cNvSpPr>
          <p:nvPr/>
        </p:nvSpPr>
        <p:spPr>
          <a:xfrm xmlns:a="http://schemas.openxmlformats.org/drawingml/2006/main">
            <a:off x="514350" y="400050"/>
            <a:ext cx="2857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E45A3C"/>
                </a:solidFill>
                <a:latin typeface="Aptos"/>
                <a:ea typeface="Aptos"/>
                <a:cs typeface="Aptos"/>
              </a:defRPr>
            </a:pPr>
            <a:r>
              <a:rPr sz="1350" b="1">
                <a:solidFill>
                  <a:srgbClr val="E45A3C"/>
                </a:solidFill>
                <a:latin typeface="Aptos"/>
                <a:ea typeface="Aptos"/>
                <a:cs typeface="Aptos"/>
              </a:rPr>
              <a:t>SYSTEM VIEW</a:t>
            </a:r>
          </a:p>
        </p:txBody>
      </p:sp>
      <p:sp>
        <p:nvSpPr>
          <p:cNvPr id="3" name="Title">
            <a:extLst xmlns:a="http://schemas.openxmlformats.org/drawingml/2006/main">
              <a:ext uri="{FF2B5EF4-FFF2-40B4-BE49-F238E27FC236}">
                <a16:creationId xmlns:a16="http://schemas.microsoft.com/office/drawing/2014/main" id="{7D7791F4-9F76-4F7C-8F4F-3EDC0FA50A63}"/>
              </a:ext>
            </a:extLst>
          </p:cNvPr>
          <p:cNvSpPr>
            <a:spLocks xmlns:a="http://schemas.openxmlformats.org/drawingml/2006/main" noGrp="1"/>
          </p:cNvSpPr>
          <p:nvPr/>
        </p:nvSpPr>
        <p:spPr>
          <a:xfrm xmlns:a="http://schemas.openxmlformats.org/drawingml/2006/main">
            <a:off x="514350" y="742950"/>
            <a:ext cx="1066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550" b="1">
                <a:solidFill>
                  <a:srgbClr val="0F172A"/>
                </a:solidFill>
                <a:latin typeface="Aptos Display"/>
                <a:ea typeface="Aptos Display"/>
                <a:cs typeface="Aptos Display"/>
              </a:defRPr>
            </a:pPr>
            <a:r>
              <a:rPr sz="2550" b="1">
                <a:solidFill>
                  <a:srgbClr val="0F172A"/>
                </a:solidFill>
                <a:latin typeface="Aptos Display"/>
                <a:ea typeface="Aptos Display"/>
                <a:cs typeface="Aptos Display"/>
              </a:rPr>
              <a:t>We now have a reusable France comparison stack from raw codes to map-ready communes</a:t>
            </a:r>
          </a:p>
        </p:txBody>
      </p:sp>
      <p:sp>
        <p:nvSpPr>
          <p:cNvPr id="4" name="SmallText">
            <a:extLst xmlns:a="http://schemas.openxmlformats.org/drawingml/2006/main">
              <a:ext uri="{FF2B5EF4-FFF2-40B4-BE49-F238E27FC236}">
                <a16:creationId xmlns:a16="http://schemas.microsoft.com/office/drawing/2014/main" id="{A563DFEB-74CE-4085-8751-33BDE5991199}"/>
              </a:ext>
            </a:extLst>
          </p:cNvPr>
          <p:cNvSpPr>
            <a:spLocks xmlns:a="http://schemas.openxmlformats.org/drawingml/2006/main" noGrp="1"/>
          </p:cNvSpPr>
          <p:nvPr/>
        </p:nvSpPr>
        <p:spPr>
          <a:xfrm xmlns:a="http://schemas.openxmlformats.org/drawingml/2006/main">
            <a:off x="514350" y="1390650"/>
            <a:ext cx="9715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The same stack now supports raw-data transformation, commune reconciliation, visual comparison, and manual evidence work.</a:t>
            </a:r>
          </a:p>
        </p:txBody>
      </p:sp>
      <p:sp>
        <p:nvSpPr>
          <p:cNvPr id="5" name="Source layer">
            <a:extLst xmlns:a="http://schemas.openxmlformats.org/drawingml/2006/main">
              <a:ext uri="{FF2B5EF4-FFF2-40B4-BE49-F238E27FC236}">
                <a16:creationId xmlns:a16="http://schemas.microsoft.com/office/drawing/2014/main" id="{0A913A1D-5D3E-426D-8F89-4D0C577B0D3F}"/>
              </a:ext>
            </a:extLst>
          </p:cNvPr>
          <p:cNvSpPr>
            <a:spLocks xmlns:a="http://schemas.openxmlformats.org/drawingml/2006/main" noGrp="1"/>
          </p:cNvSpPr>
          <p:nvPr/>
        </p:nvSpPr>
        <p:spPr>
          <a:xfrm xmlns:a="http://schemas.openxmlformats.org/drawingml/2006/main">
            <a:off x="514350" y="1981200"/>
            <a:ext cx="2457450" cy="3429000"/>
          </a:xfrm>
          <a:prstGeom xmlns:a="http://schemas.openxmlformats.org/drawingml/2006/main" prst="rect">
            <a:avLst/>
          </a:prstGeom>
          <a:solidFill xmlns:a="http://schemas.openxmlformats.org/drawingml/2006/main">
            <a:srgbClr val="FBF6ED"/>
          </a:solidFill>
          <a:ln xmlns:a="http://schemas.openxmlformats.org/drawingml/2006/main" w="9525">
            <a:solidFill>
              <a:srgbClr val="D7CEC0"/>
            </a:solidFill>
            <a:prstDash val="solid"/>
          </a:ln>
        </p:spPr>
      </p:sp>
      <p:sp>
        <p:nvSpPr>
          <p:cNvPr id="6" name="Source layerAccent">
            <a:extLst xmlns:a="http://schemas.openxmlformats.org/drawingml/2006/main">
              <a:ext uri="{FF2B5EF4-FFF2-40B4-BE49-F238E27FC236}">
                <a16:creationId xmlns:a16="http://schemas.microsoft.com/office/drawing/2014/main" id="{8E06B3A5-5368-4FB5-BFCB-3E6940E94201}"/>
              </a:ext>
            </a:extLst>
          </p:cNvPr>
          <p:cNvSpPr>
            <a:spLocks xmlns:a="http://schemas.openxmlformats.org/drawingml/2006/main" noGrp="1"/>
          </p:cNvSpPr>
          <p:nvPr/>
        </p:nvSpPr>
        <p:spPr>
          <a:xfrm xmlns:a="http://schemas.openxmlformats.org/drawingml/2006/main">
            <a:off x="514350" y="1981200"/>
            <a:ext cx="2457450" cy="7620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7" name="BodyText">
            <a:extLst xmlns:a="http://schemas.openxmlformats.org/drawingml/2006/main">
              <a:ext uri="{FF2B5EF4-FFF2-40B4-BE49-F238E27FC236}">
                <a16:creationId xmlns:a16="http://schemas.microsoft.com/office/drawing/2014/main" id="{605D5AE0-8A3A-449E-AF89-CD1939515CB3}"/>
              </a:ext>
            </a:extLst>
          </p:cNvPr>
          <p:cNvSpPr>
            <a:spLocks xmlns:a="http://schemas.openxmlformats.org/drawingml/2006/main" noGrp="1"/>
          </p:cNvSpPr>
          <p:nvPr/>
        </p:nvSpPr>
        <p:spPr>
          <a:xfrm xmlns:a="http://schemas.openxmlformats.org/drawingml/2006/main">
            <a:off x="685800" y="2171700"/>
            <a:ext cx="2114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Source layer</a:t>
            </a:r>
          </a:p>
        </p:txBody>
      </p:sp>
      <p:sp>
        <p:nvSpPr>
          <p:cNvPr id="8" name="BodyText">
            <a:extLst xmlns:a="http://schemas.openxmlformats.org/drawingml/2006/main">
              <a:ext uri="{FF2B5EF4-FFF2-40B4-BE49-F238E27FC236}">
                <a16:creationId xmlns:a16="http://schemas.microsoft.com/office/drawing/2014/main" id="{B10ED555-DC4C-45B4-8D48-3DE7F81F9C4A}"/>
              </a:ext>
            </a:extLst>
          </p:cNvPr>
          <p:cNvSpPr>
            <a:spLocks xmlns:a="http://schemas.openxmlformats.org/drawingml/2006/main" noGrp="1"/>
          </p:cNvSpPr>
          <p:nvPr/>
        </p:nvSpPr>
        <p:spPr>
          <a:xfrm xmlns:a="http://schemas.openxmlformats.org/drawingml/2006/main">
            <a:off x="685800" y="26670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Gaspar raw and processed event tables</a:t>
            </a:r>
          </a:p>
        </p:txBody>
      </p:sp>
      <p:sp>
        <p:nvSpPr>
          <p:cNvPr id="9" name="BodyText">
            <a:extLst xmlns:a="http://schemas.openxmlformats.org/drawingml/2006/main">
              <a:ext uri="{FF2B5EF4-FFF2-40B4-BE49-F238E27FC236}">
                <a16:creationId xmlns:a16="http://schemas.microsoft.com/office/drawing/2014/main" id="{5A8F9D46-C22C-400A-AB86-2E9AC8E96E98}"/>
              </a:ext>
            </a:extLst>
          </p:cNvPr>
          <p:cNvSpPr>
            <a:spLocks xmlns:a="http://schemas.openxmlformats.org/drawingml/2006/main" noGrp="1"/>
          </p:cNvSpPr>
          <p:nvPr/>
        </p:nvSpPr>
        <p:spPr>
          <a:xfrm xmlns:a="http://schemas.openxmlformats.org/drawingml/2006/main">
            <a:off x="685800" y="33147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JRC processed France LAU event table</a:t>
            </a:r>
          </a:p>
        </p:txBody>
      </p:sp>
      <p:sp>
        <p:nvSpPr>
          <p:cNvPr id="10" name="BodyText">
            <a:extLst xmlns:a="http://schemas.openxmlformats.org/drawingml/2006/main">
              <a:ext uri="{FF2B5EF4-FFF2-40B4-BE49-F238E27FC236}">
                <a16:creationId xmlns:a16="http://schemas.microsoft.com/office/drawing/2014/main" id="{474793F9-9B21-4023-8739-90FD8810757C}"/>
              </a:ext>
            </a:extLst>
          </p:cNvPr>
          <p:cNvSpPr>
            <a:spLocks xmlns:a="http://schemas.openxmlformats.org/drawingml/2006/main" noGrp="1"/>
          </p:cNvSpPr>
          <p:nvPr/>
        </p:nvSpPr>
        <p:spPr>
          <a:xfrm xmlns:a="http://schemas.openxmlformats.org/drawingml/2006/main">
            <a:off x="685800" y="39624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Old INSEE updates plus current LAU / INSEE lookup</a:t>
            </a:r>
          </a:p>
        </p:txBody>
      </p:sp>
      <p:sp>
        <p:nvSpPr>
          <p:cNvPr id="11" name="BodyText">
            <a:extLst xmlns:a="http://schemas.openxmlformats.org/drawingml/2006/main">
              <a:ext uri="{FF2B5EF4-FFF2-40B4-BE49-F238E27FC236}">
                <a16:creationId xmlns:a16="http://schemas.microsoft.com/office/drawing/2014/main" id="{642FF594-35F5-4781-BB1F-359B31A954CD}"/>
              </a:ext>
            </a:extLst>
          </p:cNvPr>
          <p:cNvSpPr>
            <a:spLocks xmlns:a="http://schemas.openxmlformats.org/drawingml/2006/main" noGrp="1"/>
          </p:cNvSpPr>
          <p:nvPr/>
        </p:nvSpPr>
        <p:spPr>
          <a:xfrm xmlns:a="http://schemas.openxmlformats.org/drawingml/2006/main">
            <a:off x="685800" y="46101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AdminExpress commune polygons</a:t>
            </a:r>
          </a:p>
        </p:txBody>
      </p:sp>
      <p:sp>
        <p:nvSpPr>
          <p:cNvPr id="12" name="Harmonization layer">
            <a:extLst xmlns:a="http://schemas.openxmlformats.org/drawingml/2006/main">
              <a:ext uri="{FF2B5EF4-FFF2-40B4-BE49-F238E27FC236}">
                <a16:creationId xmlns:a16="http://schemas.microsoft.com/office/drawing/2014/main" id="{80B7BD16-5A66-492C-913A-7CAE85A1AF07}"/>
              </a:ext>
            </a:extLst>
          </p:cNvPr>
          <p:cNvSpPr>
            <a:spLocks xmlns:a="http://schemas.openxmlformats.org/drawingml/2006/main" noGrp="1"/>
          </p:cNvSpPr>
          <p:nvPr/>
        </p:nvSpPr>
        <p:spPr>
          <a:xfrm xmlns:a="http://schemas.openxmlformats.org/drawingml/2006/main">
            <a:off x="3238500" y="1981200"/>
            <a:ext cx="2457450" cy="3429000"/>
          </a:xfrm>
          <a:prstGeom xmlns:a="http://schemas.openxmlformats.org/drawingml/2006/main" prst="rect">
            <a:avLst/>
          </a:prstGeom>
          <a:solidFill xmlns:a="http://schemas.openxmlformats.org/drawingml/2006/main">
            <a:srgbClr val="EEF3FB"/>
          </a:solidFill>
          <a:ln xmlns:a="http://schemas.openxmlformats.org/drawingml/2006/main" w="9525">
            <a:solidFill>
              <a:srgbClr val="D7CEC0"/>
            </a:solidFill>
            <a:prstDash val="solid"/>
          </a:ln>
        </p:spPr>
      </p:sp>
      <p:sp>
        <p:nvSpPr>
          <p:cNvPr id="13" name="Harmonization layerAccent">
            <a:extLst xmlns:a="http://schemas.openxmlformats.org/drawingml/2006/main">
              <a:ext uri="{FF2B5EF4-FFF2-40B4-BE49-F238E27FC236}">
                <a16:creationId xmlns:a16="http://schemas.microsoft.com/office/drawing/2014/main" id="{18FE36E8-6B5E-4CD0-B826-C42A8D5EB752}"/>
              </a:ext>
            </a:extLst>
          </p:cNvPr>
          <p:cNvSpPr>
            <a:spLocks xmlns:a="http://schemas.openxmlformats.org/drawingml/2006/main" noGrp="1"/>
          </p:cNvSpPr>
          <p:nvPr/>
        </p:nvSpPr>
        <p:spPr>
          <a:xfrm xmlns:a="http://schemas.openxmlformats.org/drawingml/2006/main">
            <a:off x="3238500" y="1981200"/>
            <a:ext cx="2457450" cy="7620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4" name="BodyText">
            <a:extLst xmlns:a="http://schemas.openxmlformats.org/drawingml/2006/main">
              <a:ext uri="{FF2B5EF4-FFF2-40B4-BE49-F238E27FC236}">
                <a16:creationId xmlns:a16="http://schemas.microsoft.com/office/drawing/2014/main" id="{50BC7089-3A1B-4B04-A681-FA6BAE5A2B15}"/>
              </a:ext>
            </a:extLst>
          </p:cNvPr>
          <p:cNvSpPr>
            <a:spLocks xmlns:a="http://schemas.openxmlformats.org/drawingml/2006/main" noGrp="1"/>
          </p:cNvSpPr>
          <p:nvPr/>
        </p:nvSpPr>
        <p:spPr>
          <a:xfrm xmlns:a="http://schemas.openxmlformats.org/drawingml/2006/main">
            <a:off x="3409950" y="2171700"/>
            <a:ext cx="2114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Harmonization layer</a:t>
            </a:r>
          </a:p>
        </p:txBody>
      </p:sp>
      <p:sp>
        <p:nvSpPr>
          <p:cNvPr id="15" name="BodyText">
            <a:extLst xmlns:a="http://schemas.openxmlformats.org/drawingml/2006/main">
              <a:ext uri="{FF2B5EF4-FFF2-40B4-BE49-F238E27FC236}">
                <a16:creationId xmlns:a16="http://schemas.microsoft.com/office/drawing/2014/main" id="{FBEB6DD7-C58C-4978-A343-5470ECC9D747}"/>
              </a:ext>
            </a:extLst>
          </p:cNvPr>
          <p:cNvSpPr>
            <a:spLocks xmlns:a="http://schemas.openxmlformats.org/drawingml/2006/main" noGrp="1"/>
          </p:cNvSpPr>
          <p:nvPr/>
        </p:nvSpPr>
        <p:spPr>
          <a:xfrm xmlns:a="http://schemas.openxmlformats.org/drawingml/2006/main">
            <a:off x="3409950" y="26670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Normalize commune keys to current INSEE communes</a:t>
            </a:r>
          </a:p>
        </p:txBody>
      </p:sp>
      <p:sp>
        <p:nvSpPr>
          <p:cNvPr id="16" name="BodyText">
            <a:extLst xmlns:a="http://schemas.openxmlformats.org/drawingml/2006/main">
              <a:ext uri="{FF2B5EF4-FFF2-40B4-BE49-F238E27FC236}">
                <a16:creationId xmlns:a16="http://schemas.microsoft.com/office/drawing/2014/main" id="{9501A5DA-4855-464B-8BEB-2101AA0A799A}"/>
              </a:ext>
            </a:extLst>
          </p:cNvPr>
          <p:cNvSpPr>
            <a:spLocks xmlns:a="http://schemas.openxmlformats.org/drawingml/2006/main" noGrp="1"/>
          </p:cNvSpPr>
          <p:nvPr/>
        </p:nvSpPr>
        <p:spPr>
          <a:xfrm xmlns:a="http://schemas.openxmlformats.org/drawingml/2006/main">
            <a:off x="3409950" y="33147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Handle old commune codes, LAU links, and Corsica alphanumeric cases</a:t>
            </a:r>
          </a:p>
        </p:txBody>
      </p:sp>
      <p:sp>
        <p:nvSpPr>
          <p:cNvPr id="17" name="BodyText">
            <a:extLst xmlns:a="http://schemas.openxmlformats.org/drawingml/2006/main">
              <a:ext uri="{FF2B5EF4-FFF2-40B4-BE49-F238E27FC236}">
                <a16:creationId xmlns:a16="http://schemas.microsoft.com/office/drawing/2014/main" id="{A0A90BC7-2A67-4BD2-A45C-A00FCE53B896}"/>
              </a:ext>
            </a:extLst>
          </p:cNvPr>
          <p:cNvSpPr>
            <a:spLocks xmlns:a="http://schemas.openxmlformats.org/drawingml/2006/main" noGrp="1"/>
          </p:cNvSpPr>
          <p:nvPr/>
        </p:nvSpPr>
        <p:spPr>
          <a:xfrm xmlns:a="http://schemas.openxmlformats.org/drawingml/2006/main">
            <a:off x="3409950" y="39624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Aggregate activity by date, month, quarter, year, or custom period</a:t>
            </a:r>
          </a:p>
        </p:txBody>
      </p:sp>
      <p:sp>
        <p:nvSpPr>
          <p:cNvPr id="18" name="BodyText">
            <a:extLst xmlns:a="http://schemas.openxmlformats.org/drawingml/2006/main">
              <a:ext uri="{FF2B5EF4-FFF2-40B4-BE49-F238E27FC236}">
                <a16:creationId xmlns:a16="http://schemas.microsoft.com/office/drawing/2014/main" id="{8C862C1C-4D2D-497C-BABE-C4E369C8A5AD}"/>
              </a:ext>
            </a:extLst>
          </p:cNvPr>
          <p:cNvSpPr>
            <a:spLocks xmlns:a="http://schemas.openxmlformats.org/drawingml/2006/main" noGrp="1"/>
          </p:cNvSpPr>
          <p:nvPr/>
        </p:nvSpPr>
        <p:spPr>
          <a:xfrm xmlns:a="http://schemas.openxmlformats.org/drawingml/2006/main">
            <a:off x="3409950" y="46101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Track unresolved rows instead of silently dropping them</a:t>
            </a:r>
          </a:p>
        </p:txBody>
      </p:sp>
      <p:sp>
        <p:nvSpPr>
          <p:cNvPr id="19" name="Project outputs">
            <a:extLst xmlns:a="http://schemas.openxmlformats.org/drawingml/2006/main">
              <a:ext uri="{FF2B5EF4-FFF2-40B4-BE49-F238E27FC236}">
                <a16:creationId xmlns:a16="http://schemas.microsoft.com/office/drawing/2014/main" id="{2DB9FBF9-F484-481F-95B8-92F264E37558}"/>
              </a:ext>
            </a:extLst>
          </p:cNvPr>
          <p:cNvSpPr>
            <a:spLocks xmlns:a="http://schemas.openxmlformats.org/drawingml/2006/main" noGrp="1"/>
          </p:cNvSpPr>
          <p:nvPr/>
        </p:nvSpPr>
        <p:spPr>
          <a:xfrm xmlns:a="http://schemas.openxmlformats.org/drawingml/2006/main">
            <a:off x="5962650" y="1981200"/>
            <a:ext cx="2457450" cy="3429000"/>
          </a:xfrm>
          <a:prstGeom xmlns:a="http://schemas.openxmlformats.org/drawingml/2006/main" prst="rect">
            <a:avLst/>
          </a:prstGeom>
          <a:solidFill xmlns:a="http://schemas.openxmlformats.org/drawingml/2006/main">
            <a:srgbClr val="EAF5F3"/>
          </a:solidFill>
          <a:ln xmlns:a="http://schemas.openxmlformats.org/drawingml/2006/main" w="9525">
            <a:solidFill>
              <a:srgbClr val="D7CEC0"/>
            </a:solidFill>
            <a:prstDash val="solid"/>
          </a:ln>
        </p:spPr>
      </p:sp>
      <p:sp>
        <p:nvSpPr>
          <p:cNvPr id="20" name="Project outputsAccent">
            <a:extLst xmlns:a="http://schemas.openxmlformats.org/drawingml/2006/main">
              <a:ext uri="{FF2B5EF4-FFF2-40B4-BE49-F238E27FC236}">
                <a16:creationId xmlns:a16="http://schemas.microsoft.com/office/drawing/2014/main" id="{218A1232-071E-4BAB-BE22-271CAE3E5508}"/>
              </a:ext>
            </a:extLst>
          </p:cNvPr>
          <p:cNvSpPr>
            <a:spLocks xmlns:a="http://schemas.openxmlformats.org/drawingml/2006/main" noGrp="1"/>
          </p:cNvSpPr>
          <p:nvPr/>
        </p:nvSpPr>
        <p:spPr>
          <a:xfrm xmlns:a="http://schemas.openxmlformats.org/drawingml/2006/main">
            <a:off x="5962650" y="1981200"/>
            <a:ext cx="2457450" cy="7620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21" name="BodyText">
            <a:extLst xmlns:a="http://schemas.openxmlformats.org/drawingml/2006/main">
              <a:ext uri="{FF2B5EF4-FFF2-40B4-BE49-F238E27FC236}">
                <a16:creationId xmlns:a16="http://schemas.microsoft.com/office/drawing/2014/main" id="{ADCC1859-E74B-4C8C-9150-538963FF85FA}"/>
              </a:ext>
            </a:extLst>
          </p:cNvPr>
          <p:cNvSpPr>
            <a:spLocks xmlns:a="http://schemas.openxmlformats.org/drawingml/2006/main" noGrp="1"/>
          </p:cNvSpPr>
          <p:nvPr/>
        </p:nvSpPr>
        <p:spPr>
          <a:xfrm xmlns:a="http://schemas.openxmlformats.org/drawingml/2006/main">
            <a:off x="6134100" y="2171700"/>
            <a:ext cx="2114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Project outputs</a:t>
            </a:r>
          </a:p>
        </p:txBody>
      </p:sp>
      <p:sp>
        <p:nvSpPr>
          <p:cNvPr id="22" name="BodyText">
            <a:extLst xmlns:a="http://schemas.openxmlformats.org/drawingml/2006/main">
              <a:ext uri="{FF2B5EF4-FFF2-40B4-BE49-F238E27FC236}">
                <a16:creationId xmlns:a16="http://schemas.microsoft.com/office/drawing/2014/main" id="{2B5D4943-D356-4EF1-8FC3-EB83CC63C636}"/>
              </a:ext>
            </a:extLst>
          </p:cNvPr>
          <p:cNvSpPr>
            <a:spLocks xmlns:a="http://schemas.openxmlformats.org/drawingml/2006/main" noGrp="1"/>
          </p:cNvSpPr>
          <p:nvPr/>
        </p:nvSpPr>
        <p:spPr>
          <a:xfrm xmlns:a="http://schemas.openxmlformats.org/drawingml/2006/main">
            <a:off x="6134100" y="26670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Bilingual audit documents and July 2021 evidence note</a:t>
            </a:r>
          </a:p>
        </p:txBody>
      </p:sp>
      <p:sp>
        <p:nvSpPr>
          <p:cNvPr id="23" name="BodyText">
            <a:extLst xmlns:a="http://schemas.openxmlformats.org/drawingml/2006/main">
              <a:ext uri="{FF2B5EF4-FFF2-40B4-BE49-F238E27FC236}">
                <a16:creationId xmlns:a16="http://schemas.microsoft.com/office/drawing/2014/main" id="{C75F1E9B-4736-46F6-A0C8-38E080931A8C}"/>
              </a:ext>
            </a:extLst>
          </p:cNvPr>
          <p:cNvSpPr>
            <a:spLocks xmlns:a="http://schemas.openxmlformats.org/drawingml/2006/main" noGrp="1"/>
          </p:cNvSpPr>
          <p:nvPr/>
        </p:nvSpPr>
        <p:spPr>
          <a:xfrm xmlns:a="http://schemas.openxmlformats.org/drawingml/2006/main">
            <a:off x="6134100" y="33147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France comparison tables for 7-day and 30-day windows</a:t>
            </a:r>
          </a:p>
        </p:txBody>
      </p:sp>
      <p:sp>
        <p:nvSpPr>
          <p:cNvPr id="24" name="BodyText">
            <a:extLst xmlns:a="http://schemas.openxmlformats.org/drawingml/2006/main">
              <a:ext uri="{FF2B5EF4-FFF2-40B4-BE49-F238E27FC236}">
                <a16:creationId xmlns:a16="http://schemas.microsoft.com/office/drawing/2014/main" id="{7BB17D25-D9AE-4135-ABF9-A8DC22004169}"/>
              </a:ext>
            </a:extLst>
          </p:cNvPr>
          <p:cNvSpPr>
            <a:spLocks xmlns:a="http://schemas.openxmlformats.org/drawingml/2006/main" noGrp="1"/>
          </p:cNvSpPr>
          <p:nvPr/>
        </p:nvSpPr>
        <p:spPr>
          <a:xfrm xmlns:a="http://schemas.openxmlformats.org/drawingml/2006/main">
            <a:off x="6134100" y="39624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Quarter-region manual comparison maps</a:t>
            </a:r>
          </a:p>
        </p:txBody>
      </p:sp>
      <p:sp>
        <p:nvSpPr>
          <p:cNvPr id="25" name="BodyText">
            <a:extLst xmlns:a="http://schemas.openxmlformats.org/drawingml/2006/main">
              <a:ext uri="{FF2B5EF4-FFF2-40B4-BE49-F238E27FC236}">
                <a16:creationId xmlns:a16="http://schemas.microsoft.com/office/drawing/2014/main" id="{9E12F40F-6F33-4C26-9E88-1A509F8DC025}"/>
              </a:ext>
            </a:extLst>
          </p:cNvPr>
          <p:cNvSpPr>
            <a:spLocks xmlns:a="http://schemas.openxmlformats.org/drawingml/2006/main" noGrp="1"/>
          </p:cNvSpPr>
          <p:nvPr/>
        </p:nvSpPr>
        <p:spPr>
          <a:xfrm xmlns:a="http://schemas.openxmlformats.org/drawingml/2006/main">
            <a:off x="6134100" y="46101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T20 workbook with point-level JRC flood checks</a:t>
            </a:r>
          </a:p>
        </p:txBody>
      </p:sp>
      <p:sp>
        <p:nvSpPr>
          <p:cNvPr id="26" name="Analyst tools">
            <a:extLst xmlns:a="http://schemas.openxmlformats.org/drawingml/2006/main">
              <a:ext uri="{FF2B5EF4-FFF2-40B4-BE49-F238E27FC236}">
                <a16:creationId xmlns:a16="http://schemas.microsoft.com/office/drawing/2014/main" id="{4B090D9C-5A8C-483C-BA3D-477354E18722}"/>
              </a:ext>
            </a:extLst>
          </p:cNvPr>
          <p:cNvSpPr>
            <a:spLocks xmlns:a="http://schemas.openxmlformats.org/drawingml/2006/main" noGrp="1"/>
          </p:cNvSpPr>
          <p:nvPr/>
        </p:nvSpPr>
        <p:spPr>
          <a:xfrm xmlns:a="http://schemas.openxmlformats.org/drawingml/2006/main">
            <a:off x="8686800" y="1981200"/>
            <a:ext cx="2457450" cy="3429000"/>
          </a:xfrm>
          <a:prstGeom xmlns:a="http://schemas.openxmlformats.org/drawingml/2006/main" prst="rect">
            <a:avLst/>
          </a:prstGeom>
          <a:solidFill xmlns:a="http://schemas.openxmlformats.org/drawingml/2006/main">
            <a:srgbClr val="F7F1D9"/>
          </a:solidFill>
          <a:ln xmlns:a="http://schemas.openxmlformats.org/drawingml/2006/main" w="9525">
            <a:solidFill>
              <a:srgbClr val="D7CEC0"/>
            </a:solidFill>
            <a:prstDash val="solid"/>
          </a:ln>
        </p:spPr>
      </p:sp>
      <p:sp>
        <p:nvSpPr>
          <p:cNvPr id="27" name="Analyst toolsAccent">
            <a:extLst xmlns:a="http://schemas.openxmlformats.org/drawingml/2006/main">
              <a:ext uri="{FF2B5EF4-FFF2-40B4-BE49-F238E27FC236}">
                <a16:creationId xmlns:a16="http://schemas.microsoft.com/office/drawing/2014/main" id="{086334C6-3FA2-4143-9FB1-C0950FD463D6}"/>
              </a:ext>
            </a:extLst>
          </p:cNvPr>
          <p:cNvSpPr>
            <a:spLocks xmlns:a="http://schemas.openxmlformats.org/drawingml/2006/main" noGrp="1"/>
          </p:cNvSpPr>
          <p:nvPr/>
        </p:nvSpPr>
        <p:spPr>
          <a:xfrm xmlns:a="http://schemas.openxmlformats.org/drawingml/2006/main">
            <a:off x="8686800" y="1981200"/>
            <a:ext cx="2457450" cy="76200"/>
          </a:xfrm>
          <a:prstGeom xmlns:a="http://schemas.openxmlformats.org/drawingml/2006/main" prst="rect">
            <a:avLst/>
          </a:prstGeom>
          <a:solidFill xmlns:a="http://schemas.openxmlformats.org/drawingml/2006/main">
            <a:srgbClr val="D4A72C"/>
          </a:solidFill>
          <a:ln xmlns:a="http://schemas.openxmlformats.org/drawingml/2006/main" w="0">
            <a:solidFill>
              <a:srgbClr val="000000">
                <a:alpha val="0"/>
              </a:srgbClr>
            </a:solidFill>
            <a:prstDash val="solid"/>
          </a:ln>
        </p:spPr>
      </p:sp>
      <p:sp>
        <p:nvSpPr>
          <p:cNvPr id="28" name="BodyText">
            <a:extLst xmlns:a="http://schemas.openxmlformats.org/drawingml/2006/main">
              <a:ext uri="{FF2B5EF4-FFF2-40B4-BE49-F238E27FC236}">
                <a16:creationId xmlns:a16="http://schemas.microsoft.com/office/drawing/2014/main" id="{536E32B3-BEEF-43D1-9975-BD8981048DB6}"/>
              </a:ext>
            </a:extLst>
          </p:cNvPr>
          <p:cNvSpPr>
            <a:spLocks xmlns:a="http://schemas.openxmlformats.org/drawingml/2006/main" noGrp="1"/>
          </p:cNvSpPr>
          <p:nvPr/>
        </p:nvSpPr>
        <p:spPr>
          <a:xfrm xmlns:a="http://schemas.openxmlformats.org/drawingml/2006/main">
            <a:off x="8858250" y="2171700"/>
            <a:ext cx="2114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Analyst tools</a:t>
            </a:r>
          </a:p>
        </p:txBody>
      </p:sp>
      <p:sp>
        <p:nvSpPr>
          <p:cNvPr id="29" name="BodyText">
            <a:extLst xmlns:a="http://schemas.openxmlformats.org/drawingml/2006/main">
              <a:ext uri="{FF2B5EF4-FFF2-40B4-BE49-F238E27FC236}">
                <a16:creationId xmlns:a16="http://schemas.microsoft.com/office/drawing/2014/main" id="{B210F8DB-2F79-4B1B-B313-830AE7727351}"/>
              </a:ext>
            </a:extLst>
          </p:cNvPr>
          <p:cNvSpPr>
            <a:spLocks xmlns:a="http://schemas.openxmlformats.org/drawingml/2006/main" noGrp="1"/>
          </p:cNvSpPr>
          <p:nvPr/>
        </p:nvSpPr>
        <p:spPr>
          <a:xfrm xmlns:a="http://schemas.openxmlformats.org/drawingml/2006/main">
            <a:off x="8858250" y="26670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Streamlit map with Gaspar, JRC, and Comparison modes</a:t>
            </a:r>
          </a:p>
        </p:txBody>
      </p:sp>
      <p:sp>
        <p:nvSpPr>
          <p:cNvPr id="30" name="BodyText">
            <a:extLst xmlns:a="http://schemas.openxmlformats.org/drawingml/2006/main">
              <a:ext uri="{FF2B5EF4-FFF2-40B4-BE49-F238E27FC236}">
                <a16:creationId xmlns:a16="http://schemas.microsoft.com/office/drawing/2014/main" id="{9BACBE8A-4F3D-4396-9B28-869B695A8A2C}"/>
              </a:ext>
            </a:extLst>
          </p:cNvPr>
          <p:cNvSpPr>
            <a:spLocks xmlns:a="http://schemas.openxmlformats.org/drawingml/2006/main" noGrp="1"/>
          </p:cNvSpPr>
          <p:nvPr/>
        </p:nvSpPr>
        <p:spPr>
          <a:xfrm xmlns:a="http://schemas.openxmlformats.org/drawingml/2006/main">
            <a:off x="8858250" y="33147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Aggregated commune table plus filtered-row diagnostics</a:t>
            </a:r>
          </a:p>
        </p:txBody>
      </p:sp>
      <p:sp>
        <p:nvSpPr>
          <p:cNvPr id="31" name="BodyText">
            <a:extLst xmlns:a="http://schemas.openxmlformats.org/drawingml/2006/main">
              <a:ext uri="{FF2B5EF4-FFF2-40B4-BE49-F238E27FC236}">
                <a16:creationId xmlns:a16="http://schemas.microsoft.com/office/drawing/2014/main" id="{E9473D0F-0B2E-44CA-ABCA-CAA789AF0CAD}"/>
              </a:ext>
            </a:extLst>
          </p:cNvPr>
          <p:cNvSpPr>
            <a:spLocks xmlns:a="http://schemas.openxmlformats.org/drawingml/2006/main" noGrp="1"/>
          </p:cNvSpPr>
          <p:nvPr/>
        </p:nvSpPr>
        <p:spPr>
          <a:xfrm xmlns:a="http://schemas.openxmlformats.org/drawingml/2006/main">
            <a:off x="8858250" y="39624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Downloadable CSV and HTML map exports</a:t>
            </a:r>
          </a:p>
        </p:txBody>
      </p:sp>
      <p:sp>
        <p:nvSpPr>
          <p:cNvPr id="32" name="BodyText">
            <a:extLst xmlns:a="http://schemas.openxmlformats.org/drawingml/2006/main">
              <a:ext uri="{FF2B5EF4-FFF2-40B4-BE49-F238E27FC236}">
                <a16:creationId xmlns:a16="http://schemas.microsoft.com/office/drawing/2014/main" id="{3AD0B1E6-D826-47CC-920E-923234A17246}"/>
              </a:ext>
            </a:extLst>
          </p:cNvPr>
          <p:cNvSpPr>
            <a:spLocks xmlns:a="http://schemas.openxmlformats.org/drawingml/2006/main" noGrp="1"/>
          </p:cNvSpPr>
          <p:nvPr/>
        </p:nvSpPr>
        <p:spPr>
          <a:xfrm xmlns:a="http://schemas.openxmlformats.org/drawingml/2006/main">
            <a:off x="8858250" y="4610100"/>
            <a:ext cx="2114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Reproducible scripts for docs and comparison outputs</a:t>
            </a:r>
          </a:p>
        </p:txBody>
      </p:sp>
      <p:sp>
        <p:nvSpPr>
          <p:cNvPr id="33" name="ArrowStem">
            <a:extLst xmlns:a="http://schemas.openxmlformats.org/drawingml/2006/main">
              <a:ext uri="{FF2B5EF4-FFF2-40B4-BE49-F238E27FC236}">
                <a16:creationId xmlns:a16="http://schemas.microsoft.com/office/drawing/2014/main" id="{B7940AC1-7D57-4D39-BE88-0A07D1D09F6E}"/>
              </a:ext>
            </a:extLst>
          </p:cNvPr>
          <p:cNvSpPr>
            <a:spLocks xmlns:a="http://schemas.openxmlformats.org/drawingml/2006/main" noGrp="1"/>
          </p:cNvSpPr>
          <p:nvPr/>
        </p:nvSpPr>
        <p:spPr>
          <a:xfrm xmlns:a="http://schemas.openxmlformats.org/drawingml/2006/main">
            <a:off x="2990850" y="3086100"/>
            <a:ext cx="171450" cy="3810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34" name="ArrowHead">
            <a:extLst xmlns:a="http://schemas.openxmlformats.org/drawingml/2006/main">
              <a:ext uri="{FF2B5EF4-FFF2-40B4-BE49-F238E27FC236}">
                <a16:creationId xmlns:a16="http://schemas.microsoft.com/office/drawing/2014/main" id="{A8C5FA35-D6D2-478D-B082-2044B9CF7EE8}"/>
              </a:ext>
            </a:extLst>
          </p:cNvPr>
          <p:cNvSpPr>
            <a:spLocks xmlns:a="http://schemas.openxmlformats.org/drawingml/2006/main" noGrp="1"/>
          </p:cNvSpPr>
          <p:nvPr/>
        </p:nvSpPr>
        <p:spPr>
          <a:xfrm xmlns:a="http://schemas.openxmlformats.org/drawingml/2006/main">
            <a:off x="3048000" y="3028950"/>
            <a:ext cx="171450" cy="152400"/>
          </a:xfrm>
          <a:prstGeom xmlns:a="http://schemas.openxmlformats.org/drawingml/2006/main" prst="chevron">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35" name="ArrowStem">
            <a:extLst xmlns:a="http://schemas.openxmlformats.org/drawingml/2006/main">
              <a:ext uri="{FF2B5EF4-FFF2-40B4-BE49-F238E27FC236}">
                <a16:creationId xmlns:a16="http://schemas.microsoft.com/office/drawing/2014/main" id="{AF3E8F15-B6CA-4EDD-A13C-7A70B73FCC87}"/>
              </a:ext>
            </a:extLst>
          </p:cNvPr>
          <p:cNvSpPr>
            <a:spLocks xmlns:a="http://schemas.openxmlformats.org/drawingml/2006/main" noGrp="1"/>
          </p:cNvSpPr>
          <p:nvPr/>
        </p:nvSpPr>
        <p:spPr>
          <a:xfrm xmlns:a="http://schemas.openxmlformats.org/drawingml/2006/main">
            <a:off x="5715000" y="3086100"/>
            <a:ext cx="171450" cy="3810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36" name="ArrowHead">
            <a:extLst xmlns:a="http://schemas.openxmlformats.org/drawingml/2006/main">
              <a:ext uri="{FF2B5EF4-FFF2-40B4-BE49-F238E27FC236}">
                <a16:creationId xmlns:a16="http://schemas.microsoft.com/office/drawing/2014/main" id="{F016BE09-0DA0-45D3-A065-F636DF6BAFDD}"/>
              </a:ext>
            </a:extLst>
          </p:cNvPr>
          <p:cNvSpPr>
            <a:spLocks xmlns:a="http://schemas.openxmlformats.org/drawingml/2006/main" noGrp="1"/>
          </p:cNvSpPr>
          <p:nvPr/>
        </p:nvSpPr>
        <p:spPr>
          <a:xfrm xmlns:a="http://schemas.openxmlformats.org/drawingml/2006/main">
            <a:off x="5772150" y="3028950"/>
            <a:ext cx="171450" cy="152400"/>
          </a:xfrm>
          <a:prstGeom xmlns:a="http://schemas.openxmlformats.org/drawingml/2006/main" prst="chevron">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37" name="ArrowStem">
            <a:extLst xmlns:a="http://schemas.openxmlformats.org/drawingml/2006/main">
              <a:ext uri="{FF2B5EF4-FFF2-40B4-BE49-F238E27FC236}">
                <a16:creationId xmlns:a16="http://schemas.microsoft.com/office/drawing/2014/main" id="{47A88AFD-3F8E-4268-8B21-420A81EEF17B}"/>
              </a:ext>
            </a:extLst>
          </p:cNvPr>
          <p:cNvSpPr>
            <a:spLocks xmlns:a="http://schemas.openxmlformats.org/drawingml/2006/main" noGrp="1"/>
          </p:cNvSpPr>
          <p:nvPr/>
        </p:nvSpPr>
        <p:spPr>
          <a:xfrm xmlns:a="http://schemas.openxmlformats.org/drawingml/2006/main">
            <a:off x="8439150" y="3086100"/>
            <a:ext cx="171450" cy="3810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38" name="ArrowHead">
            <a:extLst xmlns:a="http://schemas.openxmlformats.org/drawingml/2006/main">
              <a:ext uri="{FF2B5EF4-FFF2-40B4-BE49-F238E27FC236}">
                <a16:creationId xmlns:a16="http://schemas.microsoft.com/office/drawing/2014/main" id="{FACD8D8A-7F7E-4BF9-AF86-758FE1025CC0}"/>
              </a:ext>
            </a:extLst>
          </p:cNvPr>
          <p:cNvSpPr>
            <a:spLocks xmlns:a="http://schemas.openxmlformats.org/drawingml/2006/main" noGrp="1"/>
          </p:cNvSpPr>
          <p:nvPr/>
        </p:nvSpPr>
        <p:spPr>
          <a:xfrm xmlns:a="http://schemas.openxmlformats.org/drawingml/2006/main">
            <a:off x="8496300" y="3028950"/>
            <a:ext cx="171450" cy="152400"/>
          </a:xfrm>
          <a:prstGeom xmlns:a="http://schemas.openxmlformats.org/drawingml/2006/main" prst="chevron">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39" name="Callout">
            <a:extLst xmlns:a="http://schemas.openxmlformats.org/drawingml/2006/main">
              <a:ext uri="{FF2B5EF4-FFF2-40B4-BE49-F238E27FC236}">
                <a16:creationId xmlns:a16="http://schemas.microsoft.com/office/drawing/2014/main" id="{E9F9FFA0-DC17-4D6D-9880-8322307BADC8}"/>
              </a:ext>
            </a:extLst>
          </p:cNvPr>
          <p:cNvSpPr>
            <a:spLocks xmlns:a="http://schemas.openxmlformats.org/drawingml/2006/main" noGrp="1"/>
          </p:cNvSpPr>
          <p:nvPr/>
        </p:nvSpPr>
        <p:spPr>
          <a:xfrm xmlns:a="http://schemas.openxmlformats.org/drawingml/2006/main">
            <a:off x="514350" y="5619750"/>
            <a:ext cx="10629900" cy="7048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40" name="BodyText">
            <a:extLst xmlns:a="http://schemas.openxmlformats.org/drawingml/2006/main">
              <a:ext uri="{FF2B5EF4-FFF2-40B4-BE49-F238E27FC236}">
                <a16:creationId xmlns:a16="http://schemas.microsoft.com/office/drawing/2014/main" id="{CC15C43D-0CEA-4508-92FA-EC946AD2A294}"/>
              </a:ext>
            </a:extLst>
          </p:cNvPr>
          <p:cNvSpPr>
            <a:spLocks xmlns:a="http://schemas.openxmlformats.org/drawingml/2006/main" noGrp="1"/>
          </p:cNvSpPr>
          <p:nvPr/>
        </p:nvSpPr>
        <p:spPr>
          <a:xfrm xmlns:a="http://schemas.openxmlformats.org/drawingml/2006/main">
            <a:off x="742950" y="5772150"/>
            <a:ext cx="101917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Special-case logic matters: old INSEE updates, LAU reconciliation, and Corsica-style codes such as 2B246 are handled explicitly.</a:t>
            </a:r>
          </a:p>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The final visual layer is current AdminExpress commune polygons, while LAU is used in the reconciliation logic.</a:t>
            </a:r>
          </a:p>
        </p:txBody>
      </p:sp>
      <p:sp>
        <p:nvSpPr>
          <p:cNvPr id="41" name="Rule">
            <a:extLst xmlns:a="http://schemas.openxmlformats.org/drawingml/2006/main">
              <a:ext uri="{FF2B5EF4-FFF2-40B4-BE49-F238E27FC236}">
                <a16:creationId xmlns:a16="http://schemas.microsoft.com/office/drawing/2014/main" id="{9C696455-AA92-4D5B-8E4C-A52FF77B2925}"/>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D7CEC0"/>
          </a:solidFill>
          <a:ln xmlns:a="http://schemas.openxmlformats.org/drawingml/2006/main" w="0">
            <a:solidFill>
              <a:srgbClr val="000000">
                <a:alpha val="0"/>
              </a:srgbClr>
            </a:solidFill>
            <a:prstDash val="solid"/>
          </a:ln>
        </p:spPr>
      </p:sp>
      <p:sp>
        <p:nvSpPr>
          <p:cNvPr id="42" name="SmallText">
            <a:extLst xmlns:a="http://schemas.openxmlformats.org/drawingml/2006/main">
              <a:ext uri="{FF2B5EF4-FFF2-40B4-BE49-F238E27FC236}">
                <a16:creationId xmlns:a16="http://schemas.microsoft.com/office/drawing/2014/main" id="{775B249D-F17A-478A-B222-96C22046F868}"/>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Built from existing project logic in the France comparison scripts, commune-activity loader, and point-screening workflow.</a:t>
            </a:r>
          </a:p>
        </p:txBody>
      </p:sp>
    </p:spTree>
    <p:extLst>
      <p:ext uri="{BB962C8B-B14F-4D97-AF65-F5344CB8AC3E}">
        <p14:creationId xmlns:p14="http://schemas.microsoft.com/office/powerpoint/2010/main" val="135053827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022B510E-7538-4C4E-8BA6-BA159AA11B9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EEF3FB"/>
              </a:gs>
              <a:gs pos="100000">
                <a:srgbClr val="F5F1E8"/>
              </a:gs>
            </a:gsLst>
            <a:lin ang="10800000"/>
          </a:gra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1EFB6B71-5645-4A82-92F0-A20BE65C630D}"/>
              </a:ext>
            </a:extLst>
          </p:cNvPr>
          <p:cNvSpPr>
            <a:spLocks xmlns:a="http://schemas.openxmlformats.org/drawingml/2006/main" noGrp="1"/>
          </p:cNvSpPr>
          <p:nvPr/>
        </p:nvSpPr>
        <p:spPr>
          <a:xfrm xmlns:a="http://schemas.openxmlformats.org/drawingml/2006/main">
            <a:off x="514350" y="4000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E45A3C"/>
                </a:solidFill>
                <a:latin typeface="Aptos"/>
                <a:ea typeface="Aptos"/>
                <a:cs typeface="Aptos"/>
              </a:defRPr>
            </a:pPr>
            <a:r>
              <a:rPr sz="1350" b="1">
                <a:solidFill>
                  <a:srgbClr val="E45A3C"/>
                </a:solidFill>
                <a:latin typeface="Aptos"/>
                <a:ea typeface="Aptos"/>
                <a:cs typeface="Aptos"/>
              </a:rPr>
              <a:t>JULY 2021 DEEP DIVE</a:t>
            </a:r>
          </a:p>
        </p:txBody>
      </p:sp>
      <p:sp>
        <p:nvSpPr>
          <p:cNvPr id="3" name="Title">
            <a:extLst xmlns:a="http://schemas.openxmlformats.org/drawingml/2006/main">
              <a:ext uri="{FF2B5EF4-FFF2-40B4-BE49-F238E27FC236}">
                <a16:creationId xmlns:a16="http://schemas.microsoft.com/office/drawing/2014/main" id="{482FE3EC-8A41-447F-8C19-20A227A666E5}"/>
              </a:ext>
            </a:extLst>
          </p:cNvPr>
          <p:cNvSpPr>
            <a:spLocks xmlns:a="http://schemas.openxmlformats.org/drawingml/2006/main" noGrp="1"/>
          </p:cNvSpPr>
          <p:nvPr/>
        </p:nvSpPr>
        <p:spPr>
          <a:xfrm xmlns:a="http://schemas.openxmlformats.org/drawingml/2006/main">
            <a:off x="514350" y="742950"/>
            <a:ext cx="1066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550" b="1">
                <a:solidFill>
                  <a:srgbClr val="0F172A"/>
                </a:solidFill>
                <a:latin typeface="Aptos Display"/>
                <a:ea typeface="Aptos Display"/>
                <a:cs typeface="Aptos Display"/>
              </a:defRPr>
            </a:pPr>
            <a:r>
              <a:rPr sz="2550" b="1">
                <a:solidFill>
                  <a:srgbClr val="0F172A"/>
                </a:solidFill>
                <a:latin typeface="Aptos Display"/>
                <a:ea typeface="Aptos Display"/>
                <a:cs typeface="Aptos Display"/>
              </a:rPr>
              <a:t>July 2021 shows a real source disagreement, not just a cleaning error</a:t>
            </a:r>
          </a:p>
        </p:txBody>
      </p:sp>
      <p:sp>
        <p:nvSpPr>
          <p:cNvPr id="4" name="SmallText">
            <a:extLst xmlns:a="http://schemas.openxmlformats.org/drawingml/2006/main">
              <a:ext uri="{FF2B5EF4-FFF2-40B4-BE49-F238E27FC236}">
                <a16:creationId xmlns:a16="http://schemas.microsoft.com/office/drawing/2014/main" id="{0BD0BAFF-6A2C-47E2-9FDA-1425F37D3924}"/>
              </a:ext>
            </a:extLst>
          </p:cNvPr>
          <p:cNvSpPr>
            <a:spLocks xmlns:a="http://schemas.openxmlformats.org/drawingml/2006/main" noGrp="1"/>
          </p:cNvSpPr>
          <p:nvPr/>
        </p:nvSpPr>
        <p:spPr>
          <a:xfrm xmlns:a="http://schemas.openxmlformats.org/drawingml/2006/main">
            <a:off x="514350" y="1390650"/>
            <a:ext cx="9334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The mismatch is material in both directions, and public evidence exists for flood impacts on both the Gaspar-only and the JRC-only sides.</a:t>
            </a:r>
          </a:p>
        </p:txBody>
      </p:sp>
      <p:sp>
        <p:nvSpPr>
          <p:cNvPr id="5" name="MetricCard">
            <a:extLst xmlns:a="http://schemas.openxmlformats.org/drawingml/2006/main">
              <a:ext uri="{FF2B5EF4-FFF2-40B4-BE49-F238E27FC236}">
                <a16:creationId xmlns:a16="http://schemas.microsoft.com/office/drawing/2014/main" id="{35522F73-2BAE-4A85-B03B-19E70FE55A92}"/>
              </a:ext>
            </a:extLst>
          </p:cNvPr>
          <p:cNvSpPr>
            <a:spLocks xmlns:a="http://schemas.openxmlformats.org/drawingml/2006/main" noGrp="1"/>
          </p:cNvSpPr>
          <p:nvPr/>
        </p:nvSpPr>
        <p:spPr>
          <a:xfrm xmlns:a="http://schemas.openxmlformats.org/drawingml/2006/main">
            <a:off x="514350" y="1905000"/>
            <a:ext cx="20955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D7CEC0"/>
            </a:solidFill>
            <a:prstDash val="solid"/>
          </a:ln>
        </p:spPr>
      </p:sp>
      <p:sp>
        <p:nvSpPr>
          <p:cNvPr id="6" name="Rule">
            <a:extLst xmlns:a="http://schemas.openxmlformats.org/drawingml/2006/main">
              <a:ext uri="{FF2B5EF4-FFF2-40B4-BE49-F238E27FC236}">
                <a16:creationId xmlns:a16="http://schemas.microsoft.com/office/drawing/2014/main" id="{B22C3DE6-BFD8-4872-95E8-7EE08923EDE5}"/>
              </a:ext>
            </a:extLst>
          </p:cNvPr>
          <p:cNvSpPr>
            <a:spLocks xmlns:a="http://schemas.openxmlformats.org/drawingml/2006/main" noGrp="1"/>
          </p:cNvSpPr>
          <p:nvPr/>
        </p:nvSpPr>
        <p:spPr>
          <a:xfrm xmlns:a="http://schemas.openxmlformats.org/drawingml/2006/main">
            <a:off x="514350" y="1905000"/>
            <a:ext cx="2095500" cy="57150"/>
          </a:xfrm>
          <a:prstGeom xmlns:a="http://schemas.openxmlformats.org/drawingml/2006/main" prst="rect">
            <a:avLst/>
          </a:prstGeom>
          <a:solidFill xmlns:a="http://schemas.openxmlformats.org/drawingml/2006/main">
            <a:srgbClr val="1E293B"/>
          </a:solidFill>
          <a:ln xmlns:a="http://schemas.openxmlformats.org/drawingml/2006/main" w="0">
            <a:solidFill>
              <a:srgbClr val="000000">
                <a:alpha val="0"/>
              </a:srgbClr>
            </a:solidFill>
            <a:prstDash val="solid"/>
          </a:ln>
        </p:spPr>
      </p:sp>
      <p:sp>
        <p:nvSpPr>
          <p:cNvPr id="7" name="SmallText">
            <a:extLst xmlns:a="http://schemas.openxmlformats.org/drawingml/2006/main">
              <a:ext uri="{FF2B5EF4-FFF2-40B4-BE49-F238E27FC236}">
                <a16:creationId xmlns:a16="http://schemas.microsoft.com/office/drawing/2014/main" id="{3DE0B8D7-D8AF-49E0-90F3-7339537C4A93}"/>
              </a:ext>
            </a:extLst>
          </p:cNvPr>
          <p:cNvSpPr>
            <a:spLocks xmlns:a="http://schemas.openxmlformats.org/drawingml/2006/main" noGrp="1"/>
          </p:cNvSpPr>
          <p:nvPr/>
        </p:nvSpPr>
        <p:spPr>
          <a:xfrm xmlns:a="http://schemas.openxmlformats.org/drawingml/2006/main">
            <a:off x="685800" y="2076450"/>
            <a:ext cx="17526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ACTIVE COMMUNES</a:t>
            </a:r>
          </a:p>
        </p:txBody>
      </p:sp>
      <p:sp>
        <p:nvSpPr>
          <p:cNvPr id="8" name="MetricValue">
            <a:extLst xmlns:a="http://schemas.openxmlformats.org/drawingml/2006/main">
              <a:ext uri="{FF2B5EF4-FFF2-40B4-BE49-F238E27FC236}">
                <a16:creationId xmlns:a16="http://schemas.microsoft.com/office/drawing/2014/main" id="{A96C4A80-CA9D-4447-A224-AFDD7CC8FD1E}"/>
              </a:ext>
            </a:extLst>
          </p:cNvPr>
          <p:cNvSpPr>
            <a:spLocks xmlns:a="http://schemas.openxmlformats.org/drawingml/2006/main" noGrp="1"/>
          </p:cNvSpPr>
          <p:nvPr/>
        </p:nvSpPr>
        <p:spPr>
          <a:xfrm xmlns:a="http://schemas.openxmlformats.org/drawingml/2006/main">
            <a:off x="685800" y="2343150"/>
            <a:ext cx="17526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1,671</a:t>
            </a:r>
          </a:p>
        </p:txBody>
      </p:sp>
      <p:sp>
        <p:nvSpPr>
          <p:cNvPr id="9" name="MetricCard">
            <a:extLst xmlns:a="http://schemas.openxmlformats.org/drawingml/2006/main">
              <a:ext uri="{FF2B5EF4-FFF2-40B4-BE49-F238E27FC236}">
                <a16:creationId xmlns:a16="http://schemas.microsoft.com/office/drawing/2014/main" id="{2F9704D7-0997-4BC2-BD1C-8E537D022E72}"/>
              </a:ext>
            </a:extLst>
          </p:cNvPr>
          <p:cNvSpPr>
            <a:spLocks xmlns:a="http://schemas.openxmlformats.org/drawingml/2006/main" noGrp="1"/>
          </p:cNvSpPr>
          <p:nvPr/>
        </p:nvSpPr>
        <p:spPr>
          <a:xfrm xmlns:a="http://schemas.openxmlformats.org/drawingml/2006/main">
            <a:off x="2781300" y="1905000"/>
            <a:ext cx="1600200" cy="1066800"/>
          </a:xfrm>
          <a:prstGeom xmlns:a="http://schemas.openxmlformats.org/drawingml/2006/main" prst="rect">
            <a:avLst/>
          </a:prstGeom>
          <a:solidFill xmlns:a="http://schemas.openxmlformats.org/drawingml/2006/main">
            <a:srgbClr val="EAF5F3"/>
          </a:solidFill>
          <a:ln xmlns:a="http://schemas.openxmlformats.org/drawingml/2006/main" w="9525">
            <a:solidFill>
              <a:srgbClr val="D7CEC0"/>
            </a:solidFill>
            <a:prstDash val="solid"/>
          </a:ln>
        </p:spPr>
      </p:sp>
      <p:sp>
        <p:nvSpPr>
          <p:cNvPr id="10" name="Rule">
            <a:extLst xmlns:a="http://schemas.openxmlformats.org/drawingml/2006/main">
              <a:ext uri="{FF2B5EF4-FFF2-40B4-BE49-F238E27FC236}">
                <a16:creationId xmlns:a16="http://schemas.microsoft.com/office/drawing/2014/main" id="{650CEC49-5CE5-49FA-879F-D2FFD924980C}"/>
              </a:ext>
            </a:extLst>
          </p:cNvPr>
          <p:cNvSpPr>
            <a:spLocks xmlns:a="http://schemas.openxmlformats.org/drawingml/2006/main" noGrp="1"/>
          </p:cNvSpPr>
          <p:nvPr/>
        </p:nvSpPr>
        <p:spPr>
          <a:xfrm xmlns:a="http://schemas.openxmlformats.org/drawingml/2006/main">
            <a:off x="2781300" y="1905000"/>
            <a:ext cx="1600200" cy="5715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11" name="SmallText">
            <a:extLst xmlns:a="http://schemas.openxmlformats.org/drawingml/2006/main">
              <a:ext uri="{FF2B5EF4-FFF2-40B4-BE49-F238E27FC236}">
                <a16:creationId xmlns:a16="http://schemas.microsoft.com/office/drawing/2014/main" id="{1B2574D7-75AD-4402-A823-E11B75F40611}"/>
              </a:ext>
            </a:extLst>
          </p:cNvPr>
          <p:cNvSpPr>
            <a:spLocks xmlns:a="http://schemas.openxmlformats.org/drawingml/2006/main" noGrp="1"/>
          </p:cNvSpPr>
          <p:nvPr/>
        </p:nvSpPr>
        <p:spPr>
          <a:xfrm xmlns:a="http://schemas.openxmlformats.org/drawingml/2006/main">
            <a:off x="2952750" y="2076450"/>
            <a:ext cx="12573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BOTH</a:t>
            </a:r>
          </a:p>
        </p:txBody>
      </p:sp>
      <p:sp>
        <p:nvSpPr>
          <p:cNvPr id="12" name="MetricValue">
            <a:extLst xmlns:a="http://schemas.openxmlformats.org/drawingml/2006/main">
              <a:ext uri="{FF2B5EF4-FFF2-40B4-BE49-F238E27FC236}">
                <a16:creationId xmlns:a16="http://schemas.microsoft.com/office/drawing/2014/main" id="{61F83489-51D1-42C7-A595-036EAA90CBEA}"/>
              </a:ext>
            </a:extLst>
          </p:cNvPr>
          <p:cNvSpPr>
            <a:spLocks xmlns:a="http://schemas.openxmlformats.org/drawingml/2006/main" noGrp="1"/>
          </p:cNvSpPr>
          <p:nvPr/>
        </p:nvSpPr>
        <p:spPr>
          <a:xfrm xmlns:a="http://schemas.openxmlformats.org/drawingml/2006/main">
            <a:off x="2952750" y="2343150"/>
            <a:ext cx="1257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133</a:t>
            </a:r>
          </a:p>
        </p:txBody>
      </p:sp>
      <p:sp>
        <p:nvSpPr>
          <p:cNvPr id="13" name="MetricCard">
            <a:extLst xmlns:a="http://schemas.openxmlformats.org/drawingml/2006/main">
              <a:ext uri="{FF2B5EF4-FFF2-40B4-BE49-F238E27FC236}">
                <a16:creationId xmlns:a16="http://schemas.microsoft.com/office/drawing/2014/main" id="{AA9DC91C-955D-480A-BE97-5A2B242C3EB4}"/>
              </a:ext>
            </a:extLst>
          </p:cNvPr>
          <p:cNvSpPr>
            <a:spLocks xmlns:a="http://schemas.openxmlformats.org/drawingml/2006/main" noGrp="1"/>
          </p:cNvSpPr>
          <p:nvPr/>
        </p:nvSpPr>
        <p:spPr>
          <a:xfrm xmlns:a="http://schemas.openxmlformats.org/drawingml/2006/main">
            <a:off x="4533900" y="1905000"/>
            <a:ext cx="1600200" cy="1066800"/>
          </a:xfrm>
          <a:prstGeom xmlns:a="http://schemas.openxmlformats.org/drawingml/2006/main" prst="rect">
            <a:avLst/>
          </a:prstGeom>
          <a:solidFill xmlns:a="http://schemas.openxmlformats.org/drawingml/2006/main">
            <a:srgbClr val="FBEEE9"/>
          </a:solidFill>
          <a:ln xmlns:a="http://schemas.openxmlformats.org/drawingml/2006/main" w="9525">
            <a:solidFill>
              <a:srgbClr val="D7CEC0"/>
            </a:solidFill>
            <a:prstDash val="solid"/>
          </a:ln>
        </p:spPr>
      </p:sp>
      <p:sp>
        <p:nvSpPr>
          <p:cNvPr id="14" name="Rule">
            <a:extLst xmlns:a="http://schemas.openxmlformats.org/drawingml/2006/main">
              <a:ext uri="{FF2B5EF4-FFF2-40B4-BE49-F238E27FC236}">
                <a16:creationId xmlns:a16="http://schemas.microsoft.com/office/drawing/2014/main" id="{BB9EB037-CE4F-46B3-AD2A-16893E8DB665}"/>
              </a:ext>
            </a:extLst>
          </p:cNvPr>
          <p:cNvSpPr>
            <a:spLocks xmlns:a="http://schemas.openxmlformats.org/drawingml/2006/main" noGrp="1"/>
          </p:cNvSpPr>
          <p:nvPr/>
        </p:nvSpPr>
        <p:spPr>
          <a:xfrm xmlns:a="http://schemas.openxmlformats.org/drawingml/2006/main">
            <a:off x="4533900" y="1905000"/>
            <a:ext cx="1600200" cy="571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5" name="SmallText">
            <a:extLst xmlns:a="http://schemas.openxmlformats.org/drawingml/2006/main">
              <a:ext uri="{FF2B5EF4-FFF2-40B4-BE49-F238E27FC236}">
                <a16:creationId xmlns:a16="http://schemas.microsoft.com/office/drawing/2014/main" id="{81515C2B-1A6E-404B-B985-9EC05D90B143}"/>
              </a:ext>
            </a:extLst>
          </p:cNvPr>
          <p:cNvSpPr>
            <a:spLocks xmlns:a="http://schemas.openxmlformats.org/drawingml/2006/main" noGrp="1"/>
          </p:cNvSpPr>
          <p:nvPr/>
        </p:nvSpPr>
        <p:spPr>
          <a:xfrm xmlns:a="http://schemas.openxmlformats.org/drawingml/2006/main">
            <a:off x="4705350" y="2076450"/>
            <a:ext cx="12573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GASPAR ONLY</a:t>
            </a:r>
          </a:p>
        </p:txBody>
      </p:sp>
      <p:sp>
        <p:nvSpPr>
          <p:cNvPr id="16" name="MetricValue">
            <a:extLst xmlns:a="http://schemas.openxmlformats.org/drawingml/2006/main">
              <a:ext uri="{FF2B5EF4-FFF2-40B4-BE49-F238E27FC236}">
                <a16:creationId xmlns:a16="http://schemas.microsoft.com/office/drawing/2014/main" id="{0C7A73C5-C089-4331-A9CC-E8B3D5A7BA28}"/>
              </a:ext>
            </a:extLst>
          </p:cNvPr>
          <p:cNvSpPr>
            <a:spLocks xmlns:a="http://schemas.openxmlformats.org/drawingml/2006/main" noGrp="1"/>
          </p:cNvSpPr>
          <p:nvPr/>
        </p:nvSpPr>
        <p:spPr>
          <a:xfrm xmlns:a="http://schemas.openxmlformats.org/drawingml/2006/main">
            <a:off x="4705350" y="2343150"/>
            <a:ext cx="1257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363</a:t>
            </a:r>
          </a:p>
        </p:txBody>
      </p:sp>
      <p:sp>
        <p:nvSpPr>
          <p:cNvPr id="17" name="MetricCard">
            <a:extLst xmlns:a="http://schemas.openxmlformats.org/drawingml/2006/main">
              <a:ext uri="{FF2B5EF4-FFF2-40B4-BE49-F238E27FC236}">
                <a16:creationId xmlns:a16="http://schemas.microsoft.com/office/drawing/2014/main" id="{F6060621-4254-4E16-92CB-5A03F78F4A7A}"/>
              </a:ext>
            </a:extLst>
          </p:cNvPr>
          <p:cNvSpPr>
            <a:spLocks xmlns:a="http://schemas.openxmlformats.org/drawingml/2006/main" noGrp="1"/>
          </p:cNvSpPr>
          <p:nvPr/>
        </p:nvSpPr>
        <p:spPr>
          <a:xfrm xmlns:a="http://schemas.openxmlformats.org/drawingml/2006/main">
            <a:off x="6286500" y="1905000"/>
            <a:ext cx="1600200" cy="1066800"/>
          </a:xfrm>
          <a:prstGeom xmlns:a="http://schemas.openxmlformats.org/drawingml/2006/main" prst="rect">
            <a:avLst/>
          </a:prstGeom>
          <a:solidFill xmlns:a="http://schemas.openxmlformats.org/drawingml/2006/main">
            <a:srgbClr val="EEF3FB"/>
          </a:solidFill>
          <a:ln xmlns:a="http://schemas.openxmlformats.org/drawingml/2006/main" w="9525">
            <a:solidFill>
              <a:srgbClr val="D7CEC0"/>
            </a:solidFill>
            <a:prstDash val="solid"/>
          </a:ln>
        </p:spPr>
      </p:sp>
      <p:sp>
        <p:nvSpPr>
          <p:cNvPr id="18" name="Rule">
            <a:extLst xmlns:a="http://schemas.openxmlformats.org/drawingml/2006/main">
              <a:ext uri="{FF2B5EF4-FFF2-40B4-BE49-F238E27FC236}">
                <a16:creationId xmlns:a16="http://schemas.microsoft.com/office/drawing/2014/main" id="{CD4005F2-4863-453D-A4EC-2A34AA6E4DCC}"/>
              </a:ext>
            </a:extLst>
          </p:cNvPr>
          <p:cNvSpPr>
            <a:spLocks xmlns:a="http://schemas.openxmlformats.org/drawingml/2006/main" noGrp="1"/>
          </p:cNvSpPr>
          <p:nvPr/>
        </p:nvSpPr>
        <p:spPr>
          <a:xfrm xmlns:a="http://schemas.openxmlformats.org/drawingml/2006/main">
            <a:off x="6286500" y="1905000"/>
            <a:ext cx="1600200" cy="571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9" name="SmallText">
            <a:extLst xmlns:a="http://schemas.openxmlformats.org/drawingml/2006/main">
              <a:ext uri="{FF2B5EF4-FFF2-40B4-BE49-F238E27FC236}">
                <a16:creationId xmlns:a16="http://schemas.microsoft.com/office/drawing/2014/main" id="{E9E203E0-E98D-4CD3-A019-D3A02C5338C4}"/>
              </a:ext>
            </a:extLst>
          </p:cNvPr>
          <p:cNvSpPr>
            <a:spLocks xmlns:a="http://schemas.openxmlformats.org/drawingml/2006/main" noGrp="1"/>
          </p:cNvSpPr>
          <p:nvPr/>
        </p:nvSpPr>
        <p:spPr>
          <a:xfrm xmlns:a="http://schemas.openxmlformats.org/drawingml/2006/main">
            <a:off x="6457950" y="2076450"/>
            <a:ext cx="12573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JRC ONLY</a:t>
            </a:r>
          </a:p>
        </p:txBody>
      </p:sp>
      <p:sp>
        <p:nvSpPr>
          <p:cNvPr id="20" name="MetricValue">
            <a:extLst xmlns:a="http://schemas.openxmlformats.org/drawingml/2006/main">
              <a:ext uri="{FF2B5EF4-FFF2-40B4-BE49-F238E27FC236}">
                <a16:creationId xmlns:a16="http://schemas.microsoft.com/office/drawing/2014/main" id="{A6B4D008-E4DF-4E79-AD77-18F1E9FFDE08}"/>
              </a:ext>
            </a:extLst>
          </p:cNvPr>
          <p:cNvSpPr>
            <a:spLocks xmlns:a="http://schemas.openxmlformats.org/drawingml/2006/main" noGrp="1"/>
          </p:cNvSpPr>
          <p:nvPr/>
        </p:nvSpPr>
        <p:spPr>
          <a:xfrm xmlns:a="http://schemas.openxmlformats.org/drawingml/2006/main">
            <a:off x="6457950" y="2343150"/>
            <a:ext cx="125730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1,175</a:t>
            </a:r>
          </a:p>
        </p:txBody>
      </p:sp>
      <p:sp>
        <p:nvSpPr>
          <p:cNvPr id="21" name="StackedBarPanel">
            <a:extLst xmlns:a="http://schemas.openxmlformats.org/drawingml/2006/main">
              <a:ext uri="{FF2B5EF4-FFF2-40B4-BE49-F238E27FC236}">
                <a16:creationId xmlns:a16="http://schemas.microsoft.com/office/drawing/2014/main" id="{D00A6855-99CF-4DD7-B4CA-859C5CA0F398}"/>
              </a:ext>
            </a:extLst>
          </p:cNvPr>
          <p:cNvSpPr>
            <a:spLocks xmlns:a="http://schemas.openxmlformats.org/drawingml/2006/main" noGrp="1"/>
          </p:cNvSpPr>
          <p:nvPr/>
        </p:nvSpPr>
        <p:spPr>
          <a:xfrm xmlns:a="http://schemas.openxmlformats.org/drawingml/2006/main">
            <a:off x="514350" y="3238500"/>
            <a:ext cx="7372350" cy="1543050"/>
          </a:xfrm>
          <a:prstGeom xmlns:a="http://schemas.openxmlformats.org/drawingml/2006/main" prst="rect">
            <a:avLst/>
          </a:prstGeom>
          <a:solidFill xmlns:a="http://schemas.openxmlformats.org/drawingml/2006/main">
            <a:srgbClr val="FFFFFF"/>
          </a:solidFill>
          <a:ln xmlns:a="http://schemas.openxmlformats.org/drawingml/2006/main" w="9525">
            <a:solidFill>
              <a:srgbClr val="D7CEC0"/>
            </a:solidFill>
            <a:prstDash val="solid"/>
          </a:ln>
        </p:spPr>
      </p:sp>
      <p:sp>
        <p:nvSpPr>
          <p:cNvPr id="22" name="BodyText">
            <a:extLst xmlns:a="http://schemas.openxmlformats.org/drawingml/2006/main">
              <a:ext uri="{FF2B5EF4-FFF2-40B4-BE49-F238E27FC236}">
                <a16:creationId xmlns:a16="http://schemas.microsoft.com/office/drawing/2014/main" id="{65A7B448-594E-4643-AE42-AF597D9DE588}"/>
              </a:ext>
            </a:extLst>
          </p:cNvPr>
          <p:cNvSpPr>
            <a:spLocks xmlns:a="http://schemas.openxmlformats.org/drawingml/2006/main" noGrp="1"/>
          </p:cNvSpPr>
          <p:nvPr/>
        </p:nvSpPr>
        <p:spPr>
          <a:xfrm xmlns:a="http://schemas.openxmlformats.org/drawingml/2006/main">
            <a:off x="742950" y="3429000"/>
            <a:ext cx="2667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0F172A"/>
                </a:solidFill>
                <a:latin typeface="Aptos Display"/>
                <a:ea typeface="Aptos Display"/>
                <a:cs typeface="Aptos Display"/>
              </a:defRPr>
            </a:pPr>
            <a:r>
              <a:rPr sz="1575" b="1">
                <a:solidFill>
                  <a:srgbClr val="0F172A"/>
                </a:solidFill>
                <a:latin typeface="Aptos Display"/>
                <a:ea typeface="Aptos Display"/>
                <a:cs typeface="Aptos Display"/>
              </a:rPr>
              <a:t>France-wide commune activity split in the app</a:t>
            </a:r>
          </a:p>
        </p:txBody>
      </p:sp>
      <p:sp>
        <p:nvSpPr>
          <p:cNvPr id="23" name="StackedBar1">
            <a:extLst xmlns:a="http://schemas.openxmlformats.org/drawingml/2006/main">
              <a:ext uri="{FF2B5EF4-FFF2-40B4-BE49-F238E27FC236}">
                <a16:creationId xmlns:a16="http://schemas.microsoft.com/office/drawing/2014/main" id="{1E3FD046-8A31-4F79-B42B-9FC8BA221A35}"/>
              </a:ext>
            </a:extLst>
          </p:cNvPr>
          <p:cNvSpPr>
            <a:spLocks xmlns:a="http://schemas.openxmlformats.org/drawingml/2006/main" noGrp="1"/>
          </p:cNvSpPr>
          <p:nvPr/>
        </p:nvSpPr>
        <p:spPr>
          <a:xfrm xmlns:a="http://schemas.openxmlformats.org/drawingml/2006/main">
            <a:off x="742950" y="3905250"/>
            <a:ext cx="542925" cy="40005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24" name="StackedBar2">
            <a:extLst xmlns:a="http://schemas.openxmlformats.org/drawingml/2006/main">
              <a:ext uri="{FF2B5EF4-FFF2-40B4-BE49-F238E27FC236}">
                <a16:creationId xmlns:a16="http://schemas.microsoft.com/office/drawing/2014/main" id="{FB86973C-FD8F-4F4D-8F61-59312E5F086E}"/>
              </a:ext>
            </a:extLst>
          </p:cNvPr>
          <p:cNvSpPr>
            <a:spLocks xmlns:a="http://schemas.openxmlformats.org/drawingml/2006/main" noGrp="1"/>
          </p:cNvSpPr>
          <p:nvPr/>
        </p:nvSpPr>
        <p:spPr>
          <a:xfrm xmlns:a="http://schemas.openxmlformats.org/drawingml/2006/main">
            <a:off x="1285875" y="3905250"/>
            <a:ext cx="1485900" cy="4000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25" name="StackedBar3">
            <a:extLst xmlns:a="http://schemas.openxmlformats.org/drawingml/2006/main">
              <a:ext uri="{FF2B5EF4-FFF2-40B4-BE49-F238E27FC236}">
                <a16:creationId xmlns:a16="http://schemas.microsoft.com/office/drawing/2014/main" id="{20CF3DCE-6E80-41AB-B7E8-1F52947F38FE}"/>
              </a:ext>
            </a:extLst>
          </p:cNvPr>
          <p:cNvSpPr>
            <a:spLocks xmlns:a="http://schemas.openxmlformats.org/drawingml/2006/main" noGrp="1"/>
          </p:cNvSpPr>
          <p:nvPr/>
        </p:nvSpPr>
        <p:spPr>
          <a:xfrm xmlns:a="http://schemas.openxmlformats.org/drawingml/2006/main">
            <a:off x="2771775" y="3905250"/>
            <a:ext cx="4829175" cy="4000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26" name="SmallText">
            <a:extLst xmlns:a="http://schemas.openxmlformats.org/drawingml/2006/main">
              <a:ext uri="{FF2B5EF4-FFF2-40B4-BE49-F238E27FC236}">
                <a16:creationId xmlns:a16="http://schemas.microsoft.com/office/drawing/2014/main" id="{D6EDB8AE-F733-46F0-A359-FFC5A6EA3BE0}"/>
              </a:ext>
            </a:extLst>
          </p:cNvPr>
          <p:cNvSpPr>
            <a:spLocks xmlns:a="http://schemas.openxmlformats.org/drawingml/2006/main" noGrp="1"/>
          </p:cNvSpPr>
          <p:nvPr/>
        </p:nvSpPr>
        <p:spPr>
          <a:xfrm xmlns:a="http://schemas.openxmlformats.org/drawingml/2006/main">
            <a:off x="742950" y="4457700"/>
            <a:ext cx="20002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Both: 133 (8.0%)</a:t>
            </a:r>
          </a:p>
        </p:txBody>
      </p:sp>
      <p:sp>
        <p:nvSpPr>
          <p:cNvPr id="27" name="SmallText">
            <a:extLst xmlns:a="http://schemas.openxmlformats.org/drawingml/2006/main">
              <a:ext uri="{FF2B5EF4-FFF2-40B4-BE49-F238E27FC236}">
                <a16:creationId xmlns:a16="http://schemas.microsoft.com/office/drawing/2014/main" id="{6947D6DF-0675-491E-A10C-070115AAFC1F}"/>
              </a:ext>
            </a:extLst>
          </p:cNvPr>
          <p:cNvSpPr>
            <a:spLocks xmlns:a="http://schemas.openxmlformats.org/drawingml/2006/main" noGrp="1"/>
          </p:cNvSpPr>
          <p:nvPr/>
        </p:nvSpPr>
        <p:spPr>
          <a:xfrm xmlns:a="http://schemas.openxmlformats.org/drawingml/2006/main">
            <a:off x="3086100" y="4457700"/>
            <a:ext cx="2190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Gaspar only: 363 (21.7%)</a:t>
            </a:r>
          </a:p>
        </p:txBody>
      </p:sp>
      <p:sp>
        <p:nvSpPr>
          <p:cNvPr id="28" name="SmallText">
            <a:extLst xmlns:a="http://schemas.openxmlformats.org/drawingml/2006/main">
              <a:ext uri="{FF2B5EF4-FFF2-40B4-BE49-F238E27FC236}">
                <a16:creationId xmlns:a16="http://schemas.microsoft.com/office/drawing/2014/main" id="{48F6CB64-A194-43FB-A314-77373117A3FA}"/>
              </a:ext>
            </a:extLst>
          </p:cNvPr>
          <p:cNvSpPr>
            <a:spLocks xmlns:a="http://schemas.openxmlformats.org/drawingml/2006/main" noGrp="1"/>
          </p:cNvSpPr>
          <p:nvPr/>
        </p:nvSpPr>
        <p:spPr>
          <a:xfrm xmlns:a="http://schemas.openxmlformats.org/drawingml/2006/main">
            <a:off x="5505450" y="4457700"/>
            <a:ext cx="2095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JRC only: 1175 (70.3%)</a:t>
            </a:r>
          </a:p>
        </p:txBody>
      </p:sp>
      <p:sp>
        <p:nvSpPr>
          <p:cNvPr id="29" name="EvidencePanel">
            <a:extLst xmlns:a="http://schemas.openxmlformats.org/drawingml/2006/main">
              <a:ext uri="{FF2B5EF4-FFF2-40B4-BE49-F238E27FC236}">
                <a16:creationId xmlns:a16="http://schemas.microsoft.com/office/drawing/2014/main" id="{A8A8F312-83E6-4C27-90F1-8EDEA11F3303}"/>
              </a:ext>
            </a:extLst>
          </p:cNvPr>
          <p:cNvSpPr>
            <a:spLocks xmlns:a="http://schemas.openxmlformats.org/drawingml/2006/main" noGrp="1"/>
          </p:cNvSpPr>
          <p:nvPr/>
        </p:nvSpPr>
        <p:spPr>
          <a:xfrm xmlns:a="http://schemas.openxmlformats.org/drawingml/2006/main">
            <a:off x="8134350" y="1905000"/>
            <a:ext cx="3009900" cy="28765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30" name="BodyText">
            <a:extLst xmlns:a="http://schemas.openxmlformats.org/drawingml/2006/main">
              <a:ext uri="{FF2B5EF4-FFF2-40B4-BE49-F238E27FC236}">
                <a16:creationId xmlns:a16="http://schemas.microsoft.com/office/drawing/2014/main" id="{DE1095E4-B94A-43E2-8828-AD297DA06E96}"/>
              </a:ext>
            </a:extLst>
          </p:cNvPr>
          <p:cNvSpPr>
            <a:spLocks xmlns:a="http://schemas.openxmlformats.org/drawingml/2006/main" noGrp="1"/>
          </p:cNvSpPr>
          <p:nvPr/>
        </p:nvSpPr>
        <p:spPr>
          <a:xfrm xmlns:a="http://schemas.openxmlformats.org/drawingml/2006/main">
            <a:off x="8362950" y="2095500"/>
            <a:ext cx="2381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Public evidence found</a:t>
            </a:r>
          </a:p>
        </p:txBody>
      </p:sp>
      <p:sp>
        <p:nvSpPr>
          <p:cNvPr id="31" name="SmallText">
            <a:extLst xmlns:a="http://schemas.openxmlformats.org/drawingml/2006/main">
              <a:ext uri="{FF2B5EF4-FFF2-40B4-BE49-F238E27FC236}">
                <a16:creationId xmlns:a16="http://schemas.microsoft.com/office/drawing/2014/main" id="{0652E672-E655-49ED-93DC-FEE46CC172A0}"/>
              </a:ext>
            </a:extLst>
          </p:cNvPr>
          <p:cNvSpPr>
            <a:spLocks xmlns:a="http://schemas.openxmlformats.org/drawingml/2006/main" noGrp="1"/>
          </p:cNvSpPr>
          <p:nvPr/>
        </p:nvSpPr>
        <p:spPr>
          <a:xfrm xmlns:a="http://schemas.openxmlformats.org/drawingml/2006/main">
            <a:off x="8362950" y="2457450"/>
            <a:ext cx="2381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Gaspar-only side</a:t>
            </a:r>
          </a:p>
        </p:txBody>
      </p:sp>
      <p:sp>
        <p:nvSpPr>
          <p:cNvPr id="32" name="BodyText">
            <a:extLst xmlns:a="http://schemas.openxmlformats.org/drawingml/2006/main">
              <a:ext uri="{FF2B5EF4-FFF2-40B4-BE49-F238E27FC236}">
                <a16:creationId xmlns:a16="http://schemas.microsoft.com/office/drawing/2014/main" id="{693A01FF-7866-4527-9708-1C3CCE7B7174}"/>
              </a:ext>
            </a:extLst>
          </p:cNvPr>
          <p:cNvSpPr>
            <a:spLocks xmlns:a="http://schemas.openxmlformats.org/drawingml/2006/main" noGrp="1"/>
          </p:cNvSpPr>
          <p:nvPr/>
        </p:nvSpPr>
        <p:spPr>
          <a:xfrm xmlns:a="http://schemas.openxmlformats.org/drawingml/2006/main">
            <a:off x="8362950" y="2724150"/>
            <a:ext cx="243840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00" b="0">
                <a:solidFill>
                  <a:srgbClr val="0F172A"/>
                </a:solidFill>
                <a:latin typeface="Aptos"/>
                <a:ea typeface="Aptos"/>
                <a:cs typeface="Aptos"/>
              </a:defRPr>
            </a:pPr>
            <a:r>
              <a:rPr sz="1200" b="0">
                <a:solidFill>
                  <a:srgbClr val="0F172A"/>
                </a:solidFill>
                <a:latin typeface="Aptos"/>
                <a:ea typeface="Aptos"/>
                <a:cs typeface="Aptos"/>
              </a:rPr>
              <a:t>Jura, Meuse, and Claye-Souilly all have press or official support on the Gaspar side.</a:t>
            </a:r>
          </a:p>
        </p:txBody>
      </p:sp>
      <p:sp>
        <p:nvSpPr>
          <p:cNvPr id="33" name="SmallText">
            <a:extLst xmlns:a="http://schemas.openxmlformats.org/drawingml/2006/main">
              <a:ext uri="{FF2B5EF4-FFF2-40B4-BE49-F238E27FC236}">
                <a16:creationId xmlns:a16="http://schemas.microsoft.com/office/drawing/2014/main" id="{AC896623-91BA-47B3-8885-8F884D46926A}"/>
              </a:ext>
            </a:extLst>
          </p:cNvPr>
          <p:cNvSpPr>
            <a:spLocks xmlns:a="http://schemas.openxmlformats.org/drawingml/2006/main" noGrp="1"/>
          </p:cNvSpPr>
          <p:nvPr/>
        </p:nvSpPr>
        <p:spPr>
          <a:xfrm xmlns:a="http://schemas.openxmlformats.org/drawingml/2006/main">
            <a:off x="8362950" y="3829050"/>
            <a:ext cx="2381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JRC-only side</a:t>
            </a:r>
          </a:p>
        </p:txBody>
      </p:sp>
      <p:sp>
        <p:nvSpPr>
          <p:cNvPr id="34" name="BodyText">
            <a:extLst xmlns:a="http://schemas.openxmlformats.org/drawingml/2006/main">
              <a:ext uri="{FF2B5EF4-FFF2-40B4-BE49-F238E27FC236}">
                <a16:creationId xmlns:a16="http://schemas.microsoft.com/office/drawing/2014/main" id="{CE3CD851-8F99-4730-8BE4-26FBD120EBB0}"/>
              </a:ext>
            </a:extLst>
          </p:cNvPr>
          <p:cNvSpPr>
            <a:spLocks xmlns:a="http://schemas.openxmlformats.org/drawingml/2006/main" noGrp="1"/>
          </p:cNvSpPr>
          <p:nvPr/>
        </p:nvSpPr>
        <p:spPr>
          <a:xfrm xmlns:a="http://schemas.openxmlformats.org/drawingml/2006/main">
            <a:off x="8362950" y="4095750"/>
            <a:ext cx="243840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00" b="0">
                <a:solidFill>
                  <a:srgbClr val="0F172A"/>
                </a:solidFill>
                <a:latin typeface="Aptos"/>
                <a:ea typeface="Aptos"/>
                <a:cs typeface="Aptos"/>
              </a:defRPr>
            </a:pPr>
            <a:r>
              <a:rPr sz="1200" b="0">
                <a:solidFill>
                  <a:srgbClr val="0F172A"/>
                </a:solidFill>
                <a:latin typeface="Aptos"/>
                <a:ea typeface="Aptos"/>
                <a:cs typeface="Aptos"/>
              </a:rPr>
              <a:t>Autet, Asfeld, the Sedan area, and Louhans also have local or departmental evidence on the JRC side.</a:t>
            </a:r>
          </a:p>
        </p:txBody>
      </p:sp>
      <p:sp>
        <p:nvSpPr>
          <p:cNvPr id="35" name="InterpretationPanel">
            <a:extLst xmlns:a="http://schemas.openxmlformats.org/drawingml/2006/main">
              <a:ext uri="{FF2B5EF4-FFF2-40B4-BE49-F238E27FC236}">
                <a16:creationId xmlns:a16="http://schemas.microsoft.com/office/drawing/2014/main" id="{1051684C-1B81-4E9F-8E53-319446A6DDE4}"/>
              </a:ext>
            </a:extLst>
          </p:cNvPr>
          <p:cNvSpPr>
            <a:spLocks xmlns:a="http://schemas.openxmlformats.org/drawingml/2006/main" noGrp="1"/>
          </p:cNvSpPr>
          <p:nvPr/>
        </p:nvSpPr>
        <p:spPr>
          <a:xfrm xmlns:a="http://schemas.openxmlformats.org/drawingml/2006/main">
            <a:off x="514350" y="5029200"/>
            <a:ext cx="106299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7CEC0"/>
            </a:solidFill>
            <a:prstDash val="solid"/>
          </a:ln>
        </p:spPr>
      </p:sp>
      <p:sp>
        <p:nvSpPr>
          <p:cNvPr id="36" name="BodyText">
            <a:extLst xmlns:a="http://schemas.openxmlformats.org/drawingml/2006/main">
              <a:ext uri="{FF2B5EF4-FFF2-40B4-BE49-F238E27FC236}">
                <a16:creationId xmlns:a16="http://schemas.microsoft.com/office/drawing/2014/main" id="{D27C4BBA-9EBD-4569-A6F9-9164F7014475}"/>
              </a:ext>
            </a:extLst>
          </p:cNvPr>
          <p:cNvSpPr>
            <a:spLocks xmlns:a="http://schemas.openxmlformats.org/drawingml/2006/main" noGrp="1"/>
          </p:cNvSpPr>
          <p:nvPr/>
        </p:nvSpPr>
        <p:spPr>
          <a:xfrm xmlns:a="http://schemas.openxmlformats.org/drawingml/2006/main">
            <a:off x="742950" y="5257800"/>
            <a:ext cx="10191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575" b="0">
                <a:solidFill>
                  <a:srgbClr val="0F172A"/>
                </a:solidFill>
                <a:latin typeface="Aptos"/>
                <a:ea typeface="Aptos"/>
                <a:cs typeface="Aptos"/>
              </a:defRPr>
            </a:pPr>
            <a:r>
              <a:rPr sz="1575" b="0">
                <a:solidFill>
                  <a:srgbClr val="0F172A"/>
                </a:solidFill>
                <a:latin typeface="Aptos"/>
                <a:ea typeface="Aptos"/>
                <a:cs typeface="Aptos"/>
              </a:rPr>
              <a:t>Interpretation: the July 2021 mismatch is not just an extraction problem. Both sources capture real flood impacts, but they disagree strongly on which communes belong to the same episode and on how widely the flood footprint should extend.</a:t>
            </a:r>
          </a:p>
        </p:txBody>
      </p:sp>
      <p:sp>
        <p:nvSpPr>
          <p:cNvPr id="37" name="Rule">
            <a:extLst xmlns:a="http://schemas.openxmlformats.org/drawingml/2006/main">
              <a:ext uri="{FF2B5EF4-FFF2-40B4-BE49-F238E27FC236}">
                <a16:creationId xmlns:a16="http://schemas.microsoft.com/office/drawing/2014/main" id="{4B2372D5-063B-4151-8104-FAFB66E8F108}"/>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D7CEC0"/>
          </a:solidFill>
          <a:ln xmlns:a="http://schemas.openxmlformats.org/drawingml/2006/main" w="0">
            <a:solidFill>
              <a:srgbClr val="000000">
                <a:alpha val="0"/>
              </a:srgbClr>
            </a:solidFill>
            <a:prstDash val="solid"/>
          </a:ln>
        </p:spPr>
      </p:sp>
      <p:sp>
        <p:nvSpPr>
          <p:cNvPr id="38" name="SmallText">
            <a:extLst xmlns:a="http://schemas.openxmlformats.org/drawingml/2006/main">
              <a:ext uri="{FF2B5EF4-FFF2-40B4-BE49-F238E27FC236}">
                <a16:creationId xmlns:a16="http://schemas.microsoft.com/office/drawing/2014/main" id="{0FFF7E13-7787-4D1B-AD17-B5590538CC4F}"/>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Evidence report: docs/july_2021_gaspar_jrc_mismatch_evidence_report.md. Comparison counts from the France Streamlit app for 2021-07.</a:t>
            </a:r>
          </a:p>
        </p:txBody>
      </p:sp>
    </p:spTree>
    <p:extLst>
      <p:ext uri="{BB962C8B-B14F-4D97-AF65-F5344CB8AC3E}">
        <p14:creationId xmlns:p14="http://schemas.microsoft.com/office/powerpoint/2010/main" val="65444330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E4B234B1-D068-4584-B806-77FAC54A97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1E8"/>
          </a:soli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4A78C83E-94A6-4AF8-9FA6-D3F266C9A6CE}"/>
              </a:ext>
            </a:extLst>
          </p:cNvPr>
          <p:cNvSpPr>
            <a:spLocks xmlns:a="http://schemas.openxmlformats.org/drawingml/2006/main" noGrp="1"/>
          </p:cNvSpPr>
          <p:nvPr/>
        </p:nvSpPr>
        <p:spPr>
          <a:xfrm xmlns:a="http://schemas.openxmlformats.org/drawingml/2006/main">
            <a:off x="514350" y="400050"/>
            <a:ext cx="2667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E45A3C"/>
                </a:solidFill>
                <a:latin typeface="Aptos"/>
                <a:ea typeface="Aptos"/>
                <a:cs typeface="Aptos"/>
              </a:defRPr>
            </a:pPr>
            <a:r>
              <a:rPr sz="1350" b="1">
                <a:solidFill>
                  <a:srgbClr val="E45A3C"/>
                </a:solidFill>
                <a:latin typeface="Aptos"/>
                <a:ea typeface="Aptos"/>
                <a:cs typeface="Aptos"/>
              </a:rPr>
              <a:t>STREAMLIT APP</a:t>
            </a:r>
          </a:p>
        </p:txBody>
      </p:sp>
      <p:sp>
        <p:nvSpPr>
          <p:cNvPr id="3" name="Title">
            <a:extLst xmlns:a="http://schemas.openxmlformats.org/drawingml/2006/main">
              <a:ext uri="{FF2B5EF4-FFF2-40B4-BE49-F238E27FC236}">
                <a16:creationId xmlns:a16="http://schemas.microsoft.com/office/drawing/2014/main" id="{467916F1-C46E-4534-AE1E-C51BA10C706B}"/>
              </a:ext>
            </a:extLst>
          </p:cNvPr>
          <p:cNvSpPr>
            <a:spLocks xmlns:a="http://schemas.openxmlformats.org/drawingml/2006/main" noGrp="1"/>
          </p:cNvSpPr>
          <p:nvPr/>
        </p:nvSpPr>
        <p:spPr>
          <a:xfrm xmlns:a="http://schemas.openxmlformats.org/drawingml/2006/main">
            <a:off x="514350" y="742950"/>
            <a:ext cx="104775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550" b="1">
                <a:solidFill>
                  <a:srgbClr val="0F172A"/>
                </a:solidFill>
                <a:latin typeface="Aptos Display"/>
                <a:ea typeface="Aptos Display"/>
                <a:cs typeface="Aptos Display"/>
              </a:defRPr>
            </a:pPr>
            <a:r>
              <a:rPr sz="2550" b="1">
                <a:solidFill>
                  <a:srgbClr val="0F172A"/>
                </a:solidFill>
                <a:latin typeface="Aptos Display"/>
                <a:ea typeface="Aptos Display"/>
                <a:cs typeface="Aptos Display"/>
              </a:rPr>
              <a:t>The new Streamlit app turns commune matching into a practical visual QA workflow</a:t>
            </a:r>
          </a:p>
        </p:txBody>
      </p:sp>
      <p:sp>
        <p:nvSpPr>
          <p:cNvPr id="4" name="SidebarPanel">
            <a:extLst xmlns:a="http://schemas.openxmlformats.org/drawingml/2006/main">
              <a:ext uri="{FF2B5EF4-FFF2-40B4-BE49-F238E27FC236}">
                <a16:creationId xmlns:a16="http://schemas.microsoft.com/office/drawing/2014/main" id="{C331D9C1-7AB0-40C3-9369-6502211B5EE7}"/>
              </a:ext>
            </a:extLst>
          </p:cNvPr>
          <p:cNvSpPr>
            <a:spLocks xmlns:a="http://schemas.openxmlformats.org/drawingml/2006/main" noGrp="1"/>
          </p:cNvSpPr>
          <p:nvPr/>
        </p:nvSpPr>
        <p:spPr>
          <a:xfrm xmlns:a="http://schemas.openxmlformats.org/drawingml/2006/main">
            <a:off x="514350" y="1714500"/>
            <a:ext cx="3390900" cy="44767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5" name="BodyText">
            <a:extLst xmlns:a="http://schemas.openxmlformats.org/drawingml/2006/main">
              <a:ext uri="{FF2B5EF4-FFF2-40B4-BE49-F238E27FC236}">
                <a16:creationId xmlns:a16="http://schemas.microsoft.com/office/drawing/2014/main" id="{D9A948B4-6443-4B31-8A7C-17C9E3AD8556}"/>
              </a:ext>
            </a:extLst>
          </p:cNvPr>
          <p:cNvSpPr>
            <a:spLocks xmlns:a="http://schemas.openxmlformats.org/drawingml/2006/main" noGrp="1"/>
          </p:cNvSpPr>
          <p:nvPr/>
        </p:nvSpPr>
        <p:spPr>
          <a:xfrm xmlns:a="http://schemas.openxmlformats.org/drawingml/2006/main">
            <a:off x="742950" y="1943100"/>
            <a:ext cx="247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0F172A"/>
                </a:solidFill>
                <a:latin typeface="Aptos Display"/>
                <a:ea typeface="Aptos Display"/>
                <a:cs typeface="Aptos Display"/>
              </a:defRPr>
            </a:pPr>
            <a:r>
              <a:rPr sz="1650" b="1">
                <a:solidFill>
                  <a:srgbClr val="0F172A"/>
                </a:solidFill>
                <a:latin typeface="Aptos Display"/>
                <a:ea typeface="Aptos Display"/>
                <a:cs typeface="Aptos Display"/>
              </a:rPr>
              <a:t>What the app now supports</a:t>
            </a:r>
          </a:p>
        </p:txBody>
      </p:sp>
      <p:sp>
        <p:nvSpPr>
          <p:cNvPr id="6" name="Bullet1">
            <a:extLst xmlns:a="http://schemas.openxmlformats.org/drawingml/2006/main">
              <a:ext uri="{FF2B5EF4-FFF2-40B4-BE49-F238E27FC236}">
                <a16:creationId xmlns:a16="http://schemas.microsoft.com/office/drawing/2014/main" id="{E2EFF0AF-A3F8-4939-8160-03E347173FF0}"/>
              </a:ext>
            </a:extLst>
          </p:cNvPr>
          <p:cNvSpPr>
            <a:spLocks xmlns:a="http://schemas.openxmlformats.org/drawingml/2006/main" noGrp="1"/>
          </p:cNvSpPr>
          <p:nvPr/>
        </p:nvSpPr>
        <p:spPr>
          <a:xfrm xmlns:a="http://schemas.openxmlformats.org/drawingml/2006/main">
            <a:off x="742950" y="24765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7" name="BulletText1">
            <a:extLst xmlns:a="http://schemas.openxmlformats.org/drawingml/2006/main">
              <a:ext uri="{FF2B5EF4-FFF2-40B4-BE49-F238E27FC236}">
                <a16:creationId xmlns:a16="http://schemas.microsoft.com/office/drawing/2014/main" id="{D9A006DA-08A1-4EF4-8F11-FFD448EE8B8E}"/>
              </a:ext>
            </a:extLst>
          </p:cNvPr>
          <p:cNvSpPr>
            <a:spLocks xmlns:a="http://schemas.openxmlformats.org/drawingml/2006/main" noGrp="1"/>
          </p:cNvSpPr>
          <p:nvPr/>
        </p:nvSpPr>
        <p:spPr>
          <a:xfrm xmlns:a="http://schemas.openxmlformats.org/drawingml/2006/main">
            <a:off x="952500" y="2400300"/>
            <a:ext cx="25717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Switch between Gaspar, JRC, and direct Comparison display modes.</a:t>
            </a:r>
          </a:p>
        </p:txBody>
      </p:sp>
      <p:sp>
        <p:nvSpPr>
          <p:cNvPr id="8" name="Bullet2">
            <a:extLst xmlns:a="http://schemas.openxmlformats.org/drawingml/2006/main">
              <a:ext uri="{FF2B5EF4-FFF2-40B4-BE49-F238E27FC236}">
                <a16:creationId xmlns:a16="http://schemas.microsoft.com/office/drawing/2014/main" id="{09A63B63-70EB-4027-890B-7174D41C296E}"/>
              </a:ext>
            </a:extLst>
          </p:cNvPr>
          <p:cNvSpPr>
            <a:spLocks xmlns:a="http://schemas.openxmlformats.org/drawingml/2006/main" noGrp="1"/>
          </p:cNvSpPr>
          <p:nvPr/>
        </p:nvSpPr>
        <p:spPr>
          <a:xfrm xmlns:a="http://schemas.openxmlformats.org/drawingml/2006/main">
            <a:off x="742950" y="314325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9" name="BulletText2">
            <a:extLst xmlns:a="http://schemas.openxmlformats.org/drawingml/2006/main">
              <a:ext uri="{FF2B5EF4-FFF2-40B4-BE49-F238E27FC236}">
                <a16:creationId xmlns:a16="http://schemas.microsoft.com/office/drawing/2014/main" id="{2A9BF3D5-53E9-40C9-8196-E00DEDEE2C43}"/>
              </a:ext>
            </a:extLst>
          </p:cNvPr>
          <p:cNvSpPr>
            <a:spLocks xmlns:a="http://schemas.openxmlformats.org/drawingml/2006/main" noGrp="1"/>
          </p:cNvSpPr>
          <p:nvPr/>
        </p:nvSpPr>
        <p:spPr>
          <a:xfrm xmlns:a="http://schemas.openxmlformats.org/drawingml/2006/main">
            <a:off x="952500" y="3067050"/>
            <a:ext cx="25717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Filter by exact date, month, year, quarter, or custom interval.</a:t>
            </a:r>
          </a:p>
        </p:txBody>
      </p:sp>
      <p:sp>
        <p:nvSpPr>
          <p:cNvPr id="10" name="Bullet3">
            <a:extLst xmlns:a="http://schemas.openxmlformats.org/drawingml/2006/main">
              <a:ext uri="{FF2B5EF4-FFF2-40B4-BE49-F238E27FC236}">
                <a16:creationId xmlns:a16="http://schemas.microsoft.com/office/drawing/2014/main" id="{CF4E0CB4-BE55-4FB6-BAA1-7A4738A80239}"/>
              </a:ext>
            </a:extLst>
          </p:cNvPr>
          <p:cNvSpPr>
            <a:spLocks xmlns:a="http://schemas.openxmlformats.org/drawingml/2006/main" noGrp="1"/>
          </p:cNvSpPr>
          <p:nvPr/>
        </p:nvSpPr>
        <p:spPr>
          <a:xfrm xmlns:a="http://schemas.openxmlformats.org/drawingml/2006/main">
            <a:off x="742950" y="38100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1" name="BulletText3">
            <a:extLst xmlns:a="http://schemas.openxmlformats.org/drawingml/2006/main">
              <a:ext uri="{FF2B5EF4-FFF2-40B4-BE49-F238E27FC236}">
                <a16:creationId xmlns:a16="http://schemas.microsoft.com/office/drawing/2014/main" id="{9A731323-CDD4-4A51-852B-05EBBB1C62A7}"/>
              </a:ext>
            </a:extLst>
          </p:cNvPr>
          <p:cNvSpPr>
            <a:spLocks xmlns:a="http://schemas.openxmlformats.org/drawingml/2006/main" noGrp="1"/>
          </p:cNvSpPr>
          <p:nvPr/>
        </p:nvSpPr>
        <p:spPr>
          <a:xfrm xmlns:a="http://schemas.openxmlformats.org/drawingml/2006/main">
            <a:off x="952500" y="3733800"/>
            <a:ext cx="25717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Inspect active communes, filtered rows, matched rows, and unresolved rows.</a:t>
            </a:r>
          </a:p>
        </p:txBody>
      </p:sp>
      <p:sp>
        <p:nvSpPr>
          <p:cNvPr id="12" name="Bullet4">
            <a:extLst xmlns:a="http://schemas.openxmlformats.org/drawingml/2006/main">
              <a:ext uri="{FF2B5EF4-FFF2-40B4-BE49-F238E27FC236}">
                <a16:creationId xmlns:a16="http://schemas.microsoft.com/office/drawing/2014/main" id="{C5C744BA-D050-42A6-ACBB-4F3625147979}"/>
              </a:ext>
            </a:extLst>
          </p:cNvPr>
          <p:cNvSpPr>
            <a:spLocks xmlns:a="http://schemas.openxmlformats.org/drawingml/2006/main" noGrp="1"/>
          </p:cNvSpPr>
          <p:nvPr/>
        </p:nvSpPr>
        <p:spPr>
          <a:xfrm xmlns:a="http://schemas.openxmlformats.org/drawingml/2006/main">
            <a:off x="742950" y="447675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3" name="BulletText4">
            <a:extLst xmlns:a="http://schemas.openxmlformats.org/drawingml/2006/main">
              <a:ext uri="{FF2B5EF4-FFF2-40B4-BE49-F238E27FC236}">
                <a16:creationId xmlns:a16="http://schemas.microsoft.com/office/drawing/2014/main" id="{9F746621-0D6F-4B7E-94D6-B39D49EBFBDE}"/>
              </a:ext>
            </a:extLst>
          </p:cNvPr>
          <p:cNvSpPr>
            <a:spLocks xmlns:a="http://schemas.openxmlformats.org/drawingml/2006/main" noGrp="1"/>
          </p:cNvSpPr>
          <p:nvPr/>
        </p:nvSpPr>
        <p:spPr>
          <a:xfrm xmlns:a="http://schemas.openxmlformats.org/drawingml/2006/main">
            <a:off x="952500" y="4400550"/>
            <a:ext cx="25717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Download the current aggregated table as CSV and the current map as HTML.</a:t>
            </a:r>
          </a:p>
        </p:txBody>
      </p:sp>
      <p:sp>
        <p:nvSpPr>
          <p:cNvPr id="14" name="Bullet5">
            <a:extLst xmlns:a="http://schemas.openxmlformats.org/drawingml/2006/main">
              <a:ext uri="{FF2B5EF4-FFF2-40B4-BE49-F238E27FC236}">
                <a16:creationId xmlns:a16="http://schemas.microsoft.com/office/drawing/2014/main" id="{5D772877-6339-4DB6-A261-42063A11C67A}"/>
              </a:ext>
            </a:extLst>
          </p:cNvPr>
          <p:cNvSpPr>
            <a:spLocks xmlns:a="http://schemas.openxmlformats.org/drawingml/2006/main" noGrp="1"/>
          </p:cNvSpPr>
          <p:nvPr/>
        </p:nvSpPr>
        <p:spPr>
          <a:xfrm xmlns:a="http://schemas.openxmlformats.org/drawingml/2006/main">
            <a:off x="742950" y="51435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5" name="BulletText5">
            <a:extLst xmlns:a="http://schemas.openxmlformats.org/drawingml/2006/main">
              <a:ext uri="{FF2B5EF4-FFF2-40B4-BE49-F238E27FC236}">
                <a16:creationId xmlns:a16="http://schemas.microsoft.com/office/drawing/2014/main" id="{1F85A135-9D77-491F-BA8C-A476BAF8DA9E}"/>
              </a:ext>
            </a:extLst>
          </p:cNvPr>
          <p:cNvSpPr>
            <a:spLocks xmlns:a="http://schemas.openxmlformats.org/drawingml/2006/main" noGrp="1"/>
          </p:cNvSpPr>
          <p:nvPr/>
        </p:nvSpPr>
        <p:spPr>
          <a:xfrm xmlns:a="http://schemas.openxmlformats.org/drawingml/2006/main">
            <a:off x="952500" y="5067300"/>
            <a:ext cx="257175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Use current commune polygons while keeping commune-code diagnostics visible.</a:t>
            </a:r>
          </a:p>
        </p:txBody>
      </p:sp>
      <p:sp>
        <p:nvSpPr>
          <p:cNvPr id="16" name="BrowserChrome">
            <a:extLst xmlns:a="http://schemas.openxmlformats.org/drawingml/2006/main">
              <a:ext uri="{FF2B5EF4-FFF2-40B4-BE49-F238E27FC236}">
                <a16:creationId xmlns:a16="http://schemas.microsoft.com/office/drawing/2014/main" id="{EFA57F39-9DEE-4E9C-AF45-6253C6752A51}"/>
              </a:ext>
            </a:extLst>
          </p:cNvPr>
          <p:cNvSpPr>
            <a:spLocks xmlns:a="http://schemas.openxmlformats.org/drawingml/2006/main" noGrp="1"/>
          </p:cNvSpPr>
          <p:nvPr/>
        </p:nvSpPr>
        <p:spPr>
          <a:xfrm xmlns:a="http://schemas.openxmlformats.org/drawingml/2006/main">
            <a:off x="4095750" y="1714500"/>
            <a:ext cx="7048500" cy="4476750"/>
          </a:xfrm>
          <a:prstGeom xmlns:a="http://schemas.openxmlformats.org/drawingml/2006/main" prst="rect">
            <a:avLst/>
          </a:prstGeom>
          <a:solidFill xmlns:a="http://schemas.openxmlformats.org/drawingml/2006/main">
            <a:srgbClr val="111827"/>
          </a:solidFill>
          <a:ln xmlns:a="http://schemas.openxmlformats.org/drawingml/2006/main" w="9525">
            <a:solidFill>
              <a:srgbClr val="202B3C"/>
            </a:solidFill>
            <a:prstDash val="solid"/>
          </a:ln>
        </p:spPr>
      </p:sp>
      <p:sp>
        <p:nvSpPr>
          <p:cNvPr id="17" name="BrowserTopBar">
            <a:extLst xmlns:a="http://schemas.openxmlformats.org/drawingml/2006/main">
              <a:ext uri="{FF2B5EF4-FFF2-40B4-BE49-F238E27FC236}">
                <a16:creationId xmlns:a16="http://schemas.microsoft.com/office/drawing/2014/main" id="{6A280B1D-827B-473C-86C6-D41819D43627}"/>
              </a:ext>
            </a:extLst>
          </p:cNvPr>
          <p:cNvSpPr>
            <a:spLocks xmlns:a="http://schemas.openxmlformats.org/drawingml/2006/main" noGrp="1"/>
          </p:cNvSpPr>
          <p:nvPr/>
        </p:nvSpPr>
        <p:spPr>
          <a:xfrm xmlns:a="http://schemas.openxmlformats.org/drawingml/2006/main">
            <a:off x="4095750" y="1714500"/>
            <a:ext cx="7048500" cy="419100"/>
          </a:xfrm>
          <a:prstGeom xmlns:a="http://schemas.openxmlformats.org/drawingml/2006/main" prst="rect">
            <a:avLst/>
          </a:prstGeom>
          <a:solidFill xmlns:a="http://schemas.openxmlformats.org/drawingml/2006/main">
            <a:srgbClr val="1B2435"/>
          </a:solidFill>
          <a:ln xmlns:a="http://schemas.openxmlformats.org/drawingml/2006/main" w="0">
            <a:solidFill>
              <a:srgbClr val="000000">
                <a:alpha val="0"/>
              </a:srgbClr>
            </a:solidFill>
            <a:prstDash val="solid"/>
          </a:ln>
        </p:spPr>
      </p:sp>
      <p:sp>
        <p:nvSpPr>
          <p:cNvPr id="18" name="SmallText">
            <a:extLst xmlns:a="http://schemas.openxmlformats.org/drawingml/2006/main">
              <a:ext uri="{FF2B5EF4-FFF2-40B4-BE49-F238E27FC236}">
                <a16:creationId xmlns:a16="http://schemas.microsoft.com/office/drawing/2014/main" id="{D7E28248-B46F-43CE-B0C4-5123F9A318BF}"/>
              </a:ext>
            </a:extLst>
          </p:cNvPr>
          <p:cNvSpPr>
            <a:spLocks xmlns:a="http://schemas.openxmlformats.org/drawingml/2006/main" noGrp="1"/>
          </p:cNvSpPr>
          <p:nvPr/>
        </p:nvSpPr>
        <p:spPr>
          <a:xfrm xmlns:a="http://schemas.openxmlformats.org/drawingml/2006/main">
            <a:off x="4343400" y="1847850"/>
            <a:ext cx="3048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Representative comparison view powered by the same commune-activity logic</a:t>
            </a:r>
          </a:p>
        </p:txBody>
      </p:sp>
      <p:sp>
        <p:nvSpPr>
          <p:cNvPr id="19" name="MockSidebar">
            <a:extLst xmlns:a="http://schemas.openxmlformats.org/drawingml/2006/main">
              <a:ext uri="{FF2B5EF4-FFF2-40B4-BE49-F238E27FC236}">
                <a16:creationId xmlns:a16="http://schemas.microsoft.com/office/drawing/2014/main" id="{0ED873B6-D6CE-47B3-AD72-DDAC726AE7FA}"/>
              </a:ext>
            </a:extLst>
          </p:cNvPr>
          <p:cNvSpPr>
            <a:spLocks xmlns:a="http://schemas.openxmlformats.org/drawingml/2006/main" noGrp="1"/>
          </p:cNvSpPr>
          <p:nvPr/>
        </p:nvSpPr>
        <p:spPr>
          <a:xfrm xmlns:a="http://schemas.openxmlformats.org/drawingml/2006/main">
            <a:off x="4305300" y="2286000"/>
            <a:ext cx="1809750" cy="3695700"/>
          </a:xfrm>
          <a:prstGeom xmlns:a="http://schemas.openxmlformats.org/drawingml/2006/main" prst="rect">
            <a:avLst/>
          </a:prstGeom>
          <a:solidFill xmlns:a="http://schemas.openxmlformats.org/drawingml/2006/main">
            <a:srgbClr val="191F2B"/>
          </a:solidFill>
          <a:ln xmlns:a="http://schemas.openxmlformats.org/drawingml/2006/main" w="9525">
            <a:solidFill>
              <a:srgbClr val="293242"/>
            </a:solidFill>
            <a:prstDash val="solid"/>
          </a:ln>
        </p:spPr>
      </p:sp>
      <p:sp>
        <p:nvSpPr>
          <p:cNvPr id="20" name="SmallText">
            <a:extLst xmlns:a="http://schemas.openxmlformats.org/drawingml/2006/main">
              <a:ext uri="{FF2B5EF4-FFF2-40B4-BE49-F238E27FC236}">
                <a16:creationId xmlns:a16="http://schemas.microsoft.com/office/drawing/2014/main" id="{FED36F74-F32F-42D5-98DB-11D17A772229}"/>
              </a:ext>
            </a:extLst>
          </p:cNvPr>
          <p:cNvSpPr>
            <a:spLocks xmlns:a="http://schemas.openxmlformats.org/drawingml/2006/main" noGrp="1"/>
          </p:cNvSpPr>
          <p:nvPr/>
        </p:nvSpPr>
        <p:spPr>
          <a:xfrm xmlns:a="http://schemas.openxmlformats.org/drawingml/2006/main">
            <a:off x="4476750" y="24765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Display mode: Comparison</a:t>
            </a:r>
          </a:p>
        </p:txBody>
      </p:sp>
      <p:sp>
        <p:nvSpPr>
          <p:cNvPr id="21" name="MockControl1">
            <a:extLst xmlns:a="http://schemas.openxmlformats.org/drawingml/2006/main">
              <a:ext uri="{FF2B5EF4-FFF2-40B4-BE49-F238E27FC236}">
                <a16:creationId xmlns:a16="http://schemas.microsoft.com/office/drawing/2014/main" id="{ACD68E33-C8A5-434F-862E-1A706A487B1A}"/>
              </a:ext>
            </a:extLst>
          </p:cNvPr>
          <p:cNvSpPr>
            <a:spLocks xmlns:a="http://schemas.openxmlformats.org/drawingml/2006/main" noGrp="1"/>
          </p:cNvSpPr>
          <p:nvPr/>
        </p:nvSpPr>
        <p:spPr>
          <a:xfrm xmlns:a="http://schemas.openxmlformats.org/drawingml/2006/main">
            <a:off x="4476750" y="2686050"/>
            <a:ext cx="1466850" cy="152400"/>
          </a:xfrm>
          <a:prstGeom xmlns:a="http://schemas.openxmlformats.org/drawingml/2006/main" prst="rect">
            <a:avLst/>
          </a:prstGeom>
          <a:solidFill xmlns:a="http://schemas.openxmlformats.org/drawingml/2006/main">
            <a:srgbClr val="243147"/>
          </a:solidFill>
          <a:ln xmlns:a="http://schemas.openxmlformats.org/drawingml/2006/main" w="9525">
            <a:solidFill>
              <a:srgbClr val="344154"/>
            </a:solidFill>
            <a:prstDash val="solid"/>
          </a:ln>
        </p:spPr>
      </p:sp>
      <p:sp>
        <p:nvSpPr>
          <p:cNvPr id="22" name="SmallText">
            <a:extLst xmlns:a="http://schemas.openxmlformats.org/drawingml/2006/main">
              <a:ext uri="{FF2B5EF4-FFF2-40B4-BE49-F238E27FC236}">
                <a16:creationId xmlns:a16="http://schemas.microsoft.com/office/drawing/2014/main" id="{BDBC64F6-1C7A-4B0E-8A5B-E394A841CE3B}"/>
              </a:ext>
            </a:extLst>
          </p:cNvPr>
          <p:cNvSpPr>
            <a:spLocks xmlns:a="http://schemas.openxmlformats.org/drawingml/2006/main" noGrp="1"/>
          </p:cNvSpPr>
          <p:nvPr/>
        </p:nvSpPr>
        <p:spPr>
          <a:xfrm xmlns:a="http://schemas.openxmlformats.org/drawingml/2006/main">
            <a:off x="4476750" y="29337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Period mode: Month</a:t>
            </a:r>
          </a:p>
        </p:txBody>
      </p:sp>
      <p:sp>
        <p:nvSpPr>
          <p:cNvPr id="23" name="MockControl2">
            <a:extLst xmlns:a="http://schemas.openxmlformats.org/drawingml/2006/main">
              <a:ext uri="{FF2B5EF4-FFF2-40B4-BE49-F238E27FC236}">
                <a16:creationId xmlns:a16="http://schemas.microsoft.com/office/drawing/2014/main" id="{5BB5A21C-9B50-45BD-AA8D-D985FE9712FB}"/>
              </a:ext>
            </a:extLst>
          </p:cNvPr>
          <p:cNvSpPr>
            <a:spLocks xmlns:a="http://schemas.openxmlformats.org/drawingml/2006/main" noGrp="1"/>
          </p:cNvSpPr>
          <p:nvPr/>
        </p:nvSpPr>
        <p:spPr>
          <a:xfrm xmlns:a="http://schemas.openxmlformats.org/drawingml/2006/main">
            <a:off x="4476750" y="3143250"/>
            <a:ext cx="1466850" cy="152400"/>
          </a:xfrm>
          <a:prstGeom xmlns:a="http://schemas.openxmlformats.org/drawingml/2006/main" prst="rect">
            <a:avLst/>
          </a:prstGeom>
          <a:solidFill xmlns:a="http://schemas.openxmlformats.org/drawingml/2006/main">
            <a:srgbClr val="111827"/>
          </a:solidFill>
          <a:ln xmlns:a="http://schemas.openxmlformats.org/drawingml/2006/main" w="9525">
            <a:solidFill>
              <a:srgbClr val="344154"/>
            </a:solidFill>
            <a:prstDash val="solid"/>
          </a:ln>
        </p:spPr>
      </p:sp>
      <p:sp>
        <p:nvSpPr>
          <p:cNvPr id="24" name="SmallText">
            <a:extLst xmlns:a="http://schemas.openxmlformats.org/drawingml/2006/main">
              <a:ext uri="{FF2B5EF4-FFF2-40B4-BE49-F238E27FC236}">
                <a16:creationId xmlns:a16="http://schemas.microsoft.com/office/drawing/2014/main" id="{6123DBAE-A6CB-46F6-A8E1-D687402C03AA}"/>
              </a:ext>
            </a:extLst>
          </p:cNvPr>
          <p:cNvSpPr>
            <a:spLocks xmlns:a="http://schemas.openxmlformats.org/drawingml/2006/main" noGrp="1"/>
          </p:cNvSpPr>
          <p:nvPr/>
        </p:nvSpPr>
        <p:spPr>
          <a:xfrm xmlns:a="http://schemas.openxmlformats.org/drawingml/2006/main">
            <a:off x="4476750" y="33909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Year: 2021</a:t>
            </a:r>
          </a:p>
        </p:txBody>
      </p:sp>
      <p:sp>
        <p:nvSpPr>
          <p:cNvPr id="25" name="MockControl3">
            <a:extLst xmlns:a="http://schemas.openxmlformats.org/drawingml/2006/main">
              <a:ext uri="{FF2B5EF4-FFF2-40B4-BE49-F238E27FC236}">
                <a16:creationId xmlns:a16="http://schemas.microsoft.com/office/drawing/2014/main" id="{287F931F-25C6-48E2-9248-44442EF17F62}"/>
              </a:ext>
            </a:extLst>
          </p:cNvPr>
          <p:cNvSpPr>
            <a:spLocks xmlns:a="http://schemas.openxmlformats.org/drawingml/2006/main" noGrp="1"/>
          </p:cNvSpPr>
          <p:nvPr/>
        </p:nvSpPr>
        <p:spPr>
          <a:xfrm xmlns:a="http://schemas.openxmlformats.org/drawingml/2006/main">
            <a:off x="4476750" y="3600450"/>
            <a:ext cx="1466850" cy="152400"/>
          </a:xfrm>
          <a:prstGeom xmlns:a="http://schemas.openxmlformats.org/drawingml/2006/main" prst="rect">
            <a:avLst/>
          </a:prstGeom>
          <a:solidFill xmlns:a="http://schemas.openxmlformats.org/drawingml/2006/main">
            <a:srgbClr val="111827"/>
          </a:solidFill>
          <a:ln xmlns:a="http://schemas.openxmlformats.org/drawingml/2006/main" w="9525">
            <a:solidFill>
              <a:srgbClr val="344154"/>
            </a:solidFill>
            <a:prstDash val="solid"/>
          </a:ln>
        </p:spPr>
      </p:sp>
      <p:sp>
        <p:nvSpPr>
          <p:cNvPr id="26" name="SmallText">
            <a:extLst xmlns:a="http://schemas.openxmlformats.org/drawingml/2006/main">
              <a:ext uri="{FF2B5EF4-FFF2-40B4-BE49-F238E27FC236}">
                <a16:creationId xmlns:a16="http://schemas.microsoft.com/office/drawing/2014/main" id="{B8B92EA6-108F-4BC6-8C56-62C780BF3A13}"/>
              </a:ext>
            </a:extLst>
          </p:cNvPr>
          <p:cNvSpPr>
            <a:spLocks xmlns:a="http://schemas.openxmlformats.org/drawingml/2006/main" noGrp="1"/>
          </p:cNvSpPr>
          <p:nvPr/>
        </p:nvSpPr>
        <p:spPr>
          <a:xfrm xmlns:a="http://schemas.openxmlformats.org/drawingml/2006/main">
            <a:off x="4476750" y="38481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Month: 07</a:t>
            </a:r>
          </a:p>
        </p:txBody>
      </p:sp>
      <p:sp>
        <p:nvSpPr>
          <p:cNvPr id="27" name="MockControl4">
            <a:extLst xmlns:a="http://schemas.openxmlformats.org/drawingml/2006/main">
              <a:ext uri="{FF2B5EF4-FFF2-40B4-BE49-F238E27FC236}">
                <a16:creationId xmlns:a16="http://schemas.microsoft.com/office/drawing/2014/main" id="{C0A595F7-82DE-42FF-93BD-CB023CB14E29}"/>
              </a:ext>
            </a:extLst>
          </p:cNvPr>
          <p:cNvSpPr>
            <a:spLocks xmlns:a="http://schemas.openxmlformats.org/drawingml/2006/main" noGrp="1"/>
          </p:cNvSpPr>
          <p:nvPr/>
        </p:nvSpPr>
        <p:spPr>
          <a:xfrm xmlns:a="http://schemas.openxmlformats.org/drawingml/2006/main">
            <a:off x="4476750" y="4057650"/>
            <a:ext cx="1466850" cy="152400"/>
          </a:xfrm>
          <a:prstGeom xmlns:a="http://schemas.openxmlformats.org/drawingml/2006/main" prst="rect">
            <a:avLst/>
          </a:prstGeom>
          <a:solidFill xmlns:a="http://schemas.openxmlformats.org/drawingml/2006/main">
            <a:srgbClr val="111827"/>
          </a:solidFill>
          <a:ln xmlns:a="http://schemas.openxmlformats.org/drawingml/2006/main" w="9525">
            <a:solidFill>
              <a:srgbClr val="344154"/>
            </a:solidFill>
            <a:prstDash val="solid"/>
          </a:ln>
        </p:spPr>
      </p:sp>
      <p:sp>
        <p:nvSpPr>
          <p:cNvPr id="28" name="SmallText">
            <a:extLst xmlns:a="http://schemas.openxmlformats.org/drawingml/2006/main">
              <a:ext uri="{FF2B5EF4-FFF2-40B4-BE49-F238E27FC236}">
                <a16:creationId xmlns:a16="http://schemas.microsoft.com/office/drawing/2014/main" id="{8A725ACB-A6E6-410E-975A-F4DC749AF033}"/>
              </a:ext>
            </a:extLst>
          </p:cNvPr>
          <p:cNvSpPr>
            <a:spLocks xmlns:a="http://schemas.openxmlformats.org/drawingml/2006/main" noGrp="1"/>
          </p:cNvSpPr>
          <p:nvPr/>
        </p:nvSpPr>
        <p:spPr>
          <a:xfrm xmlns:a="http://schemas.openxmlformats.org/drawingml/2006/main">
            <a:off x="4476750" y="43053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Basemap: CartoDB Positron</a:t>
            </a:r>
          </a:p>
        </p:txBody>
      </p:sp>
      <p:sp>
        <p:nvSpPr>
          <p:cNvPr id="29" name="MockControl5">
            <a:extLst xmlns:a="http://schemas.openxmlformats.org/drawingml/2006/main">
              <a:ext uri="{FF2B5EF4-FFF2-40B4-BE49-F238E27FC236}">
                <a16:creationId xmlns:a16="http://schemas.microsoft.com/office/drawing/2014/main" id="{9B71E7A3-9E31-4F25-88BD-DE3FE218DD41}"/>
              </a:ext>
            </a:extLst>
          </p:cNvPr>
          <p:cNvSpPr>
            <a:spLocks xmlns:a="http://schemas.openxmlformats.org/drawingml/2006/main" noGrp="1"/>
          </p:cNvSpPr>
          <p:nvPr/>
        </p:nvSpPr>
        <p:spPr>
          <a:xfrm xmlns:a="http://schemas.openxmlformats.org/drawingml/2006/main">
            <a:off x="4476750" y="4514850"/>
            <a:ext cx="1466850" cy="152400"/>
          </a:xfrm>
          <a:prstGeom xmlns:a="http://schemas.openxmlformats.org/drawingml/2006/main" prst="rect">
            <a:avLst/>
          </a:prstGeom>
          <a:solidFill xmlns:a="http://schemas.openxmlformats.org/drawingml/2006/main">
            <a:srgbClr val="111827"/>
          </a:solidFill>
          <a:ln xmlns:a="http://schemas.openxmlformats.org/drawingml/2006/main" w="9525">
            <a:solidFill>
              <a:srgbClr val="344154"/>
            </a:solidFill>
            <a:prstDash val="solid"/>
          </a:ln>
        </p:spPr>
      </p:sp>
      <p:sp>
        <p:nvSpPr>
          <p:cNvPr id="30" name="SmallText">
            <a:extLst xmlns:a="http://schemas.openxmlformats.org/drawingml/2006/main">
              <a:ext uri="{FF2B5EF4-FFF2-40B4-BE49-F238E27FC236}">
                <a16:creationId xmlns:a16="http://schemas.microsoft.com/office/drawing/2014/main" id="{426FB0CB-AF9D-4F73-9319-B90D6E50411F}"/>
              </a:ext>
            </a:extLst>
          </p:cNvPr>
          <p:cNvSpPr>
            <a:spLocks xmlns:a="http://schemas.openxmlformats.org/drawingml/2006/main" noGrp="1"/>
          </p:cNvSpPr>
          <p:nvPr/>
        </p:nvSpPr>
        <p:spPr>
          <a:xfrm xmlns:a="http://schemas.openxmlformats.org/drawingml/2006/main">
            <a:off x="4476750" y="47625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Departments: on</a:t>
            </a:r>
          </a:p>
        </p:txBody>
      </p:sp>
      <p:sp>
        <p:nvSpPr>
          <p:cNvPr id="31" name="MockControl6">
            <a:extLst xmlns:a="http://schemas.openxmlformats.org/drawingml/2006/main">
              <a:ext uri="{FF2B5EF4-FFF2-40B4-BE49-F238E27FC236}">
                <a16:creationId xmlns:a16="http://schemas.microsoft.com/office/drawing/2014/main" id="{B98BA8BF-2F61-4F84-B93D-0E714373F384}"/>
              </a:ext>
            </a:extLst>
          </p:cNvPr>
          <p:cNvSpPr>
            <a:spLocks xmlns:a="http://schemas.openxmlformats.org/drawingml/2006/main" noGrp="1"/>
          </p:cNvSpPr>
          <p:nvPr/>
        </p:nvSpPr>
        <p:spPr>
          <a:xfrm xmlns:a="http://schemas.openxmlformats.org/drawingml/2006/main">
            <a:off x="4476750" y="4972050"/>
            <a:ext cx="1466850" cy="152400"/>
          </a:xfrm>
          <a:prstGeom xmlns:a="http://schemas.openxmlformats.org/drawingml/2006/main" prst="rect">
            <a:avLst/>
          </a:prstGeom>
          <a:solidFill xmlns:a="http://schemas.openxmlformats.org/drawingml/2006/main">
            <a:srgbClr val="111827"/>
          </a:solidFill>
          <a:ln xmlns:a="http://schemas.openxmlformats.org/drawingml/2006/main" w="9525">
            <a:solidFill>
              <a:srgbClr val="344154"/>
            </a:solidFill>
            <a:prstDash val="solid"/>
          </a:ln>
        </p:spPr>
      </p:sp>
      <p:sp>
        <p:nvSpPr>
          <p:cNvPr id="32" name="SmallText">
            <a:extLst xmlns:a="http://schemas.openxmlformats.org/drawingml/2006/main">
              <a:ext uri="{FF2B5EF4-FFF2-40B4-BE49-F238E27FC236}">
                <a16:creationId xmlns:a16="http://schemas.microsoft.com/office/drawing/2014/main" id="{956B08C0-B83E-4E15-83B7-F1A848978F22}"/>
              </a:ext>
            </a:extLst>
          </p:cNvPr>
          <p:cNvSpPr>
            <a:spLocks xmlns:a="http://schemas.openxmlformats.org/drawingml/2006/main" noGrp="1"/>
          </p:cNvSpPr>
          <p:nvPr/>
        </p:nvSpPr>
        <p:spPr>
          <a:xfrm xmlns:a="http://schemas.openxmlformats.org/drawingml/2006/main">
            <a:off x="4476750" y="521970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Diagnostics tab</a:t>
            </a:r>
          </a:p>
        </p:txBody>
      </p:sp>
      <p:sp>
        <p:nvSpPr>
          <p:cNvPr id="33" name="MockControl7">
            <a:extLst xmlns:a="http://schemas.openxmlformats.org/drawingml/2006/main">
              <a:ext uri="{FF2B5EF4-FFF2-40B4-BE49-F238E27FC236}">
                <a16:creationId xmlns:a16="http://schemas.microsoft.com/office/drawing/2014/main" id="{CA245D5D-9100-49BD-8853-53DC305C2CEC}"/>
              </a:ext>
            </a:extLst>
          </p:cNvPr>
          <p:cNvSpPr>
            <a:spLocks xmlns:a="http://schemas.openxmlformats.org/drawingml/2006/main" noGrp="1"/>
          </p:cNvSpPr>
          <p:nvPr/>
        </p:nvSpPr>
        <p:spPr>
          <a:xfrm xmlns:a="http://schemas.openxmlformats.org/drawingml/2006/main">
            <a:off x="4476750" y="5429250"/>
            <a:ext cx="1466850" cy="152400"/>
          </a:xfrm>
          <a:prstGeom xmlns:a="http://schemas.openxmlformats.org/drawingml/2006/main" prst="rect">
            <a:avLst/>
          </a:prstGeom>
          <a:solidFill xmlns:a="http://schemas.openxmlformats.org/drawingml/2006/main">
            <a:srgbClr val="111827"/>
          </a:solidFill>
          <a:ln xmlns:a="http://schemas.openxmlformats.org/drawingml/2006/main" w="9525">
            <a:solidFill>
              <a:srgbClr val="344154"/>
            </a:solidFill>
            <a:prstDash val="solid"/>
          </a:ln>
        </p:spPr>
      </p:sp>
      <p:sp>
        <p:nvSpPr>
          <p:cNvPr id="34" name="ImageFrame">
            <a:extLst xmlns:a="http://schemas.openxmlformats.org/drawingml/2006/main">
              <a:ext uri="{FF2B5EF4-FFF2-40B4-BE49-F238E27FC236}">
                <a16:creationId xmlns:a16="http://schemas.microsoft.com/office/drawing/2014/main" id="{5B494D1B-677C-452C-9276-E1692F694B48}"/>
              </a:ext>
            </a:extLst>
          </p:cNvPr>
          <p:cNvSpPr>
            <a:spLocks xmlns:a="http://schemas.openxmlformats.org/drawingml/2006/main" noGrp="1"/>
          </p:cNvSpPr>
          <p:nvPr/>
        </p:nvSpPr>
        <p:spPr>
          <a:xfrm xmlns:a="http://schemas.openxmlformats.org/drawingml/2006/main">
            <a:off x="6343650" y="2286000"/>
            <a:ext cx="4572000" cy="3352800"/>
          </a:xfrm>
          <a:prstGeom xmlns:a="http://schemas.openxmlformats.org/drawingml/2006/main" prst="rect">
            <a:avLst/>
          </a:prstGeom>
          <a:solidFill xmlns:a="http://schemas.openxmlformats.org/drawingml/2006/main">
            <a:srgbClr val="FBFBFB"/>
          </a:solidFill>
          <a:ln xmlns:a="http://schemas.openxmlformats.org/drawingml/2006/main" w="9525">
            <a:solidFill>
              <a:srgbClr val="D7CEC0"/>
            </a:solidFill>
            <a:prstDash val="solid"/>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38db7aa70d140d8"/>
          <a:stretch xmlns:a="http://schemas.openxmlformats.org/drawingml/2006/main"/>
        </p:blipFill>
        <p:spPr>
          <a:xfrm xmlns:a="http://schemas.openxmlformats.org/drawingml/2006/main">
            <a:off x="6419850" y="3211397"/>
            <a:ext cx="4419600" cy="1502006"/>
          </a:xfrm>
          <a:prstGeom xmlns:a="http://schemas.openxmlformats.org/drawingml/2006/main" prst="rect">
            <a:avLst/>
          </a:prstGeom>
        </p:spPr>
      </p:pic>
      <p:sp>
        <p:nvSpPr>
          <p:cNvPr id="36" name="BrowserBottomBar">
            <a:extLst xmlns:a="http://schemas.openxmlformats.org/drawingml/2006/main">
              <a:ext uri="{FF2B5EF4-FFF2-40B4-BE49-F238E27FC236}">
                <a16:creationId xmlns:a16="http://schemas.microsoft.com/office/drawing/2014/main" id="{6BB568CF-8579-4727-BEBE-A75DC23E6A8D}"/>
              </a:ext>
            </a:extLst>
          </p:cNvPr>
          <p:cNvSpPr>
            <a:spLocks xmlns:a="http://schemas.openxmlformats.org/drawingml/2006/main" noGrp="1"/>
          </p:cNvSpPr>
          <p:nvPr/>
        </p:nvSpPr>
        <p:spPr>
          <a:xfrm xmlns:a="http://schemas.openxmlformats.org/drawingml/2006/main">
            <a:off x="6343650" y="5753100"/>
            <a:ext cx="4572000" cy="228600"/>
          </a:xfrm>
          <a:prstGeom xmlns:a="http://schemas.openxmlformats.org/drawingml/2006/main" prst="rect">
            <a:avLst/>
          </a:prstGeom>
          <a:solidFill xmlns:a="http://schemas.openxmlformats.org/drawingml/2006/main">
            <a:srgbClr val="161F2D"/>
          </a:solidFill>
          <a:ln xmlns:a="http://schemas.openxmlformats.org/drawingml/2006/main" w="0">
            <a:solidFill>
              <a:srgbClr val="000000">
                <a:alpha val="0"/>
              </a:srgbClr>
            </a:solidFill>
            <a:prstDash val="solid"/>
          </a:ln>
        </p:spPr>
      </p:sp>
      <p:sp>
        <p:nvSpPr>
          <p:cNvPr id="37" name="SmallText">
            <a:extLst xmlns:a="http://schemas.openxmlformats.org/drawingml/2006/main">
              <a:ext uri="{FF2B5EF4-FFF2-40B4-BE49-F238E27FC236}">
                <a16:creationId xmlns:a16="http://schemas.microsoft.com/office/drawing/2014/main" id="{4EA34B81-654B-4F82-A5B4-7652419AB8F0}"/>
              </a:ext>
            </a:extLst>
          </p:cNvPr>
          <p:cNvSpPr>
            <a:spLocks xmlns:a="http://schemas.openxmlformats.org/drawingml/2006/main" noGrp="1"/>
          </p:cNvSpPr>
          <p:nvPr/>
        </p:nvSpPr>
        <p:spPr>
          <a:xfrm xmlns:a="http://schemas.openxmlformats.org/drawingml/2006/main">
            <a:off x="6496050" y="5791200"/>
            <a:ext cx="41910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Comparison classes, filters, aggregated table, filtered rows, and unresolved-row diagnostics are all exposed in the app.</a:t>
            </a:r>
          </a:p>
        </p:txBody>
      </p:sp>
      <p:sp>
        <p:nvSpPr>
          <p:cNvPr id="38" name="Rule">
            <a:extLst xmlns:a="http://schemas.openxmlformats.org/drawingml/2006/main">
              <a:ext uri="{FF2B5EF4-FFF2-40B4-BE49-F238E27FC236}">
                <a16:creationId xmlns:a16="http://schemas.microsoft.com/office/drawing/2014/main" id="{867B17F3-A542-4FD0-AA14-C887C7EDCA06}"/>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D7CEC0"/>
          </a:solidFill>
          <a:ln xmlns:a="http://schemas.openxmlformats.org/drawingml/2006/main" w="0">
            <a:solidFill>
              <a:srgbClr val="000000">
                <a:alpha val="0"/>
              </a:srgbClr>
            </a:solidFill>
            <a:prstDash val="solid"/>
          </a:ln>
        </p:spPr>
      </p:sp>
      <p:sp>
        <p:nvSpPr>
          <p:cNvPr id="39" name="SmallText">
            <a:extLst xmlns:a="http://schemas.openxmlformats.org/drawingml/2006/main">
              <a:ext uri="{FF2B5EF4-FFF2-40B4-BE49-F238E27FC236}">
                <a16:creationId xmlns:a16="http://schemas.microsoft.com/office/drawing/2014/main" id="{2AAD6334-4A7D-4CED-9CA8-4CED75F337F4}"/>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Raw and processed Gaspar inputs are both supported. | Comparison mode separates both-active, Gaspar-only, and JRC-only communes. | Core sources: src/france_commune_activity.py and src/gaspar_jrc_france_map_app.py.</a:t>
            </a:r>
          </a:p>
        </p:txBody>
      </p:sp>
    </p:spTree>
    <p:extLst>
      <p:ext uri="{BB962C8B-B14F-4D97-AF65-F5344CB8AC3E}">
        <p14:creationId xmlns:p14="http://schemas.microsoft.com/office/powerpoint/2010/main" val="6315261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D76E3BBA-6EF5-4991-B91E-A89A06C14E3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1E8"/>
          </a:soli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0739DF20-E291-47D7-B776-BBE5772DEA94}"/>
              </a:ext>
            </a:extLst>
          </p:cNvPr>
          <p:cNvSpPr>
            <a:spLocks xmlns:a="http://schemas.openxmlformats.org/drawingml/2006/main" noGrp="1"/>
          </p:cNvSpPr>
          <p:nvPr/>
        </p:nvSpPr>
        <p:spPr>
          <a:xfrm xmlns:a="http://schemas.openxmlformats.org/drawingml/2006/main">
            <a:off x="514350" y="400050"/>
            <a:ext cx="2667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E45A3C"/>
                </a:solidFill>
                <a:latin typeface="Aptos"/>
                <a:ea typeface="Aptos"/>
                <a:cs typeface="Aptos"/>
              </a:defRPr>
            </a:pPr>
            <a:r>
              <a:rPr sz="1350" b="1">
                <a:solidFill>
                  <a:srgbClr val="E45A3C"/>
                </a:solidFill>
                <a:latin typeface="Aptos"/>
                <a:ea typeface="Aptos"/>
                <a:cs typeface="Aptos"/>
              </a:rPr>
              <a:t>NATIONAL AUDIT</a:t>
            </a:r>
          </a:p>
        </p:txBody>
      </p:sp>
      <p:sp>
        <p:nvSpPr>
          <p:cNvPr id="3" name="Title">
            <a:extLst xmlns:a="http://schemas.openxmlformats.org/drawingml/2006/main">
              <a:ext uri="{FF2B5EF4-FFF2-40B4-BE49-F238E27FC236}">
                <a16:creationId xmlns:a16="http://schemas.microsoft.com/office/drawing/2014/main" id="{B19B580C-28BF-4B62-A049-0453947D501B}"/>
              </a:ext>
            </a:extLst>
          </p:cNvPr>
          <p:cNvSpPr>
            <a:spLocks xmlns:a="http://schemas.openxmlformats.org/drawingml/2006/main" noGrp="1"/>
          </p:cNvSpPr>
          <p:nvPr/>
        </p:nvSpPr>
        <p:spPr>
          <a:xfrm xmlns:a="http://schemas.openxmlformats.org/drawingml/2006/main">
            <a:off x="514350" y="742950"/>
            <a:ext cx="1066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550" b="1">
                <a:solidFill>
                  <a:srgbClr val="0F172A"/>
                </a:solidFill>
                <a:latin typeface="Aptos Display"/>
                <a:ea typeface="Aptos Display"/>
                <a:cs typeface="Aptos Display"/>
              </a:defRPr>
            </a:pPr>
            <a:r>
              <a:rPr sz="2550" b="1">
                <a:solidFill>
                  <a:srgbClr val="0F172A"/>
                </a:solidFill>
                <a:latin typeface="Aptos Display"/>
                <a:ea typeface="Aptos Display"/>
                <a:cs typeface="Aptos Display"/>
              </a:rPr>
              <a:t>National commune-level event match remains low even with a wider time window</a:t>
            </a:r>
          </a:p>
        </p:txBody>
      </p:sp>
      <p:sp>
        <p:nvSpPr>
          <p:cNvPr id="4" name="SmallText">
            <a:extLst xmlns:a="http://schemas.openxmlformats.org/drawingml/2006/main">
              <a:ext uri="{FF2B5EF4-FFF2-40B4-BE49-F238E27FC236}">
                <a16:creationId xmlns:a16="http://schemas.microsoft.com/office/drawing/2014/main" id="{1416E045-BD6E-4F49-8A71-FFFDB1DCFA1C}"/>
              </a:ext>
            </a:extLst>
          </p:cNvPr>
          <p:cNvSpPr>
            <a:spLocks xmlns:a="http://schemas.openxmlformats.org/drawingml/2006/main" noGrp="1"/>
          </p:cNvSpPr>
          <p:nvPr/>
        </p:nvSpPr>
        <p:spPr>
          <a:xfrm xmlns:a="http://schemas.openxmlformats.org/drawingml/2006/main">
            <a:off x="514350" y="1390650"/>
            <a:ext cx="10001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Department-level rates are materially higher than commune-level rates, which points to commune fragmentation and timing differences rather than a total absence of overlap.</a:t>
            </a:r>
          </a:p>
        </p:txBody>
      </p:sp>
      <p:sp>
        <p:nvSpPr>
          <p:cNvPr id="5" name="7-day window">
            <a:extLst xmlns:a="http://schemas.openxmlformats.org/drawingml/2006/main">
              <a:ext uri="{FF2B5EF4-FFF2-40B4-BE49-F238E27FC236}">
                <a16:creationId xmlns:a16="http://schemas.microsoft.com/office/drawing/2014/main" id="{B9D2BBB0-71A8-407D-BD96-E98788EE2205}"/>
              </a:ext>
            </a:extLst>
          </p:cNvPr>
          <p:cNvSpPr>
            <a:spLocks xmlns:a="http://schemas.openxmlformats.org/drawingml/2006/main" noGrp="1"/>
          </p:cNvSpPr>
          <p:nvPr/>
        </p:nvSpPr>
        <p:spPr>
          <a:xfrm xmlns:a="http://schemas.openxmlformats.org/drawingml/2006/main">
            <a:off x="514350" y="1981200"/>
            <a:ext cx="4876800" cy="37719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6" name="7-day windowAccent">
            <a:extLst xmlns:a="http://schemas.openxmlformats.org/drawingml/2006/main">
              <a:ext uri="{FF2B5EF4-FFF2-40B4-BE49-F238E27FC236}">
                <a16:creationId xmlns:a16="http://schemas.microsoft.com/office/drawing/2014/main" id="{E3A9F4AE-400A-4A15-82CC-BA054601777D}"/>
              </a:ext>
            </a:extLst>
          </p:cNvPr>
          <p:cNvSpPr>
            <a:spLocks xmlns:a="http://schemas.openxmlformats.org/drawingml/2006/main" noGrp="1"/>
          </p:cNvSpPr>
          <p:nvPr/>
        </p:nvSpPr>
        <p:spPr>
          <a:xfrm xmlns:a="http://schemas.openxmlformats.org/drawingml/2006/main">
            <a:off x="514350" y="1981200"/>
            <a:ext cx="4876800" cy="7620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7" name="BodyText">
            <a:extLst xmlns:a="http://schemas.openxmlformats.org/drawingml/2006/main">
              <a:ext uri="{FF2B5EF4-FFF2-40B4-BE49-F238E27FC236}">
                <a16:creationId xmlns:a16="http://schemas.microsoft.com/office/drawing/2014/main" id="{609BA0F9-918C-45A3-BB0C-E84A1B79B04B}"/>
              </a:ext>
            </a:extLst>
          </p:cNvPr>
          <p:cNvSpPr>
            <a:spLocks xmlns:a="http://schemas.openxmlformats.org/drawingml/2006/main" noGrp="1"/>
          </p:cNvSpPr>
          <p:nvPr/>
        </p:nvSpPr>
        <p:spPr>
          <a:xfrm xmlns:a="http://schemas.openxmlformats.org/drawingml/2006/main">
            <a:off x="723900" y="2171700"/>
            <a:ext cx="2667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0F172A"/>
                </a:solidFill>
                <a:latin typeface="Aptos Display"/>
                <a:ea typeface="Aptos Display"/>
                <a:cs typeface="Aptos Display"/>
              </a:defRPr>
            </a:pPr>
            <a:r>
              <a:rPr sz="1800" b="1">
                <a:solidFill>
                  <a:srgbClr val="0F172A"/>
                </a:solidFill>
                <a:latin typeface="Aptos Display"/>
                <a:ea typeface="Aptos Display"/>
                <a:cs typeface="Aptos Display"/>
              </a:rPr>
              <a:t>7-day window</a:t>
            </a:r>
          </a:p>
        </p:txBody>
      </p:sp>
      <p:sp>
        <p:nvSpPr>
          <p:cNvPr id="8" name="SmallText">
            <a:extLst xmlns:a="http://schemas.openxmlformats.org/drawingml/2006/main">
              <a:ext uri="{FF2B5EF4-FFF2-40B4-BE49-F238E27FC236}">
                <a16:creationId xmlns:a16="http://schemas.microsoft.com/office/drawing/2014/main" id="{10C598C6-1518-4EEF-9B43-5DB3F43740B0}"/>
              </a:ext>
            </a:extLst>
          </p:cNvPr>
          <p:cNvSpPr>
            <a:spLocks xmlns:a="http://schemas.openxmlformats.org/drawingml/2006/main" noGrp="1"/>
          </p:cNvSpPr>
          <p:nvPr/>
        </p:nvSpPr>
        <p:spPr>
          <a:xfrm xmlns:a="http://schemas.openxmlformats.org/drawingml/2006/main">
            <a:off x="723900" y="2514600"/>
            <a:ext cx="342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Commune-level event matching</a:t>
            </a:r>
          </a:p>
        </p:txBody>
      </p:sp>
      <p:sp>
        <p:nvSpPr>
          <p:cNvPr id="9" name="SmallText">
            <a:extLst xmlns:a="http://schemas.openxmlformats.org/drawingml/2006/main">
              <a:ext uri="{FF2B5EF4-FFF2-40B4-BE49-F238E27FC236}">
                <a16:creationId xmlns:a16="http://schemas.microsoft.com/office/drawing/2014/main" id="{68C93AEF-9C2E-46C8-9D00-BEFF5444E56F}"/>
              </a:ext>
            </a:extLst>
          </p:cNvPr>
          <p:cNvSpPr>
            <a:spLocks xmlns:a="http://schemas.openxmlformats.org/drawingml/2006/main" noGrp="1"/>
          </p:cNvSpPr>
          <p:nvPr/>
        </p:nvSpPr>
        <p:spPr>
          <a:xfrm xmlns:a="http://schemas.openxmlformats.org/drawingml/2006/main">
            <a:off x="723900" y="2819400"/>
            <a:ext cx="2190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JRC matched (22.9%)</a:t>
            </a:r>
          </a:p>
        </p:txBody>
      </p:sp>
      <p:sp>
        <p:nvSpPr>
          <p:cNvPr id="10" name="SmallText">
            <a:extLst xmlns:a="http://schemas.openxmlformats.org/drawingml/2006/main">
              <a:ext uri="{FF2B5EF4-FFF2-40B4-BE49-F238E27FC236}">
                <a16:creationId xmlns:a16="http://schemas.microsoft.com/office/drawing/2014/main" id="{DB1BDDBC-6BEA-49E6-849A-BFEA9AEE2876}"/>
              </a:ext>
            </a:extLst>
          </p:cNvPr>
          <p:cNvSpPr>
            <a:spLocks xmlns:a="http://schemas.openxmlformats.org/drawingml/2006/main" noGrp="1"/>
          </p:cNvSpPr>
          <p:nvPr/>
        </p:nvSpPr>
        <p:spPr>
          <a:xfrm xmlns:a="http://schemas.openxmlformats.org/drawingml/2006/main">
            <a:off x="4229100" y="28194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66/288</a:t>
            </a:r>
          </a:p>
        </p:txBody>
      </p:sp>
      <p:sp>
        <p:nvSpPr>
          <p:cNvPr id="11" name="ProgressTrack">
            <a:extLst xmlns:a="http://schemas.openxmlformats.org/drawingml/2006/main">
              <a:ext uri="{FF2B5EF4-FFF2-40B4-BE49-F238E27FC236}">
                <a16:creationId xmlns:a16="http://schemas.microsoft.com/office/drawing/2014/main" id="{F9E02944-9859-420E-9F5D-AF6BD544CF29}"/>
              </a:ext>
            </a:extLst>
          </p:cNvPr>
          <p:cNvSpPr>
            <a:spLocks xmlns:a="http://schemas.openxmlformats.org/drawingml/2006/main" noGrp="1"/>
          </p:cNvSpPr>
          <p:nvPr/>
        </p:nvSpPr>
        <p:spPr>
          <a:xfrm xmlns:a="http://schemas.openxmlformats.org/drawingml/2006/main">
            <a:off x="723900" y="3086100"/>
            <a:ext cx="4457700" cy="13335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12" name="ProgressFill">
            <a:extLst xmlns:a="http://schemas.openxmlformats.org/drawingml/2006/main">
              <a:ext uri="{FF2B5EF4-FFF2-40B4-BE49-F238E27FC236}">
                <a16:creationId xmlns:a16="http://schemas.microsoft.com/office/drawing/2014/main" id="{32C315A2-555A-4CEE-82EE-0A525B5EC750}"/>
              </a:ext>
            </a:extLst>
          </p:cNvPr>
          <p:cNvSpPr>
            <a:spLocks xmlns:a="http://schemas.openxmlformats.org/drawingml/2006/main" noGrp="1"/>
          </p:cNvSpPr>
          <p:nvPr/>
        </p:nvSpPr>
        <p:spPr>
          <a:xfrm xmlns:a="http://schemas.openxmlformats.org/drawingml/2006/main">
            <a:off x="723900" y="3086100"/>
            <a:ext cx="1019175" cy="1333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3" name="SmallText">
            <a:extLst xmlns:a="http://schemas.openxmlformats.org/drawingml/2006/main">
              <a:ext uri="{FF2B5EF4-FFF2-40B4-BE49-F238E27FC236}">
                <a16:creationId xmlns:a16="http://schemas.microsoft.com/office/drawing/2014/main" id="{DDE1C36F-B7A7-45D0-B156-52787F206689}"/>
              </a:ext>
            </a:extLst>
          </p:cNvPr>
          <p:cNvSpPr>
            <a:spLocks xmlns:a="http://schemas.openxmlformats.org/drawingml/2006/main" noGrp="1"/>
          </p:cNvSpPr>
          <p:nvPr/>
        </p:nvSpPr>
        <p:spPr>
          <a:xfrm xmlns:a="http://schemas.openxmlformats.org/drawingml/2006/main">
            <a:off x="723900" y="3276600"/>
            <a:ext cx="4457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222 JRC events remain exclusive under this window.</a:t>
            </a:r>
          </a:p>
        </p:txBody>
      </p:sp>
      <p:sp>
        <p:nvSpPr>
          <p:cNvPr id="14" name="SmallText">
            <a:extLst xmlns:a="http://schemas.openxmlformats.org/drawingml/2006/main">
              <a:ext uri="{FF2B5EF4-FFF2-40B4-BE49-F238E27FC236}">
                <a16:creationId xmlns:a16="http://schemas.microsoft.com/office/drawing/2014/main" id="{ED8A8F84-6857-44B1-9A39-381C872B7C87}"/>
              </a:ext>
            </a:extLst>
          </p:cNvPr>
          <p:cNvSpPr>
            <a:spLocks xmlns:a="http://schemas.openxmlformats.org/drawingml/2006/main" noGrp="1"/>
          </p:cNvSpPr>
          <p:nvPr/>
        </p:nvSpPr>
        <p:spPr>
          <a:xfrm xmlns:a="http://schemas.openxmlformats.org/drawingml/2006/main">
            <a:off x="723900" y="3733800"/>
            <a:ext cx="2190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Gaspar matched (14.2%)</a:t>
            </a:r>
          </a:p>
        </p:txBody>
      </p:sp>
      <p:sp>
        <p:nvSpPr>
          <p:cNvPr id="15" name="SmallText">
            <a:extLst xmlns:a="http://schemas.openxmlformats.org/drawingml/2006/main">
              <a:ext uri="{FF2B5EF4-FFF2-40B4-BE49-F238E27FC236}">
                <a16:creationId xmlns:a16="http://schemas.microsoft.com/office/drawing/2014/main" id="{542F10BB-9543-447A-B8B1-85DEEA90EFFC}"/>
              </a:ext>
            </a:extLst>
          </p:cNvPr>
          <p:cNvSpPr>
            <a:spLocks xmlns:a="http://schemas.openxmlformats.org/drawingml/2006/main" noGrp="1"/>
          </p:cNvSpPr>
          <p:nvPr/>
        </p:nvSpPr>
        <p:spPr>
          <a:xfrm xmlns:a="http://schemas.openxmlformats.org/drawingml/2006/main">
            <a:off x="4229100" y="37338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499/3505</a:t>
            </a:r>
          </a:p>
        </p:txBody>
      </p:sp>
      <p:sp>
        <p:nvSpPr>
          <p:cNvPr id="16" name="ProgressTrack">
            <a:extLst xmlns:a="http://schemas.openxmlformats.org/drawingml/2006/main">
              <a:ext uri="{FF2B5EF4-FFF2-40B4-BE49-F238E27FC236}">
                <a16:creationId xmlns:a16="http://schemas.microsoft.com/office/drawing/2014/main" id="{47288403-FFE6-4A23-83A8-8A19416B4C43}"/>
              </a:ext>
            </a:extLst>
          </p:cNvPr>
          <p:cNvSpPr>
            <a:spLocks xmlns:a="http://schemas.openxmlformats.org/drawingml/2006/main" noGrp="1"/>
          </p:cNvSpPr>
          <p:nvPr/>
        </p:nvSpPr>
        <p:spPr>
          <a:xfrm xmlns:a="http://schemas.openxmlformats.org/drawingml/2006/main">
            <a:off x="723900" y="4000500"/>
            <a:ext cx="4457700" cy="13335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17" name="ProgressFill">
            <a:extLst xmlns:a="http://schemas.openxmlformats.org/drawingml/2006/main">
              <a:ext uri="{FF2B5EF4-FFF2-40B4-BE49-F238E27FC236}">
                <a16:creationId xmlns:a16="http://schemas.microsoft.com/office/drawing/2014/main" id="{04A7BA0A-F496-4F3A-AD9A-3E741EBE56C9}"/>
              </a:ext>
            </a:extLst>
          </p:cNvPr>
          <p:cNvSpPr>
            <a:spLocks xmlns:a="http://schemas.openxmlformats.org/drawingml/2006/main" noGrp="1"/>
          </p:cNvSpPr>
          <p:nvPr/>
        </p:nvSpPr>
        <p:spPr>
          <a:xfrm xmlns:a="http://schemas.openxmlformats.org/drawingml/2006/main">
            <a:off x="723900" y="4000500"/>
            <a:ext cx="638175" cy="1333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8" name="SmallText">
            <a:extLst xmlns:a="http://schemas.openxmlformats.org/drawingml/2006/main">
              <a:ext uri="{FF2B5EF4-FFF2-40B4-BE49-F238E27FC236}">
                <a16:creationId xmlns:a16="http://schemas.microsoft.com/office/drawing/2014/main" id="{661EF0B6-E73F-4C36-B015-47C7414FC55C}"/>
              </a:ext>
            </a:extLst>
          </p:cNvPr>
          <p:cNvSpPr>
            <a:spLocks xmlns:a="http://schemas.openxmlformats.org/drawingml/2006/main" noGrp="1"/>
          </p:cNvSpPr>
          <p:nvPr/>
        </p:nvSpPr>
        <p:spPr>
          <a:xfrm xmlns:a="http://schemas.openxmlformats.org/drawingml/2006/main">
            <a:off x="723900" y="4191000"/>
            <a:ext cx="4457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3,006 Gaspar event groups remain exclusive under this window.</a:t>
            </a:r>
          </a:p>
        </p:txBody>
      </p:sp>
      <p:sp>
        <p:nvSpPr>
          <p:cNvPr id="19" name="30-day window">
            <a:extLst xmlns:a="http://schemas.openxmlformats.org/drawingml/2006/main">
              <a:ext uri="{FF2B5EF4-FFF2-40B4-BE49-F238E27FC236}">
                <a16:creationId xmlns:a16="http://schemas.microsoft.com/office/drawing/2014/main" id="{D64E269A-BDE9-4DB4-9D8A-3555CEA936C1}"/>
              </a:ext>
            </a:extLst>
          </p:cNvPr>
          <p:cNvSpPr>
            <a:spLocks xmlns:a="http://schemas.openxmlformats.org/drawingml/2006/main" noGrp="1"/>
          </p:cNvSpPr>
          <p:nvPr/>
        </p:nvSpPr>
        <p:spPr>
          <a:xfrm xmlns:a="http://schemas.openxmlformats.org/drawingml/2006/main">
            <a:off x="5772150" y="1981200"/>
            <a:ext cx="4876800" cy="3771900"/>
          </a:xfrm>
          <a:prstGeom xmlns:a="http://schemas.openxmlformats.org/drawingml/2006/main" prst="rect">
            <a:avLst/>
          </a:prstGeom>
          <a:solidFill xmlns:a="http://schemas.openxmlformats.org/drawingml/2006/main">
            <a:srgbClr val="F8FBFF"/>
          </a:solidFill>
          <a:ln xmlns:a="http://schemas.openxmlformats.org/drawingml/2006/main" w="9525">
            <a:solidFill>
              <a:srgbClr val="D7CEC0"/>
            </a:solidFill>
            <a:prstDash val="solid"/>
          </a:ln>
        </p:spPr>
      </p:sp>
      <p:sp>
        <p:nvSpPr>
          <p:cNvPr id="20" name="30-day windowAccent">
            <a:extLst xmlns:a="http://schemas.openxmlformats.org/drawingml/2006/main">
              <a:ext uri="{FF2B5EF4-FFF2-40B4-BE49-F238E27FC236}">
                <a16:creationId xmlns:a16="http://schemas.microsoft.com/office/drawing/2014/main" id="{0F996396-50D9-4C26-9A57-B5F8187EFC2A}"/>
              </a:ext>
            </a:extLst>
          </p:cNvPr>
          <p:cNvSpPr>
            <a:spLocks xmlns:a="http://schemas.openxmlformats.org/drawingml/2006/main" noGrp="1"/>
          </p:cNvSpPr>
          <p:nvPr/>
        </p:nvSpPr>
        <p:spPr>
          <a:xfrm xmlns:a="http://schemas.openxmlformats.org/drawingml/2006/main">
            <a:off x="5772150" y="1981200"/>
            <a:ext cx="4876800" cy="7620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21" name="BodyText">
            <a:extLst xmlns:a="http://schemas.openxmlformats.org/drawingml/2006/main">
              <a:ext uri="{FF2B5EF4-FFF2-40B4-BE49-F238E27FC236}">
                <a16:creationId xmlns:a16="http://schemas.microsoft.com/office/drawing/2014/main" id="{C69D3257-4290-4E30-95FE-5B1BAF53471F}"/>
              </a:ext>
            </a:extLst>
          </p:cNvPr>
          <p:cNvSpPr>
            <a:spLocks xmlns:a="http://schemas.openxmlformats.org/drawingml/2006/main" noGrp="1"/>
          </p:cNvSpPr>
          <p:nvPr/>
        </p:nvSpPr>
        <p:spPr>
          <a:xfrm xmlns:a="http://schemas.openxmlformats.org/drawingml/2006/main">
            <a:off x="5981700" y="2171700"/>
            <a:ext cx="2667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0F172A"/>
                </a:solidFill>
                <a:latin typeface="Aptos Display"/>
                <a:ea typeface="Aptos Display"/>
                <a:cs typeface="Aptos Display"/>
              </a:defRPr>
            </a:pPr>
            <a:r>
              <a:rPr sz="1800" b="1">
                <a:solidFill>
                  <a:srgbClr val="0F172A"/>
                </a:solidFill>
                <a:latin typeface="Aptos Display"/>
                <a:ea typeface="Aptos Display"/>
                <a:cs typeface="Aptos Display"/>
              </a:rPr>
              <a:t>30-day window</a:t>
            </a:r>
          </a:p>
        </p:txBody>
      </p:sp>
      <p:sp>
        <p:nvSpPr>
          <p:cNvPr id="22" name="SmallText">
            <a:extLst xmlns:a="http://schemas.openxmlformats.org/drawingml/2006/main">
              <a:ext uri="{FF2B5EF4-FFF2-40B4-BE49-F238E27FC236}">
                <a16:creationId xmlns:a16="http://schemas.microsoft.com/office/drawing/2014/main" id="{4C34DE5C-8FDD-40D3-AD47-875097E550BC}"/>
              </a:ext>
            </a:extLst>
          </p:cNvPr>
          <p:cNvSpPr>
            <a:spLocks xmlns:a="http://schemas.openxmlformats.org/drawingml/2006/main" noGrp="1"/>
          </p:cNvSpPr>
          <p:nvPr/>
        </p:nvSpPr>
        <p:spPr>
          <a:xfrm xmlns:a="http://schemas.openxmlformats.org/drawingml/2006/main">
            <a:off x="5981700" y="2514600"/>
            <a:ext cx="342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Commune-level event matching</a:t>
            </a:r>
          </a:p>
        </p:txBody>
      </p:sp>
      <p:sp>
        <p:nvSpPr>
          <p:cNvPr id="23" name="SmallText">
            <a:extLst xmlns:a="http://schemas.openxmlformats.org/drawingml/2006/main">
              <a:ext uri="{FF2B5EF4-FFF2-40B4-BE49-F238E27FC236}">
                <a16:creationId xmlns:a16="http://schemas.microsoft.com/office/drawing/2014/main" id="{736E814C-5268-431B-AA70-66A748D0E4BA}"/>
              </a:ext>
            </a:extLst>
          </p:cNvPr>
          <p:cNvSpPr>
            <a:spLocks xmlns:a="http://schemas.openxmlformats.org/drawingml/2006/main" noGrp="1"/>
          </p:cNvSpPr>
          <p:nvPr/>
        </p:nvSpPr>
        <p:spPr>
          <a:xfrm xmlns:a="http://schemas.openxmlformats.org/drawingml/2006/main">
            <a:off x="5981700" y="2819400"/>
            <a:ext cx="2190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JRC matched (27.8%)</a:t>
            </a:r>
          </a:p>
        </p:txBody>
      </p:sp>
      <p:sp>
        <p:nvSpPr>
          <p:cNvPr id="24" name="SmallText">
            <a:extLst xmlns:a="http://schemas.openxmlformats.org/drawingml/2006/main">
              <a:ext uri="{FF2B5EF4-FFF2-40B4-BE49-F238E27FC236}">
                <a16:creationId xmlns:a16="http://schemas.microsoft.com/office/drawing/2014/main" id="{E48955C1-51B8-4C0A-AAFA-EA9F1B742176}"/>
              </a:ext>
            </a:extLst>
          </p:cNvPr>
          <p:cNvSpPr>
            <a:spLocks xmlns:a="http://schemas.openxmlformats.org/drawingml/2006/main" noGrp="1"/>
          </p:cNvSpPr>
          <p:nvPr/>
        </p:nvSpPr>
        <p:spPr>
          <a:xfrm xmlns:a="http://schemas.openxmlformats.org/drawingml/2006/main">
            <a:off x="9486900" y="28194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80/288</a:t>
            </a:r>
          </a:p>
        </p:txBody>
      </p:sp>
      <p:sp>
        <p:nvSpPr>
          <p:cNvPr id="25" name="ProgressTrack">
            <a:extLst xmlns:a="http://schemas.openxmlformats.org/drawingml/2006/main">
              <a:ext uri="{FF2B5EF4-FFF2-40B4-BE49-F238E27FC236}">
                <a16:creationId xmlns:a16="http://schemas.microsoft.com/office/drawing/2014/main" id="{FFB3CF4D-F26B-4A32-BAE3-9FAFC94C357A}"/>
              </a:ext>
            </a:extLst>
          </p:cNvPr>
          <p:cNvSpPr>
            <a:spLocks xmlns:a="http://schemas.openxmlformats.org/drawingml/2006/main" noGrp="1"/>
          </p:cNvSpPr>
          <p:nvPr/>
        </p:nvSpPr>
        <p:spPr>
          <a:xfrm xmlns:a="http://schemas.openxmlformats.org/drawingml/2006/main">
            <a:off x="5981700" y="3086100"/>
            <a:ext cx="4457700" cy="13335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26" name="ProgressFill">
            <a:extLst xmlns:a="http://schemas.openxmlformats.org/drawingml/2006/main">
              <a:ext uri="{FF2B5EF4-FFF2-40B4-BE49-F238E27FC236}">
                <a16:creationId xmlns:a16="http://schemas.microsoft.com/office/drawing/2014/main" id="{5DDFF81F-5ACD-461E-B3C9-0B87E6F6FFCE}"/>
              </a:ext>
            </a:extLst>
          </p:cNvPr>
          <p:cNvSpPr>
            <a:spLocks xmlns:a="http://schemas.openxmlformats.org/drawingml/2006/main" noGrp="1"/>
          </p:cNvSpPr>
          <p:nvPr/>
        </p:nvSpPr>
        <p:spPr>
          <a:xfrm xmlns:a="http://schemas.openxmlformats.org/drawingml/2006/main">
            <a:off x="5981700" y="3086100"/>
            <a:ext cx="1238250" cy="1333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27" name="SmallText">
            <a:extLst xmlns:a="http://schemas.openxmlformats.org/drawingml/2006/main">
              <a:ext uri="{FF2B5EF4-FFF2-40B4-BE49-F238E27FC236}">
                <a16:creationId xmlns:a16="http://schemas.microsoft.com/office/drawing/2014/main" id="{BEF80EE7-4082-48E6-9D78-6AA319BA4642}"/>
              </a:ext>
            </a:extLst>
          </p:cNvPr>
          <p:cNvSpPr>
            <a:spLocks xmlns:a="http://schemas.openxmlformats.org/drawingml/2006/main" noGrp="1"/>
          </p:cNvSpPr>
          <p:nvPr/>
        </p:nvSpPr>
        <p:spPr>
          <a:xfrm xmlns:a="http://schemas.openxmlformats.org/drawingml/2006/main">
            <a:off x="5981700" y="3276600"/>
            <a:ext cx="4457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208 JRC events remain exclusive under this window.</a:t>
            </a:r>
          </a:p>
        </p:txBody>
      </p:sp>
      <p:sp>
        <p:nvSpPr>
          <p:cNvPr id="28" name="SmallText">
            <a:extLst xmlns:a="http://schemas.openxmlformats.org/drawingml/2006/main">
              <a:ext uri="{FF2B5EF4-FFF2-40B4-BE49-F238E27FC236}">
                <a16:creationId xmlns:a16="http://schemas.microsoft.com/office/drawing/2014/main" id="{8CA27E8D-DD2B-41AB-9EA4-937B6874EA8D}"/>
              </a:ext>
            </a:extLst>
          </p:cNvPr>
          <p:cNvSpPr>
            <a:spLocks xmlns:a="http://schemas.openxmlformats.org/drawingml/2006/main" noGrp="1"/>
          </p:cNvSpPr>
          <p:nvPr/>
        </p:nvSpPr>
        <p:spPr>
          <a:xfrm xmlns:a="http://schemas.openxmlformats.org/drawingml/2006/main">
            <a:off x="5981700" y="3733800"/>
            <a:ext cx="2190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Gaspar matched (16.7%)</a:t>
            </a:r>
          </a:p>
        </p:txBody>
      </p:sp>
      <p:sp>
        <p:nvSpPr>
          <p:cNvPr id="29" name="SmallText">
            <a:extLst xmlns:a="http://schemas.openxmlformats.org/drawingml/2006/main">
              <a:ext uri="{FF2B5EF4-FFF2-40B4-BE49-F238E27FC236}">
                <a16:creationId xmlns:a16="http://schemas.microsoft.com/office/drawing/2014/main" id="{1BD8D0F4-A5FA-44B0-89A9-64E5FB6F6A1E}"/>
              </a:ext>
            </a:extLst>
          </p:cNvPr>
          <p:cNvSpPr>
            <a:spLocks xmlns:a="http://schemas.openxmlformats.org/drawingml/2006/main" noGrp="1"/>
          </p:cNvSpPr>
          <p:nvPr/>
        </p:nvSpPr>
        <p:spPr>
          <a:xfrm xmlns:a="http://schemas.openxmlformats.org/drawingml/2006/main">
            <a:off x="9486900" y="3733800"/>
            <a:ext cx="95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587/3505</a:t>
            </a:r>
          </a:p>
        </p:txBody>
      </p:sp>
      <p:sp>
        <p:nvSpPr>
          <p:cNvPr id="30" name="ProgressTrack">
            <a:extLst xmlns:a="http://schemas.openxmlformats.org/drawingml/2006/main">
              <a:ext uri="{FF2B5EF4-FFF2-40B4-BE49-F238E27FC236}">
                <a16:creationId xmlns:a16="http://schemas.microsoft.com/office/drawing/2014/main" id="{0D18F656-493C-48C8-8EB8-4C12AC72A944}"/>
              </a:ext>
            </a:extLst>
          </p:cNvPr>
          <p:cNvSpPr>
            <a:spLocks xmlns:a="http://schemas.openxmlformats.org/drawingml/2006/main" noGrp="1"/>
          </p:cNvSpPr>
          <p:nvPr/>
        </p:nvSpPr>
        <p:spPr>
          <a:xfrm xmlns:a="http://schemas.openxmlformats.org/drawingml/2006/main">
            <a:off x="5981700" y="4000500"/>
            <a:ext cx="4457700" cy="13335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31" name="ProgressFill">
            <a:extLst xmlns:a="http://schemas.openxmlformats.org/drawingml/2006/main">
              <a:ext uri="{FF2B5EF4-FFF2-40B4-BE49-F238E27FC236}">
                <a16:creationId xmlns:a16="http://schemas.microsoft.com/office/drawing/2014/main" id="{CECB32E7-4021-4981-92B7-82B338471DF7}"/>
              </a:ext>
            </a:extLst>
          </p:cNvPr>
          <p:cNvSpPr>
            <a:spLocks xmlns:a="http://schemas.openxmlformats.org/drawingml/2006/main" noGrp="1"/>
          </p:cNvSpPr>
          <p:nvPr/>
        </p:nvSpPr>
        <p:spPr>
          <a:xfrm xmlns:a="http://schemas.openxmlformats.org/drawingml/2006/main">
            <a:off x="5981700" y="4000500"/>
            <a:ext cx="742950" cy="1333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32" name="SmallText">
            <a:extLst xmlns:a="http://schemas.openxmlformats.org/drawingml/2006/main">
              <a:ext uri="{FF2B5EF4-FFF2-40B4-BE49-F238E27FC236}">
                <a16:creationId xmlns:a16="http://schemas.microsoft.com/office/drawing/2014/main" id="{C7A90CF4-6527-4378-9382-B5A7C1C11BC3}"/>
              </a:ext>
            </a:extLst>
          </p:cNvPr>
          <p:cNvSpPr>
            <a:spLocks xmlns:a="http://schemas.openxmlformats.org/drawingml/2006/main" noGrp="1"/>
          </p:cNvSpPr>
          <p:nvPr/>
        </p:nvSpPr>
        <p:spPr>
          <a:xfrm xmlns:a="http://schemas.openxmlformats.org/drawingml/2006/main">
            <a:off x="5981700" y="4191000"/>
            <a:ext cx="4457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2,918 Gaspar event groups remain exclusive under this window.</a:t>
            </a:r>
          </a:p>
        </p:txBody>
      </p:sp>
      <p:sp>
        <p:nvSpPr>
          <p:cNvPr id="33" name="BottomNote">
            <a:extLst xmlns:a="http://schemas.openxmlformats.org/drawingml/2006/main">
              <a:ext uri="{FF2B5EF4-FFF2-40B4-BE49-F238E27FC236}">
                <a16:creationId xmlns:a16="http://schemas.microsoft.com/office/drawing/2014/main" id="{E9727FCC-736E-433E-9B70-870A8B40927E}"/>
              </a:ext>
            </a:extLst>
          </p:cNvPr>
          <p:cNvSpPr>
            <a:spLocks xmlns:a="http://schemas.openxmlformats.org/drawingml/2006/main" noGrp="1"/>
          </p:cNvSpPr>
          <p:nvPr/>
        </p:nvSpPr>
        <p:spPr>
          <a:xfrm xmlns:a="http://schemas.openxmlformats.org/drawingml/2006/main">
            <a:off x="514350" y="5905500"/>
            <a:ext cx="10629900" cy="6477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34" name="BodyText">
            <a:extLst xmlns:a="http://schemas.openxmlformats.org/drawingml/2006/main">
              <a:ext uri="{FF2B5EF4-FFF2-40B4-BE49-F238E27FC236}">
                <a16:creationId xmlns:a16="http://schemas.microsoft.com/office/drawing/2014/main" id="{0FFC57F6-44F7-4D99-95C8-DBFEBB17A67D}"/>
              </a:ext>
            </a:extLst>
          </p:cNvPr>
          <p:cNvSpPr>
            <a:spLocks xmlns:a="http://schemas.openxmlformats.org/drawingml/2006/main" noGrp="1"/>
          </p:cNvSpPr>
          <p:nvPr/>
        </p:nvSpPr>
        <p:spPr>
          <a:xfrm xmlns:a="http://schemas.openxmlformats.org/drawingml/2006/main">
            <a:off x="742950" y="6038850"/>
            <a:ext cx="10172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0F172A"/>
                </a:solidFill>
                <a:latin typeface="Aptos"/>
                <a:ea typeface="Aptos"/>
                <a:cs typeface="Aptos"/>
              </a:defRPr>
            </a:pPr>
            <a:r>
              <a:rPr sz="1425" b="0">
                <a:solidFill>
                  <a:srgbClr val="0F172A"/>
                </a:solidFill>
                <a:latin typeface="Aptos"/>
                <a:ea typeface="Aptos"/>
                <a:cs typeface="Aptos"/>
              </a:rPr>
              <a:t>Department-level rates: 7-day JRC 43.4% / Gaspar 42.5%; 30-day JRC 59.4% / Gaspar 53.8%.</a:t>
            </a:r>
          </a:p>
        </p:txBody>
      </p:sp>
      <p:sp>
        <p:nvSpPr>
          <p:cNvPr id="35" name="SmallText">
            <a:extLst xmlns:a="http://schemas.openxmlformats.org/drawingml/2006/main">
              <a:ext uri="{FF2B5EF4-FFF2-40B4-BE49-F238E27FC236}">
                <a16:creationId xmlns:a16="http://schemas.microsoft.com/office/drawing/2014/main" id="{E0C26253-F83E-45F6-B405-A0B13E58B305}"/>
              </a:ext>
            </a:extLst>
          </p:cNvPr>
          <p:cNvSpPr>
            <a:spLocks xmlns:a="http://schemas.openxmlformats.org/drawingml/2006/main" noGrp="1"/>
          </p:cNvSpPr>
          <p:nvPr/>
        </p:nvSpPr>
        <p:spPr>
          <a:xfrm xmlns:a="http://schemas.openxmlformats.org/drawingml/2006/main">
            <a:off x="742950" y="6267450"/>
            <a:ext cx="10172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Row coverage: JRC 2,501 / 64,327 rows = 3.9% then 3,080 / 64,327 rows = 4.8%; Gaspar 1,983 / 19,217 rows = 10.3% then 2,204 / 19,217 rows = 11.5%.</a:t>
            </a:r>
          </a:p>
        </p:txBody>
      </p:sp>
      <p:sp>
        <p:nvSpPr>
          <p:cNvPr id="36" name="Rule">
            <a:extLst xmlns:a="http://schemas.openxmlformats.org/drawingml/2006/main">
              <a:ext uri="{FF2B5EF4-FFF2-40B4-BE49-F238E27FC236}">
                <a16:creationId xmlns:a16="http://schemas.microsoft.com/office/drawing/2014/main" id="{1A3F2A5B-F2A5-4980-9135-D60AC993F323}"/>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D7CEC0"/>
          </a:solidFill>
          <a:ln xmlns:a="http://schemas.openxmlformats.org/drawingml/2006/main" w="0">
            <a:solidFill>
              <a:srgbClr val="000000">
                <a:alpha val="0"/>
              </a:srgbClr>
            </a:solidFill>
            <a:prstDash val="solid"/>
          </a:ln>
        </p:spPr>
      </p:sp>
      <p:sp>
        <p:nvSpPr>
          <p:cNvPr id="37" name="SmallText">
            <a:extLst xmlns:a="http://schemas.openxmlformats.org/drawingml/2006/main">
              <a:ext uri="{FF2B5EF4-FFF2-40B4-BE49-F238E27FC236}">
                <a16:creationId xmlns:a16="http://schemas.microsoft.com/office/drawing/2014/main" id="{DDB19B39-A75E-4C9A-BC8D-849ABED47738}"/>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Numbers pulled from data/processed/jrc_gaspar_comparison_flexible_7d and ..._30d using the existing France comparison logic.</a:t>
            </a:r>
          </a:p>
        </p:txBody>
      </p:sp>
    </p:spTree>
    <p:extLst>
      <p:ext uri="{BB962C8B-B14F-4D97-AF65-F5344CB8AC3E}">
        <p14:creationId xmlns:p14="http://schemas.microsoft.com/office/powerpoint/2010/main" val="207446034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CC5BC8B0-BD3B-4383-9A05-E3E6FB9EFE7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1E8"/>
          </a:soli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29BFA6FF-EAA8-47A7-ADE6-BE202116473F}"/>
              </a:ext>
            </a:extLst>
          </p:cNvPr>
          <p:cNvSpPr>
            <a:spLocks xmlns:a="http://schemas.openxmlformats.org/drawingml/2006/main" noGrp="1"/>
          </p:cNvSpPr>
          <p:nvPr/>
        </p:nvSpPr>
        <p:spPr>
          <a:xfrm xmlns:a="http://schemas.openxmlformats.org/drawingml/2006/main">
            <a:off x="514350" y="400050"/>
            <a:ext cx="304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E45A3C"/>
                </a:solidFill>
                <a:latin typeface="Aptos"/>
                <a:ea typeface="Aptos"/>
                <a:cs typeface="Aptos"/>
              </a:defRPr>
            </a:pPr>
            <a:r>
              <a:rPr sz="1350" b="1">
                <a:solidFill>
                  <a:srgbClr val="E45A3C"/>
                </a:solidFill>
                <a:latin typeface="Aptos"/>
                <a:ea typeface="Aptos"/>
                <a:cs typeface="Aptos"/>
              </a:rPr>
              <a:t>MANUAL CHECKS</a:t>
            </a:r>
          </a:p>
        </p:txBody>
      </p:sp>
      <p:sp>
        <p:nvSpPr>
          <p:cNvPr id="3" name="Title">
            <a:extLst xmlns:a="http://schemas.openxmlformats.org/drawingml/2006/main">
              <a:ext uri="{FF2B5EF4-FFF2-40B4-BE49-F238E27FC236}">
                <a16:creationId xmlns:a16="http://schemas.microsoft.com/office/drawing/2014/main" id="{AF020E4A-2F28-4FB1-BA3F-A6B42776FC8F}"/>
              </a:ext>
            </a:extLst>
          </p:cNvPr>
          <p:cNvSpPr>
            <a:spLocks xmlns:a="http://schemas.openxmlformats.org/drawingml/2006/main" noGrp="1"/>
          </p:cNvSpPr>
          <p:nvPr/>
        </p:nvSpPr>
        <p:spPr>
          <a:xfrm xmlns:a="http://schemas.openxmlformats.org/drawingml/2006/main">
            <a:off x="514350" y="742950"/>
            <a:ext cx="1066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550" b="1">
                <a:solidFill>
                  <a:srgbClr val="0F172A"/>
                </a:solidFill>
                <a:latin typeface="Aptos Display"/>
                <a:ea typeface="Aptos Display"/>
                <a:cs typeface="Aptos Display"/>
              </a:defRPr>
            </a:pPr>
            <a:r>
              <a:rPr sz="2550" b="1">
                <a:solidFill>
                  <a:srgbClr val="0F172A"/>
                </a:solidFill>
                <a:latin typeface="Aptos Display"/>
                <a:ea typeface="Aptos Display"/>
                <a:cs typeface="Aptos Display"/>
              </a:rPr>
              <a:t>Manual regional checks suggest timing, footprint, and administrative grain drive the mismatch</a:t>
            </a:r>
          </a:p>
        </p:txBody>
      </p:sp>
      <p:sp>
        <p:nvSpPr>
          <p:cNvPr id="4" name="SmallText">
            <a:extLst xmlns:a="http://schemas.openxmlformats.org/drawingml/2006/main">
              <a:ext uri="{FF2B5EF4-FFF2-40B4-BE49-F238E27FC236}">
                <a16:creationId xmlns:a16="http://schemas.microsoft.com/office/drawing/2014/main" id="{06B03796-44B9-48AD-8C87-AF4828BE5916}"/>
              </a:ext>
            </a:extLst>
          </p:cNvPr>
          <p:cNvSpPr>
            <a:spLocks xmlns:a="http://schemas.openxmlformats.org/drawingml/2006/main" noGrp="1"/>
          </p:cNvSpPr>
          <p:nvPr/>
        </p:nvSpPr>
        <p:spPr>
          <a:xfrm xmlns:a="http://schemas.openxmlformats.org/drawingml/2006/main">
            <a:off x="514350" y="1390650"/>
            <a:ext cx="990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These maps use the same commune-activity logic as the Streamlit app, but focus on quarter-region period overlap rather than event-pair matching.</a:t>
            </a:r>
          </a:p>
        </p:txBody>
      </p:sp>
      <p:sp>
        <p:nvSpPr>
          <p:cNvPr id="5" name="ManualCase1">
            <a:extLst xmlns:a="http://schemas.openxmlformats.org/drawingml/2006/main">
              <a:ext uri="{FF2B5EF4-FFF2-40B4-BE49-F238E27FC236}">
                <a16:creationId xmlns:a16="http://schemas.microsoft.com/office/drawing/2014/main" id="{57031C8D-6CC7-4267-8507-85A280D815B6}"/>
              </a:ext>
            </a:extLst>
          </p:cNvPr>
          <p:cNvSpPr>
            <a:spLocks xmlns:a="http://schemas.openxmlformats.org/drawingml/2006/main" noGrp="1"/>
          </p:cNvSpPr>
          <p:nvPr/>
        </p:nvSpPr>
        <p:spPr>
          <a:xfrm xmlns:a="http://schemas.openxmlformats.org/drawingml/2006/main">
            <a:off x="514350" y="1866900"/>
            <a:ext cx="3295650" cy="42291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6" name="BodyText">
            <a:extLst xmlns:a="http://schemas.openxmlformats.org/drawingml/2006/main">
              <a:ext uri="{FF2B5EF4-FFF2-40B4-BE49-F238E27FC236}">
                <a16:creationId xmlns:a16="http://schemas.microsoft.com/office/drawing/2014/main" id="{68CC6CE6-6D86-41E9-A75F-27CB8B663ED9}"/>
              </a:ext>
            </a:extLst>
          </p:cNvPr>
          <p:cNvSpPr>
            <a:spLocks xmlns:a="http://schemas.openxmlformats.org/drawingml/2006/main" noGrp="1"/>
          </p:cNvSpPr>
          <p:nvPr/>
        </p:nvSpPr>
        <p:spPr>
          <a:xfrm xmlns:a="http://schemas.openxmlformats.org/drawingml/2006/main">
            <a:off x="685800" y="20383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0F172A"/>
                </a:solidFill>
                <a:latin typeface="Aptos Display"/>
                <a:ea typeface="Aptos Display"/>
                <a:cs typeface="Aptos Display"/>
              </a:defRPr>
            </a:pPr>
            <a:r>
              <a:rPr sz="1650" b="1">
                <a:solidFill>
                  <a:srgbClr val="0F172A"/>
                </a:solidFill>
                <a:latin typeface="Aptos Display"/>
                <a:ea typeface="Aptos Display"/>
                <a:cs typeface="Aptos Display"/>
              </a:rPr>
              <a:t>Grand Est, Q3 2021</a:t>
            </a:r>
          </a:p>
        </p:txBody>
      </p:sp>
      <p:sp>
        <p:nvSpPr>
          <p:cNvPr id="7" name="SmallText">
            <a:extLst xmlns:a="http://schemas.openxmlformats.org/drawingml/2006/main">
              <a:ext uri="{FF2B5EF4-FFF2-40B4-BE49-F238E27FC236}">
                <a16:creationId xmlns:a16="http://schemas.microsoft.com/office/drawing/2014/main" id="{74B87FF0-9B1E-437C-BDB0-4F80B7D932E3}"/>
              </a:ext>
            </a:extLst>
          </p:cNvPr>
          <p:cNvSpPr>
            <a:spLocks xmlns:a="http://schemas.openxmlformats.org/drawingml/2006/main" noGrp="1"/>
          </p:cNvSpPr>
          <p:nvPr/>
        </p:nvSpPr>
        <p:spPr>
          <a:xfrm xmlns:a="http://schemas.openxmlformats.org/drawingml/2006/main">
            <a:off x="685800" y="236220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Both 95 | Gaspar only 202 | JRC only 532</a:t>
            </a:r>
          </a:p>
        </p:txBody>
      </p:sp>
      <p:sp>
        <p:nvSpPr>
          <p:cNvPr id="8" name="ImageFrame">
            <a:extLst xmlns:a="http://schemas.openxmlformats.org/drawingml/2006/main">
              <a:ext uri="{FF2B5EF4-FFF2-40B4-BE49-F238E27FC236}">
                <a16:creationId xmlns:a16="http://schemas.microsoft.com/office/drawing/2014/main" id="{44671725-C7DB-49D5-B1E3-D9B31FC62AA1}"/>
              </a:ext>
            </a:extLst>
          </p:cNvPr>
          <p:cNvSpPr>
            <a:spLocks xmlns:a="http://schemas.openxmlformats.org/drawingml/2006/main" noGrp="1"/>
          </p:cNvSpPr>
          <p:nvPr/>
        </p:nvSpPr>
        <p:spPr>
          <a:xfrm xmlns:a="http://schemas.openxmlformats.org/drawingml/2006/main">
            <a:off x="685800" y="2686050"/>
            <a:ext cx="2952750" cy="1905000"/>
          </a:xfrm>
          <a:prstGeom xmlns:a="http://schemas.openxmlformats.org/drawingml/2006/main" prst="rect">
            <a:avLst/>
          </a:prstGeom>
          <a:solidFill xmlns:a="http://schemas.openxmlformats.org/drawingml/2006/main">
            <a:srgbClr val="FBFBFB"/>
          </a:solidFill>
          <a:ln xmlns:a="http://schemas.openxmlformats.org/drawingml/2006/main" w="9525">
            <a:solidFill>
              <a:srgbClr val="D7CEC0"/>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5342a2a9838456b"/>
          <a:stretch xmlns:a="http://schemas.openxmlformats.org/drawingml/2006/main"/>
        </p:blipFill>
        <p:spPr>
          <a:xfrm xmlns:a="http://schemas.openxmlformats.org/drawingml/2006/main">
            <a:off x="762000" y="3162699"/>
            <a:ext cx="2800350" cy="951702"/>
          </a:xfrm>
          <a:prstGeom xmlns:a="http://schemas.openxmlformats.org/drawingml/2006/main" prst="rect">
            <a:avLst/>
          </a:prstGeom>
        </p:spPr>
      </p:pic>
      <p:sp>
        <p:nvSpPr>
          <p:cNvPr id="10" name="BodyText">
            <a:extLst xmlns:a="http://schemas.openxmlformats.org/drawingml/2006/main">
              <a:ext uri="{FF2B5EF4-FFF2-40B4-BE49-F238E27FC236}">
                <a16:creationId xmlns:a16="http://schemas.microsoft.com/office/drawing/2014/main" id="{710EE94B-9687-46C6-803D-C8135E8AB016}"/>
              </a:ext>
            </a:extLst>
          </p:cNvPr>
          <p:cNvSpPr>
            <a:spLocks xmlns:a="http://schemas.openxmlformats.org/drawingml/2006/main" noGrp="1"/>
          </p:cNvSpPr>
          <p:nvPr/>
        </p:nvSpPr>
        <p:spPr>
          <a:xfrm xmlns:a="http://schemas.openxmlformats.org/drawingml/2006/main">
            <a:off x="685800" y="4762500"/>
            <a:ext cx="2952750" cy="1066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Shared northeast flood episode, but much wider JRC commune footprint than the administrative overlap zone.</a:t>
            </a:r>
          </a:p>
        </p:txBody>
      </p:sp>
      <p:sp>
        <p:nvSpPr>
          <p:cNvPr id="11" name="ManualCase2">
            <a:extLst xmlns:a="http://schemas.openxmlformats.org/drawingml/2006/main">
              <a:ext uri="{FF2B5EF4-FFF2-40B4-BE49-F238E27FC236}">
                <a16:creationId xmlns:a16="http://schemas.microsoft.com/office/drawing/2014/main" id="{3D52138A-D3B8-4EAA-AE1E-1DBED58A9292}"/>
              </a:ext>
            </a:extLst>
          </p:cNvPr>
          <p:cNvSpPr>
            <a:spLocks xmlns:a="http://schemas.openxmlformats.org/drawingml/2006/main" noGrp="1"/>
          </p:cNvSpPr>
          <p:nvPr/>
        </p:nvSpPr>
        <p:spPr>
          <a:xfrm xmlns:a="http://schemas.openxmlformats.org/drawingml/2006/main">
            <a:off x="4076700" y="1866900"/>
            <a:ext cx="3295650" cy="42291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12" name="BodyText">
            <a:extLst xmlns:a="http://schemas.openxmlformats.org/drawingml/2006/main">
              <a:ext uri="{FF2B5EF4-FFF2-40B4-BE49-F238E27FC236}">
                <a16:creationId xmlns:a16="http://schemas.microsoft.com/office/drawing/2014/main" id="{94A12610-377C-4561-AD15-46065E9537FD}"/>
              </a:ext>
            </a:extLst>
          </p:cNvPr>
          <p:cNvSpPr>
            <a:spLocks xmlns:a="http://schemas.openxmlformats.org/drawingml/2006/main" noGrp="1"/>
          </p:cNvSpPr>
          <p:nvPr/>
        </p:nvSpPr>
        <p:spPr>
          <a:xfrm xmlns:a="http://schemas.openxmlformats.org/drawingml/2006/main">
            <a:off x="4248150" y="20383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0F172A"/>
                </a:solidFill>
                <a:latin typeface="Aptos Display"/>
                <a:ea typeface="Aptos Display"/>
                <a:cs typeface="Aptos Display"/>
              </a:defRPr>
            </a:pPr>
            <a:r>
              <a:rPr sz="1650" b="1">
                <a:solidFill>
                  <a:srgbClr val="0F172A"/>
                </a:solidFill>
                <a:latin typeface="Aptos Display"/>
                <a:ea typeface="Aptos Display"/>
                <a:cs typeface="Aptos Display"/>
              </a:rPr>
              <a:t>Bourgogne-Franche-Comte, Q3 2021</a:t>
            </a:r>
          </a:p>
        </p:txBody>
      </p:sp>
      <p:sp>
        <p:nvSpPr>
          <p:cNvPr id="13" name="SmallText">
            <a:extLst xmlns:a="http://schemas.openxmlformats.org/drawingml/2006/main">
              <a:ext uri="{FF2B5EF4-FFF2-40B4-BE49-F238E27FC236}">
                <a16:creationId xmlns:a16="http://schemas.microsoft.com/office/drawing/2014/main" id="{EC7764AA-9431-4B31-A8AE-374D13394540}"/>
              </a:ext>
            </a:extLst>
          </p:cNvPr>
          <p:cNvSpPr>
            <a:spLocks xmlns:a="http://schemas.openxmlformats.org/drawingml/2006/main" noGrp="1"/>
          </p:cNvSpPr>
          <p:nvPr/>
        </p:nvSpPr>
        <p:spPr>
          <a:xfrm xmlns:a="http://schemas.openxmlformats.org/drawingml/2006/main">
            <a:off x="4248150" y="236220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Both 22 | Gaspar only 69 | JRC only 417</a:t>
            </a:r>
          </a:p>
        </p:txBody>
      </p:sp>
      <p:sp>
        <p:nvSpPr>
          <p:cNvPr id="14" name="ImageFrame">
            <a:extLst xmlns:a="http://schemas.openxmlformats.org/drawingml/2006/main">
              <a:ext uri="{FF2B5EF4-FFF2-40B4-BE49-F238E27FC236}">
                <a16:creationId xmlns:a16="http://schemas.microsoft.com/office/drawing/2014/main" id="{34F2F24C-325B-4F90-9350-EEAF26F239DB}"/>
              </a:ext>
            </a:extLst>
          </p:cNvPr>
          <p:cNvSpPr>
            <a:spLocks xmlns:a="http://schemas.openxmlformats.org/drawingml/2006/main" noGrp="1"/>
          </p:cNvSpPr>
          <p:nvPr/>
        </p:nvSpPr>
        <p:spPr>
          <a:xfrm xmlns:a="http://schemas.openxmlformats.org/drawingml/2006/main">
            <a:off x="4248150" y="2686050"/>
            <a:ext cx="2952750" cy="1905000"/>
          </a:xfrm>
          <a:prstGeom xmlns:a="http://schemas.openxmlformats.org/drawingml/2006/main" prst="rect">
            <a:avLst/>
          </a:prstGeom>
          <a:solidFill xmlns:a="http://schemas.openxmlformats.org/drawingml/2006/main">
            <a:srgbClr val="FBFBFB"/>
          </a:solidFill>
          <a:ln xmlns:a="http://schemas.openxmlformats.org/drawingml/2006/main" w="9525">
            <a:solidFill>
              <a:srgbClr val="D7CEC0"/>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a29300896d74f41"/>
          <a:stretch xmlns:a="http://schemas.openxmlformats.org/drawingml/2006/main"/>
        </p:blipFill>
        <p:spPr>
          <a:xfrm xmlns:a="http://schemas.openxmlformats.org/drawingml/2006/main">
            <a:off x="4324350" y="3184862"/>
            <a:ext cx="2800350" cy="907376"/>
          </a:xfrm>
          <a:prstGeom xmlns:a="http://schemas.openxmlformats.org/drawingml/2006/main" prst="rect">
            <a:avLst/>
          </a:prstGeom>
        </p:spPr>
      </p:pic>
      <p:sp>
        <p:nvSpPr>
          <p:cNvPr id="16" name="BodyText">
            <a:extLst xmlns:a="http://schemas.openxmlformats.org/drawingml/2006/main">
              <a:ext uri="{FF2B5EF4-FFF2-40B4-BE49-F238E27FC236}">
                <a16:creationId xmlns:a16="http://schemas.microsoft.com/office/drawing/2014/main" id="{5A79F2AD-C106-4BEF-BEA6-25C9399FC2DB}"/>
              </a:ext>
            </a:extLst>
          </p:cNvPr>
          <p:cNvSpPr>
            <a:spLocks xmlns:a="http://schemas.openxmlformats.org/drawingml/2006/main" noGrp="1"/>
          </p:cNvSpPr>
          <p:nvPr/>
        </p:nvSpPr>
        <p:spPr>
          <a:xfrm xmlns:a="http://schemas.openxmlformats.org/drawingml/2006/main">
            <a:off x="4248150" y="4762500"/>
            <a:ext cx="2952750" cy="1066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JRC dominates the flood corridor while Gaspar remains concentrated in a smaller subset of recognized communes.</a:t>
            </a:r>
          </a:p>
        </p:txBody>
      </p:sp>
      <p:sp>
        <p:nvSpPr>
          <p:cNvPr id="17" name="ManualCase3">
            <a:extLst xmlns:a="http://schemas.openxmlformats.org/drawingml/2006/main">
              <a:ext uri="{FF2B5EF4-FFF2-40B4-BE49-F238E27FC236}">
                <a16:creationId xmlns:a16="http://schemas.microsoft.com/office/drawing/2014/main" id="{A0742F2C-8FB3-42DD-953F-006BC3DD360D}"/>
              </a:ext>
            </a:extLst>
          </p:cNvPr>
          <p:cNvSpPr>
            <a:spLocks xmlns:a="http://schemas.openxmlformats.org/drawingml/2006/main" noGrp="1"/>
          </p:cNvSpPr>
          <p:nvPr/>
        </p:nvSpPr>
        <p:spPr>
          <a:xfrm xmlns:a="http://schemas.openxmlformats.org/drawingml/2006/main">
            <a:off x="7639050" y="1866900"/>
            <a:ext cx="3295650" cy="42291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18" name="BodyText">
            <a:extLst xmlns:a="http://schemas.openxmlformats.org/drawingml/2006/main">
              <a:ext uri="{FF2B5EF4-FFF2-40B4-BE49-F238E27FC236}">
                <a16:creationId xmlns:a16="http://schemas.microsoft.com/office/drawing/2014/main" id="{599B4059-D00E-44C1-88F4-185F2A7BBC16}"/>
              </a:ext>
            </a:extLst>
          </p:cNvPr>
          <p:cNvSpPr>
            <a:spLocks xmlns:a="http://schemas.openxmlformats.org/drawingml/2006/main" noGrp="1"/>
          </p:cNvSpPr>
          <p:nvPr/>
        </p:nvSpPr>
        <p:spPr>
          <a:xfrm xmlns:a="http://schemas.openxmlformats.org/drawingml/2006/main">
            <a:off x="7810500" y="20383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0F172A"/>
                </a:solidFill>
                <a:latin typeface="Aptos Display"/>
                <a:ea typeface="Aptos Display"/>
                <a:cs typeface="Aptos Display"/>
              </a:defRPr>
            </a:pPr>
            <a:r>
              <a:rPr sz="1650" b="1">
                <a:solidFill>
                  <a:srgbClr val="0F172A"/>
                </a:solidFill>
                <a:latin typeface="Aptos Display"/>
                <a:ea typeface="Aptos Display"/>
                <a:cs typeface="Aptos Display"/>
              </a:rPr>
              <a:t>Centre-Val de Loire, Q2 2016</a:t>
            </a:r>
          </a:p>
        </p:txBody>
      </p:sp>
      <p:sp>
        <p:nvSpPr>
          <p:cNvPr id="19" name="SmallText">
            <a:extLst xmlns:a="http://schemas.openxmlformats.org/drawingml/2006/main">
              <a:ext uri="{FF2B5EF4-FFF2-40B4-BE49-F238E27FC236}">
                <a16:creationId xmlns:a16="http://schemas.microsoft.com/office/drawing/2014/main" id="{202A123D-1171-47A6-8EB3-ABC6696DEC88}"/>
              </a:ext>
            </a:extLst>
          </p:cNvPr>
          <p:cNvSpPr>
            <a:spLocks xmlns:a="http://schemas.openxmlformats.org/drawingml/2006/main" noGrp="1"/>
          </p:cNvSpPr>
          <p:nvPr/>
        </p:nvSpPr>
        <p:spPr>
          <a:xfrm xmlns:a="http://schemas.openxmlformats.org/drawingml/2006/main">
            <a:off x="7810500" y="236220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Both 89 | Gaspar only 707 | JRC only 22</a:t>
            </a:r>
          </a:p>
        </p:txBody>
      </p:sp>
      <p:sp>
        <p:nvSpPr>
          <p:cNvPr id="20" name="ImageFrame">
            <a:extLst xmlns:a="http://schemas.openxmlformats.org/drawingml/2006/main">
              <a:ext uri="{FF2B5EF4-FFF2-40B4-BE49-F238E27FC236}">
                <a16:creationId xmlns:a16="http://schemas.microsoft.com/office/drawing/2014/main" id="{A90FF487-8B75-472B-AB17-1849E15737F6}"/>
              </a:ext>
            </a:extLst>
          </p:cNvPr>
          <p:cNvSpPr>
            <a:spLocks xmlns:a="http://schemas.openxmlformats.org/drawingml/2006/main" noGrp="1"/>
          </p:cNvSpPr>
          <p:nvPr/>
        </p:nvSpPr>
        <p:spPr>
          <a:xfrm xmlns:a="http://schemas.openxmlformats.org/drawingml/2006/main">
            <a:off x="7810500" y="2686050"/>
            <a:ext cx="2952750" cy="1905000"/>
          </a:xfrm>
          <a:prstGeom xmlns:a="http://schemas.openxmlformats.org/drawingml/2006/main" prst="rect">
            <a:avLst/>
          </a:prstGeom>
          <a:solidFill xmlns:a="http://schemas.openxmlformats.org/drawingml/2006/main">
            <a:srgbClr val="FBFBFB"/>
          </a:solidFill>
          <a:ln xmlns:a="http://schemas.openxmlformats.org/drawingml/2006/main" w="9525">
            <a:solidFill>
              <a:srgbClr val="D7CEC0"/>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91512601bbd46ee"/>
          <a:stretch xmlns:a="http://schemas.openxmlformats.org/drawingml/2006/main"/>
        </p:blipFill>
        <p:spPr>
          <a:xfrm xmlns:a="http://schemas.openxmlformats.org/drawingml/2006/main">
            <a:off x="7886700" y="3090346"/>
            <a:ext cx="2800350" cy="1096408"/>
          </a:xfrm>
          <a:prstGeom xmlns:a="http://schemas.openxmlformats.org/drawingml/2006/main" prst="rect">
            <a:avLst/>
          </a:prstGeom>
        </p:spPr>
      </p:pic>
      <p:sp>
        <p:nvSpPr>
          <p:cNvPr id="22" name="BodyText">
            <a:extLst xmlns:a="http://schemas.openxmlformats.org/drawingml/2006/main">
              <a:ext uri="{FF2B5EF4-FFF2-40B4-BE49-F238E27FC236}">
                <a16:creationId xmlns:a16="http://schemas.microsoft.com/office/drawing/2014/main" id="{10EBDBCE-A8FF-4217-94B4-E919A78DB1B6}"/>
              </a:ext>
            </a:extLst>
          </p:cNvPr>
          <p:cNvSpPr>
            <a:spLocks xmlns:a="http://schemas.openxmlformats.org/drawingml/2006/main" noGrp="1"/>
          </p:cNvSpPr>
          <p:nvPr/>
        </p:nvSpPr>
        <p:spPr>
          <a:xfrm xmlns:a="http://schemas.openxmlformats.org/drawingml/2006/main">
            <a:off x="7810500" y="4762500"/>
            <a:ext cx="2952750" cy="1066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Large administratively recognized event with much narrower JRC overlap at the commune level.</a:t>
            </a:r>
          </a:p>
        </p:txBody>
      </p:sp>
      <p:sp>
        <p:nvSpPr>
          <p:cNvPr id="23" name="Rule">
            <a:extLst xmlns:a="http://schemas.openxmlformats.org/drawingml/2006/main">
              <a:ext uri="{FF2B5EF4-FFF2-40B4-BE49-F238E27FC236}">
                <a16:creationId xmlns:a16="http://schemas.microsoft.com/office/drawing/2014/main" id="{9EC9DF12-A294-4E98-A538-501F57DB4B7A}"/>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D7CEC0"/>
          </a:solidFill>
          <a:ln xmlns:a="http://schemas.openxmlformats.org/drawingml/2006/main" w="0">
            <a:solidFill>
              <a:srgbClr val="000000">
                <a:alpha val="0"/>
              </a:srgbClr>
            </a:solidFill>
            <a:prstDash val="solid"/>
          </a:ln>
        </p:spPr>
      </p:sp>
      <p:sp>
        <p:nvSpPr>
          <p:cNvPr id="24" name="SmallText">
            <a:extLst xmlns:a="http://schemas.openxmlformats.org/drawingml/2006/main">
              <a:ext uri="{FF2B5EF4-FFF2-40B4-BE49-F238E27FC236}">
                <a16:creationId xmlns:a16="http://schemas.microsoft.com/office/drawing/2014/main" id="{BF694647-6662-4E9B-8410-8ADB49045643}"/>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Rendered audit figures live in docs/assets/gaspar_jrc_match_audit and are referenced by the bilingual match-audit report.</a:t>
            </a:r>
          </a:p>
        </p:txBody>
      </p:sp>
    </p:spTree>
    <p:extLst>
      <p:ext uri="{BB962C8B-B14F-4D97-AF65-F5344CB8AC3E}">
        <p14:creationId xmlns:p14="http://schemas.microsoft.com/office/powerpoint/2010/main" val="61254213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E3439408-238C-49F0-A0D1-140717DC49C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1E8"/>
          </a:soli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BF6D013D-2D65-462E-82CA-5E1A96B09782}"/>
              </a:ext>
            </a:extLst>
          </p:cNvPr>
          <p:cNvSpPr>
            <a:spLocks xmlns:a="http://schemas.openxmlformats.org/drawingml/2006/main" noGrp="1"/>
          </p:cNvSpPr>
          <p:nvPr/>
        </p:nvSpPr>
        <p:spPr>
          <a:xfrm xmlns:a="http://schemas.openxmlformats.org/drawingml/2006/main">
            <a:off x="514350" y="400050"/>
            <a:ext cx="2286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E45A3C"/>
                </a:solidFill>
                <a:latin typeface="Aptos"/>
                <a:ea typeface="Aptos"/>
                <a:cs typeface="Aptos"/>
              </a:defRPr>
            </a:pPr>
            <a:r>
              <a:rPr sz="1350" b="1">
                <a:solidFill>
                  <a:srgbClr val="E45A3C"/>
                </a:solidFill>
                <a:latin typeface="Aptos"/>
                <a:ea typeface="Aptos"/>
                <a:cs typeface="Aptos"/>
              </a:rPr>
              <a:t>T20 CHECK</a:t>
            </a:r>
          </a:p>
        </p:txBody>
      </p:sp>
      <p:sp>
        <p:nvSpPr>
          <p:cNvPr id="3" name="Title">
            <a:extLst xmlns:a="http://schemas.openxmlformats.org/drawingml/2006/main">
              <a:ext uri="{FF2B5EF4-FFF2-40B4-BE49-F238E27FC236}">
                <a16:creationId xmlns:a16="http://schemas.microsoft.com/office/drawing/2014/main" id="{DB4F7931-4BE3-4C13-8637-393034A0B657}"/>
              </a:ext>
            </a:extLst>
          </p:cNvPr>
          <p:cNvSpPr>
            <a:spLocks xmlns:a="http://schemas.openxmlformats.org/drawingml/2006/main" noGrp="1"/>
          </p:cNvSpPr>
          <p:nvPr/>
        </p:nvSpPr>
        <p:spPr>
          <a:xfrm xmlns:a="http://schemas.openxmlformats.org/drawingml/2006/main">
            <a:off x="514350" y="742950"/>
            <a:ext cx="10668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550" b="1">
                <a:solidFill>
                  <a:srgbClr val="0F172A"/>
                </a:solidFill>
                <a:latin typeface="Aptos Display"/>
                <a:ea typeface="Aptos Display"/>
                <a:cs typeface="Aptos Display"/>
              </a:defRPr>
            </a:pPr>
            <a:r>
              <a:rPr sz="2550" b="1">
                <a:solidFill>
                  <a:srgbClr val="0F172A"/>
                </a:solidFill>
                <a:latin typeface="Aptos Display"/>
                <a:ea typeface="Aptos Display"/>
                <a:cs typeface="Aptos Display"/>
              </a:rPr>
              <a:t>The T20 rule is operational, but positive local JRC hits are rare in the current sample</a:t>
            </a:r>
          </a:p>
        </p:txBody>
      </p:sp>
      <p:sp>
        <p:nvSpPr>
          <p:cNvPr id="4" name="MetricCard">
            <a:extLst xmlns:a="http://schemas.openxmlformats.org/drawingml/2006/main">
              <a:ext uri="{FF2B5EF4-FFF2-40B4-BE49-F238E27FC236}">
                <a16:creationId xmlns:a16="http://schemas.microsoft.com/office/drawing/2014/main" id="{2BABCBBC-CCBA-4B1C-BE01-5CAB1980120A}"/>
              </a:ext>
            </a:extLst>
          </p:cNvPr>
          <p:cNvSpPr>
            <a:spLocks xmlns:a="http://schemas.openxmlformats.org/drawingml/2006/main" noGrp="1"/>
          </p:cNvSpPr>
          <p:nvPr/>
        </p:nvSpPr>
        <p:spPr>
          <a:xfrm xmlns:a="http://schemas.openxmlformats.org/drawingml/2006/main">
            <a:off x="514350" y="1771650"/>
            <a:ext cx="19431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7CEC0"/>
            </a:solidFill>
            <a:prstDash val="solid"/>
          </a:ln>
        </p:spPr>
      </p:sp>
      <p:sp>
        <p:nvSpPr>
          <p:cNvPr id="5" name="Rule">
            <a:extLst xmlns:a="http://schemas.openxmlformats.org/drawingml/2006/main">
              <a:ext uri="{FF2B5EF4-FFF2-40B4-BE49-F238E27FC236}">
                <a16:creationId xmlns:a16="http://schemas.microsoft.com/office/drawing/2014/main" id="{00FCBAC7-8BB5-4616-9DEB-F3118F041184}"/>
              </a:ext>
            </a:extLst>
          </p:cNvPr>
          <p:cNvSpPr>
            <a:spLocks xmlns:a="http://schemas.openxmlformats.org/drawingml/2006/main" noGrp="1"/>
          </p:cNvSpPr>
          <p:nvPr/>
        </p:nvSpPr>
        <p:spPr>
          <a:xfrm xmlns:a="http://schemas.openxmlformats.org/drawingml/2006/main">
            <a:off x="514350" y="1771650"/>
            <a:ext cx="1943100" cy="57150"/>
          </a:xfrm>
          <a:prstGeom xmlns:a="http://schemas.openxmlformats.org/drawingml/2006/main" prst="rect">
            <a:avLst/>
          </a:prstGeom>
          <a:solidFill xmlns:a="http://schemas.openxmlformats.org/drawingml/2006/main">
            <a:srgbClr val="1E293B"/>
          </a:solidFill>
          <a:ln xmlns:a="http://schemas.openxmlformats.org/drawingml/2006/main" w="0">
            <a:solidFill>
              <a:srgbClr val="000000">
                <a:alpha val="0"/>
              </a:srgbClr>
            </a:solidFill>
            <a:prstDash val="solid"/>
          </a:ln>
        </p:spPr>
      </p:sp>
      <p:sp>
        <p:nvSpPr>
          <p:cNvPr id="6" name="SmallText">
            <a:extLst xmlns:a="http://schemas.openxmlformats.org/drawingml/2006/main">
              <a:ext uri="{FF2B5EF4-FFF2-40B4-BE49-F238E27FC236}">
                <a16:creationId xmlns:a16="http://schemas.microsoft.com/office/drawing/2014/main" id="{5606D76A-AAAA-4A66-8FC8-EAEFDABC9DB2}"/>
              </a:ext>
            </a:extLst>
          </p:cNvPr>
          <p:cNvSpPr>
            <a:spLocks xmlns:a="http://schemas.openxmlformats.org/drawingml/2006/main" noGrp="1"/>
          </p:cNvSpPr>
          <p:nvPr/>
        </p:nvSpPr>
        <p:spPr>
          <a:xfrm xmlns:a="http://schemas.openxmlformats.org/drawingml/2006/main">
            <a:off x="685800" y="1943100"/>
            <a:ext cx="16002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ROWS CHECKED</a:t>
            </a:r>
          </a:p>
        </p:txBody>
      </p:sp>
      <p:sp>
        <p:nvSpPr>
          <p:cNvPr id="7" name="MetricValue">
            <a:extLst xmlns:a="http://schemas.openxmlformats.org/drawingml/2006/main">
              <a:ext uri="{FF2B5EF4-FFF2-40B4-BE49-F238E27FC236}">
                <a16:creationId xmlns:a16="http://schemas.microsoft.com/office/drawing/2014/main" id="{FE8B902C-E145-46D2-BDFC-8771F51A7C14}"/>
              </a:ext>
            </a:extLst>
          </p:cNvPr>
          <p:cNvSpPr>
            <a:spLocks xmlns:a="http://schemas.openxmlformats.org/drawingml/2006/main" noGrp="1"/>
          </p:cNvSpPr>
          <p:nvPr/>
        </p:nvSpPr>
        <p:spPr>
          <a:xfrm xmlns:a="http://schemas.openxmlformats.org/drawingml/2006/main">
            <a:off x="685800" y="2209800"/>
            <a:ext cx="16002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49</a:t>
            </a:r>
          </a:p>
        </p:txBody>
      </p:sp>
      <p:sp>
        <p:nvSpPr>
          <p:cNvPr id="8" name="MetricCard">
            <a:extLst xmlns:a="http://schemas.openxmlformats.org/drawingml/2006/main">
              <a:ext uri="{FF2B5EF4-FFF2-40B4-BE49-F238E27FC236}">
                <a16:creationId xmlns:a16="http://schemas.microsoft.com/office/drawing/2014/main" id="{04556C49-CDC4-4702-8276-20D3A32ABDFD}"/>
              </a:ext>
            </a:extLst>
          </p:cNvPr>
          <p:cNvSpPr>
            <a:spLocks xmlns:a="http://schemas.openxmlformats.org/drawingml/2006/main" noGrp="1"/>
          </p:cNvSpPr>
          <p:nvPr/>
        </p:nvSpPr>
        <p:spPr>
          <a:xfrm xmlns:a="http://schemas.openxmlformats.org/drawingml/2006/main">
            <a:off x="2647950" y="1771650"/>
            <a:ext cx="1943100" cy="1028700"/>
          </a:xfrm>
          <a:prstGeom xmlns:a="http://schemas.openxmlformats.org/drawingml/2006/main" prst="rect">
            <a:avLst/>
          </a:prstGeom>
          <a:solidFill xmlns:a="http://schemas.openxmlformats.org/drawingml/2006/main">
            <a:srgbClr val="EEF3FB"/>
          </a:solidFill>
          <a:ln xmlns:a="http://schemas.openxmlformats.org/drawingml/2006/main" w="9525">
            <a:solidFill>
              <a:srgbClr val="D7CEC0"/>
            </a:solidFill>
            <a:prstDash val="solid"/>
          </a:ln>
        </p:spPr>
      </p:sp>
      <p:sp>
        <p:nvSpPr>
          <p:cNvPr id="9" name="Rule">
            <a:extLst xmlns:a="http://schemas.openxmlformats.org/drawingml/2006/main">
              <a:ext uri="{FF2B5EF4-FFF2-40B4-BE49-F238E27FC236}">
                <a16:creationId xmlns:a16="http://schemas.microsoft.com/office/drawing/2014/main" id="{55EF531E-32F7-4DA8-A2F0-2F2ACD935D92}"/>
              </a:ext>
            </a:extLst>
          </p:cNvPr>
          <p:cNvSpPr>
            <a:spLocks xmlns:a="http://schemas.openxmlformats.org/drawingml/2006/main" noGrp="1"/>
          </p:cNvSpPr>
          <p:nvPr/>
        </p:nvSpPr>
        <p:spPr>
          <a:xfrm xmlns:a="http://schemas.openxmlformats.org/drawingml/2006/main">
            <a:off x="2647950" y="1771650"/>
            <a:ext cx="1943100" cy="571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0" name="SmallText">
            <a:extLst xmlns:a="http://schemas.openxmlformats.org/drawingml/2006/main">
              <a:ext uri="{FF2B5EF4-FFF2-40B4-BE49-F238E27FC236}">
                <a16:creationId xmlns:a16="http://schemas.microsoft.com/office/drawing/2014/main" id="{4F62A48A-DE91-4704-A3DB-B08C55FCA981}"/>
              </a:ext>
            </a:extLst>
          </p:cNvPr>
          <p:cNvSpPr>
            <a:spLocks xmlns:a="http://schemas.openxmlformats.org/drawingml/2006/main" noGrp="1"/>
          </p:cNvSpPr>
          <p:nvPr/>
        </p:nvSpPr>
        <p:spPr>
          <a:xfrm xmlns:a="http://schemas.openxmlformats.org/drawingml/2006/main">
            <a:off x="2819400" y="1943100"/>
            <a:ext cx="16002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LAU MATCHED</a:t>
            </a:r>
          </a:p>
        </p:txBody>
      </p:sp>
      <p:sp>
        <p:nvSpPr>
          <p:cNvPr id="11" name="MetricValue">
            <a:extLst xmlns:a="http://schemas.openxmlformats.org/drawingml/2006/main">
              <a:ext uri="{FF2B5EF4-FFF2-40B4-BE49-F238E27FC236}">
                <a16:creationId xmlns:a16="http://schemas.microsoft.com/office/drawing/2014/main" id="{53A29DD5-700D-498F-996E-37A062D3245D}"/>
              </a:ext>
            </a:extLst>
          </p:cNvPr>
          <p:cNvSpPr>
            <a:spLocks xmlns:a="http://schemas.openxmlformats.org/drawingml/2006/main" noGrp="1"/>
          </p:cNvSpPr>
          <p:nvPr/>
        </p:nvSpPr>
        <p:spPr>
          <a:xfrm xmlns:a="http://schemas.openxmlformats.org/drawingml/2006/main">
            <a:off x="2819400" y="2209800"/>
            <a:ext cx="16002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44</a:t>
            </a:r>
          </a:p>
        </p:txBody>
      </p:sp>
      <p:sp>
        <p:nvSpPr>
          <p:cNvPr id="12" name="MetricCard">
            <a:extLst xmlns:a="http://schemas.openxmlformats.org/drawingml/2006/main">
              <a:ext uri="{FF2B5EF4-FFF2-40B4-BE49-F238E27FC236}">
                <a16:creationId xmlns:a16="http://schemas.microsoft.com/office/drawing/2014/main" id="{73788FEF-B65E-450F-8704-F70405364F5C}"/>
              </a:ext>
            </a:extLst>
          </p:cNvPr>
          <p:cNvSpPr>
            <a:spLocks xmlns:a="http://schemas.openxmlformats.org/drawingml/2006/main" noGrp="1"/>
          </p:cNvSpPr>
          <p:nvPr/>
        </p:nvSpPr>
        <p:spPr>
          <a:xfrm xmlns:a="http://schemas.openxmlformats.org/drawingml/2006/main">
            <a:off x="4781550" y="1771650"/>
            <a:ext cx="1943100" cy="1028700"/>
          </a:xfrm>
          <a:prstGeom xmlns:a="http://schemas.openxmlformats.org/drawingml/2006/main" prst="rect">
            <a:avLst/>
          </a:prstGeom>
          <a:solidFill xmlns:a="http://schemas.openxmlformats.org/drawingml/2006/main">
            <a:srgbClr val="EAF5F3"/>
          </a:solidFill>
          <a:ln xmlns:a="http://schemas.openxmlformats.org/drawingml/2006/main" w="9525">
            <a:solidFill>
              <a:srgbClr val="D7CEC0"/>
            </a:solidFill>
            <a:prstDash val="solid"/>
          </a:ln>
        </p:spPr>
      </p:sp>
      <p:sp>
        <p:nvSpPr>
          <p:cNvPr id="13" name="Rule">
            <a:extLst xmlns:a="http://schemas.openxmlformats.org/drawingml/2006/main">
              <a:ext uri="{FF2B5EF4-FFF2-40B4-BE49-F238E27FC236}">
                <a16:creationId xmlns:a16="http://schemas.microsoft.com/office/drawing/2014/main" id="{67D757F8-284E-45FB-AA76-0BBA5D7CA84A}"/>
              </a:ext>
            </a:extLst>
          </p:cNvPr>
          <p:cNvSpPr>
            <a:spLocks xmlns:a="http://schemas.openxmlformats.org/drawingml/2006/main" noGrp="1"/>
          </p:cNvSpPr>
          <p:nvPr/>
        </p:nvSpPr>
        <p:spPr>
          <a:xfrm xmlns:a="http://schemas.openxmlformats.org/drawingml/2006/main">
            <a:off x="4781550" y="1771650"/>
            <a:ext cx="1943100" cy="5715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14" name="SmallText">
            <a:extLst xmlns:a="http://schemas.openxmlformats.org/drawingml/2006/main">
              <a:ext uri="{FF2B5EF4-FFF2-40B4-BE49-F238E27FC236}">
                <a16:creationId xmlns:a16="http://schemas.microsoft.com/office/drawing/2014/main" id="{7F1F9ACE-11D6-437C-AD5F-E035A2C7526E}"/>
              </a:ext>
            </a:extLst>
          </p:cNvPr>
          <p:cNvSpPr>
            <a:spLocks xmlns:a="http://schemas.openxmlformats.org/drawingml/2006/main" noGrp="1"/>
          </p:cNvSpPr>
          <p:nvPr/>
        </p:nvSpPr>
        <p:spPr>
          <a:xfrm xmlns:a="http://schemas.openxmlformats.org/drawingml/2006/main">
            <a:off x="4953000" y="1943100"/>
            <a:ext cx="16002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ANY JRC EVENT IN LAU</a:t>
            </a:r>
          </a:p>
        </p:txBody>
      </p:sp>
      <p:sp>
        <p:nvSpPr>
          <p:cNvPr id="15" name="MetricValue">
            <a:extLst xmlns:a="http://schemas.openxmlformats.org/drawingml/2006/main">
              <a:ext uri="{FF2B5EF4-FFF2-40B4-BE49-F238E27FC236}">
                <a16:creationId xmlns:a16="http://schemas.microsoft.com/office/drawing/2014/main" id="{AB7B9BD1-DF6D-4A49-B21F-EAAEABAE2806}"/>
              </a:ext>
            </a:extLst>
          </p:cNvPr>
          <p:cNvSpPr>
            <a:spLocks xmlns:a="http://schemas.openxmlformats.org/drawingml/2006/main" noGrp="1"/>
          </p:cNvSpPr>
          <p:nvPr/>
        </p:nvSpPr>
        <p:spPr>
          <a:xfrm xmlns:a="http://schemas.openxmlformats.org/drawingml/2006/main">
            <a:off x="4953000" y="2209800"/>
            <a:ext cx="16002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8</a:t>
            </a:r>
          </a:p>
        </p:txBody>
      </p:sp>
      <p:sp>
        <p:nvSpPr>
          <p:cNvPr id="16" name="MetricCard">
            <a:extLst xmlns:a="http://schemas.openxmlformats.org/drawingml/2006/main">
              <a:ext uri="{FF2B5EF4-FFF2-40B4-BE49-F238E27FC236}">
                <a16:creationId xmlns:a16="http://schemas.microsoft.com/office/drawing/2014/main" id="{E670CC6F-A180-4A29-B0E2-2951A8080A72}"/>
              </a:ext>
            </a:extLst>
          </p:cNvPr>
          <p:cNvSpPr>
            <a:spLocks xmlns:a="http://schemas.openxmlformats.org/drawingml/2006/main" noGrp="1"/>
          </p:cNvSpPr>
          <p:nvPr/>
        </p:nvSpPr>
        <p:spPr>
          <a:xfrm xmlns:a="http://schemas.openxmlformats.org/drawingml/2006/main">
            <a:off x="6915150" y="1771650"/>
            <a:ext cx="1943100" cy="1028700"/>
          </a:xfrm>
          <a:prstGeom xmlns:a="http://schemas.openxmlformats.org/drawingml/2006/main" prst="rect">
            <a:avLst/>
          </a:prstGeom>
          <a:solidFill xmlns:a="http://schemas.openxmlformats.org/drawingml/2006/main">
            <a:srgbClr val="FBEEE9"/>
          </a:solidFill>
          <a:ln xmlns:a="http://schemas.openxmlformats.org/drawingml/2006/main" w="9525">
            <a:solidFill>
              <a:srgbClr val="D7CEC0"/>
            </a:solidFill>
            <a:prstDash val="solid"/>
          </a:ln>
        </p:spPr>
      </p:sp>
      <p:sp>
        <p:nvSpPr>
          <p:cNvPr id="17" name="Rule">
            <a:extLst xmlns:a="http://schemas.openxmlformats.org/drawingml/2006/main">
              <a:ext uri="{FF2B5EF4-FFF2-40B4-BE49-F238E27FC236}">
                <a16:creationId xmlns:a16="http://schemas.microsoft.com/office/drawing/2014/main" id="{455D4535-0C14-42B1-9D91-07E94DDE7B09}"/>
              </a:ext>
            </a:extLst>
          </p:cNvPr>
          <p:cNvSpPr>
            <a:spLocks xmlns:a="http://schemas.openxmlformats.org/drawingml/2006/main" noGrp="1"/>
          </p:cNvSpPr>
          <p:nvPr/>
        </p:nvSpPr>
        <p:spPr>
          <a:xfrm xmlns:a="http://schemas.openxmlformats.org/drawingml/2006/main">
            <a:off x="6915150" y="1771650"/>
            <a:ext cx="1943100" cy="571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8" name="SmallText">
            <a:extLst xmlns:a="http://schemas.openxmlformats.org/drawingml/2006/main">
              <a:ext uri="{FF2B5EF4-FFF2-40B4-BE49-F238E27FC236}">
                <a16:creationId xmlns:a16="http://schemas.microsoft.com/office/drawing/2014/main" id="{B6B68911-6F38-4851-BCCA-A99BD870C4EC}"/>
              </a:ext>
            </a:extLst>
          </p:cNvPr>
          <p:cNvSpPr>
            <a:spLocks xmlns:a="http://schemas.openxmlformats.org/drawingml/2006/main" noGrp="1"/>
          </p:cNvSpPr>
          <p:nvPr/>
        </p:nvSpPr>
        <p:spPr>
          <a:xfrm xmlns:a="http://schemas.openxmlformats.org/drawingml/2006/main">
            <a:off x="7086600" y="1943100"/>
            <a:ext cx="16002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POSITIVE LOCAL HIT</a:t>
            </a:r>
          </a:p>
        </p:txBody>
      </p:sp>
      <p:sp>
        <p:nvSpPr>
          <p:cNvPr id="19" name="MetricValue">
            <a:extLst xmlns:a="http://schemas.openxmlformats.org/drawingml/2006/main">
              <a:ext uri="{FF2B5EF4-FFF2-40B4-BE49-F238E27FC236}">
                <a16:creationId xmlns:a16="http://schemas.microsoft.com/office/drawing/2014/main" id="{AB0EB885-C5D1-407A-8F46-4CB2F57DDBF0}"/>
              </a:ext>
            </a:extLst>
          </p:cNvPr>
          <p:cNvSpPr>
            <a:spLocks xmlns:a="http://schemas.openxmlformats.org/drawingml/2006/main" noGrp="1"/>
          </p:cNvSpPr>
          <p:nvPr/>
        </p:nvSpPr>
        <p:spPr>
          <a:xfrm xmlns:a="http://schemas.openxmlformats.org/drawingml/2006/main">
            <a:off x="7086600" y="2209800"/>
            <a:ext cx="16002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1</a:t>
            </a:r>
          </a:p>
        </p:txBody>
      </p:sp>
      <p:sp>
        <p:nvSpPr>
          <p:cNvPr id="20" name="MetricCard">
            <a:extLst xmlns:a="http://schemas.openxmlformats.org/drawingml/2006/main">
              <a:ext uri="{FF2B5EF4-FFF2-40B4-BE49-F238E27FC236}">
                <a16:creationId xmlns:a16="http://schemas.microsoft.com/office/drawing/2014/main" id="{FC3B7A2C-3F13-46D2-9798-EAE422D02B77}"/>
              </a:ext>
            </a:extLst>
          </p:cNvPr>
          <p:cNvSpPr>
            <a:spLocks xmlns:a="http://schemas.openxmlformats.org/drawingml/2006/main" noGrp="1"/>
          </p:cNvSpPr>
          <p:nvPr/>
        </p:nvSpPr>
        <p:spPr>
          <a:xfrm xmlns:a="http://schemas.openxmlformats.org/drawingml/2006/main">
            <a:off x="9048750" y="1771650"/>
            <a:ext cx="1943100" cy="1028700"/>
          </a:xfrm>
          <a:prstGeom xmlns:a="http://schemas.openxmlformats.org/drawingml/2006/main" prst="rect">
            <a:avLst/>
          </a:prstGeom>
          <a:solidFill xmlns:a="http://schemas.openxmlformats.org/drawingml/2006/main">
            <a:srgbClr val="F7F1D9"/>
          </a:solidFill>
          <a:ln xmlns:a="http://schemas.openxmlformats.org/drawingml/2006/main" w="9525">
            <a:solidFill>
              <a:srgbClr val="D7CEC0"/>
            </a:solidFill>
            <a:prstDash val="solid"/>
          </a:ln>
        </p:spPr>
      </p:sp>
      <p:sp>
        <p:nvSpPr>
          <p:cNvPr id="21" name="Rule">
            <a:extLst xmlns:a="http://schemas.openxmlformats.org/drawingml/2006/main">
              <a:ext uri="{FF2B5EF4-FFF2-40B4-BE49-F238E27FC236}">
                <a16:creationId xmlns:a16="http://schemas.microsoft.com/office/drawing/2014/main" id="{9830BCF5-F5E5-4310-81D7-ED435603E775}"/>
              </a:ext>
            </a:extLst>
          </p:cNvPr>
          <p:cNvSpPr>
            <a:spLocks xmlns:a="http://schemas.openxmlformats.org/drawingml/2006/main" noGrp="1"/>
          </p:cNvSpPr>
          <p:nvPr/>
        </p:nvSpPr>
        <p:spPr>
          <a:xfrm xmlns:a="http://schemas.openxmlformats.org/drawingml/2006/main">
            <a:off x="9048750" y="1771650"/>
            <a:ext cx="1943100" cy="57150"/>
          </a:xfrm>
          <a:prstGeom xmlns:a="http://schemas.openxmlformats.org/drawingml/2006/main" prst="rect">
            <a:avLst/>
          </a:prstGeom>
          <a:solidFill xmlns:a="http://schemas.openxmlformats.org/drawingml/2006/main">
            <a:srgbClr val="D4A72C"/>
          </a:solidFill>
          <a:ln xmlns:a="http://schemas.openxmlformats.org/drawingml/2006/main" w="0">
            <a:solidFill>
              <a:srgbClr val="000000">
                <a:alpha val="0"/>
              </a:srgbClr>
            </a:solidFill>
            <a:prstDash val="solid"/>
          </a:ln>
        </p:spPr>
      </p:sp>
      <p:sp>
        <p:nvSpPr>
          <p:cNvPr id="22" name="SmallText">
            <a:extLst xmlns:a="http://schemas.openxmlformats.org/drawingml/2006/main">
              <a:ext uri="{FF2B5EF4-FFF2-40B4-BE49-F238E27FC236}">
                <a16:creationId xmlns:a16="http://schemas.microsoft.com/office/drawing/2014/main" id="{1E97C191-6C6E-491D-BD8F-9916C49C355D}"/>
              </a:ext>
            </a:extLst>
          </p:cNvPr>
          <p:cNvSpPr>
            <a:spLocks xmlns:a="http://schemas.openxmlformats.org/drawingml/2006/main" noGrp="1"/>
          </p:cNvSpPr>
          <p:nvPr/>
        </p:nvSpPr>
        <p:spPr>
          <a:xfrm xmlns:a="http://schemas.openxmlformats.org/drawingml/2006/main">
            <a:off x="9220200" y="1943100"/>
            <a:ext cx="16002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POSITIVE EVENT HITS</a:t>
            </a:r>
          </a:p>
        </p:txBody>
      </p:sp>
      <p:sp>
        <p:nvSpPr>
          <p:cNvPr id="23" name="MetricValue">
            <a:extLst xmlns:a="http://schemas.openxmlformats.org/drawingml/2006/main">
              <a:ext uri="{FF2B5EF4-FFF2-40B4-BE49-F238E27FC236}">
                <a16:creationId xmlns:a16="http://schemas.microsoft.com/office/drawing/2014/main" id="{1986D92A-F2A3-40BC-9F5D-59B67A981242}"/>
              </a:ext>
            </a:extLst>
          </p:cNvPr>
          <p:cNvSpPr>
            <a:spLocks xmlns:a="http://schemas.openxmlformats.org/drawingml/2006/main" noGrp="1"/>
          </p:cNvSpPr>
          <p:nvPr/>
        </p:nvSpPr>
        <p:spPr>
          <a:xfrm xmlns:a="http://schemas.openxmlformats.org/drawingml/2006/main">
            <a:off x="9220200" y="2209800"/>
            <a:ext cx="16002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0F172A"/>
                </a:solidFill>
                <a:latin typeface="Aptos Display"/>
                <a:ea typeface="Aptos Display"/>
                <a:cs typeface="Aptos Display"/>
              </a:defRPr>
            </a:pPr>
            <a:r>
              <a:rPr sz="2100" b="1">
                <a:solidFill>
                  <a:srgbClr val="0F172A"/>
                </a:solidFill>
                <a:latin typeface="Aptos Display"/>
                <a:ea typeface="Aptos Display"/>
                <a:cs typeface="Aptos Display"/>
              </a:rPr>
              <a:t>4</a:t>
            </a:r>
          </a:p>
        </p:txBody>
      </p:sp>
      <p:sp>
        <p:nvSpPr>
          <p:cNvPr id="24" name="RulePanel">
            <a:extLst xmlns:a="http://schemas.openxmlformats.org/drawingml/2006/main">
              <a:ext uri="{FF2B5EF4-FFF2-40B4-BE49-F238E27FC236}">
                <a16:creationId xmlns:a16="http://schemas.microsoft.com/office/drawing/2014/main" id="{1A6F29AC-6CEC-44D2-9B71-4C01143E78AD}"/>
              </a:ext>
            </a:extLst>
          </p:cNvPr>
          <p:cNvSpPr>
            <a:spLocks xmlns:a="http://schemas.openxmlformats.org/drawingml/2006/main" noGrp="1"/>
          </p:cNvSpPr>
          <p:nvPr/>
        </p:nvSpPr>
        <p:spPr>
          <a:xfrm xmlns:a="http://schemas.openxmlformats.org/drawingml/2006/main">
            <a:off x="514350" y="3086100"/>
            <a:ext cx="4762500" cy="28765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25" name="BodyText">
            <a:extLst xmlns:a="http://schemas.openxmlformats.org/drawingml/2006/main">
              <a:ext uri="{FF2B5EF4-FFF2-40B4-BE49-F238E27FC236}">
                <a16:creationId xmlns:a16="http://schemas.microsoft.com/office/drawing/2014/main" id="{97AA17D7-E220-43DC-B989-D7B72895E468}"/>
              </a:ext>
            </a:extLst>
          </p:cNvPr>
          <p:cNvSpPr>
            <a:spLocks xmlns:a="http://schemas.openxmlformats.org/drawingml/2006/main" noGrp="1"/>
          </p:cNvSpPr>
          <p:nvPr/>
        </p:nvSpPr>
        <p:spPr>
          <a:xfrm xmlns:a="http://schemas.openxmlformats.org/drawingml/2006/main">
            <a:off x="742950" y="3295650"/>
            <a:ext cx="2667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Applied rule</a:t>
            </a:r>
          </a:p>
        </p:txBody>
      </p:sp>
      <p:sp>
        <p:nvSpPr>
          <p:cNvPr id="26" name="Bullet1">
            <a:extLst xmlns:a="http://schemas.openxmlformats.org/drawingml/2006/main">
              <a:ext uri="{FF2B5EF4-FFF2-40B4-BE49-F238E27FC236}">
                <a16:creationId xmlns:a16="http://schemas.microsoft.com/office/drawing/2014/main" id="{D896E33D-F13B-44C5-9091-EFD445FD3F86}"/>
              </a:ext>
            </a:extLst>
          </p:cNvPr>
          <p:cNvSpPr>
            <a:spLocks xmlns:a="http://schemas.openxmlformats.org/drawingml/2006/main" noGrp="1"/>
          </p:cNvSpPr>
          <p:nvPr/>
        </p:nvSpPr>
        <p:spPr>
          <a:xfrm xmlns:a="http://schemas.openxmlformats.org/drawingml/2006/main">
            <a:off x="742950" y="38100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27" name="BulletText1">
            <a:extLst xmlns:a="http://schemas.openxmlformats.org/drawingml/2006/main">
              <a:ext uri="{FF2B5EF4-FFF2-40B4-BE49-F238E27FC236}">
                <a16:creationId xmlns:a16="http://schemas.microsoft.com/office/drawing/2014/main" id="{D4D7E052-980F-4EE9-9763-E1BC61B90775}"/>
              </a:ext>
            </a:extLst>
          </p:cNvPr>
          <p:cNvSpPr>
            <a:spLocks xmlns:a="http://schemas.openxmlformats.org/drawingml/2006/main" noGrp="1"/>
          </p:cNvSpPr>
          <p:nvPr/>
        </p:nvSpPr>
        <p:spPr>
          <a:xfrm xmlns:a="http://schemas.openxmlformats.org/drawingml/2006/main">
            <a:off x="952500" y="3733800"/>
            <a:ext cx="39624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Map each LAT / LONG point to a French LAU.</a:t>
            </a:r>
          </a:p>
        </p:txBody>
      </p:sp>
      <p:sp>
        <p:nvSpPr>
          <p:cNvPr id="28" name="Bullet2">
            <a:extLst xmlns:a="http://schemas.openxmlformats.org/drawingml/2006/main">
              <a:ext uri="{FF2B5EF4-FFF2-40B4-BE49-F238E27FC236}">
                <a16:creationId xmlns:a16="http://schemas.microsoft.com/office/drawing/2014/main" id="{1643E143-4A9F-46B5-AF7C-BB8230289557}"/>
              </a:ext>
            </a:extLst>
          </p:cNvPr>
          <p:cNvSpPr>
            <a:spLocks xmlns:a="http://schemas.openxmlformats.org/drawingml/2006/main" noGrp="1"/>
          </p:cNvSpPr>
          <p:nvPr/>
        </p:nvSpPr>
        <p:spPr>
          <a:xfrm xmlns:a="http://schemas.openxmlformats.org/drawingml/2006/main">
            <a:off x="742950" y="436245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29" name="BulletText2">
            <a:extLst xmlns:a="http://schemas.openxmlformats.org/drawingml/2006/main">
              <a:ext uri="{FF2B5EF4-FFF2-40B4-BE49-F238E27FC236}">
                <a16:creationId xmlns:a16="http://schemas.microsoft.com/office/drawing/2014/main" id="{1526BDF8-E480-49A9-8A6B-A38043EF4AFC}"/>
              </a:ext>
            </a:extLst>
          </p:cNvPr>
          <p:cNvSpPr>
            <a:spLocks xmlns:a="http://schemas.openxmlformats.org/drawingml/2006/main" noGrp="1"/>
          </p:cNvSpPr>
          <p:nvPr/>
        </p:nvSpPr>
        <p:spPr>
          <a:xfrm xmlns:a="http://schemas.openxmlformats.org/drawingml/2006/main">
            <a:off x="952500" y="4286250"/>
            <a:ext cx="39624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Keep only JRC events touching that LAU.</a:t>
            </a:r>
          </a:p>
        </p:txBody>
      </p:sp>
      <p:sp>
        <p:nvSpPr>
          <p:cNvPr id="30" name="Bullet3">
            <a:extLst xmlns:a="http://schemas.openxmlformats.org/drawingml/2006/main">
              <a:ext uri="{FF2B5EF4-FFF2-40B4-BE49-F238E27FC236}">
                <a16:creationId xmlns:a16="http://schemas.microsoft.com/office/drawing/2014/main" id="{41638708-C75A-43E4-B7E8-69551309AF42}"/>
              </a:ext>
            </a:extLst>
          </p:cNvPr>
          <p:cNvSpPr>
            <a:spLocks xmlns:a="http://schemas.openxmlformats.org/drawingml/2006/main" noGrp="1"/>
          </p:cNvSpPr>
          <p:nvPr/>
        </p:nvSpPr>
        <p:spPr>
          <a:xfrm xmlns:a="http://schemas.openxmlformats.org/drawingml/2006/main">
            <a:off x="742950" y="49149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31" name="BulletText3">
            <a:extLst xmlns:a="http://schemas.openxmlformats.org/drawingml/2006/main">
              <a:ext uri="{FF2B5EF4-FFF2-40B4-BE49-F238E27FC236}">
                <a16:creationId xmlns:a16="http://schemas.microsoft.com/office/drawing/2014/main" id="{DE6AC04D-8985-45E1-915E-0DA8D93334DB}"/>
              </a:ext>
            </a:extLst>
          </p:cNvPr>
          <p:cNvSpPr>
            <a:spLocks xmlns:a="http://schemas.openxmlformats.org/drawingml/2006/main" noGrp="1"/>
          </p:cNvSpPr>
          <p:nvPr/>
        </p:nvSpPr>
        <p:spPr>
          <a:xfrm xmlns:a="http://schemas.openxmlformats.org/drawingml/2006/main">
            <a:off x="952500" y="4838700"/>
            <a:ext cx="39624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Use full history up to Closed_Default_Date, or Cut_off_Date when needed.</a:t>
            </a:r>
          </a:p>
        </p:txBody>
      </p:sp>
      <p:sp>
        <p:nvSpPr>
          <p:cNvPr id="32" name="Bullet4">
            <a:extLst xmlns:a="http://schemas.openxmlformats.org/drawingml/2006/main">
              <a:ext uri="{FF2B5EF4-FFF2-40B4-BE49-F238E27FC236}">
                <a16:creationId xmlns:a16="http://schemas.microsoft.com/office/drawing/2014/main" id="{64D4F084-46CA-4FD2-9E2B-501CC334DA8D}"/>
              </a:ext>
            </a:extLst>
          </p:cNvPr>
          <p:cNvSpPr>
            <a:spLocks xmlns:a="http://schemas.openxmlformats.org/drawingml/2006/main" noGrp="1"/>
          </p:cNvSpPr>
          <p:nvPr/>
        </p:nvSpPr>
        <p:spPr>
          <a:xfrm xmlns:a="http://schemas.openxmlformats.org/drawingml/2006/main">
            <a:off x="742950" y="546735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33" name="BulletText4">
            <a:extLst xmlns:a="http://schemas.openxmlformats.org/drawingml/2006/main">
              <a:ext uri="{FF2B5EF4-FFF2-40B4-BE49-F238E27FC236}">
                <a16:creationId xmlns:a16="http://schemas.microsoft.com/office/drawing/2014/main" id="{321026B8-DD12-4BFD-915F-6A779E1AF53B}"/>
              </a:ext>
            </a:extLst>
          </p:cNvPr>
          <p:cNvSpPr>
            <a:spLocks xmlns:a="http://schemas.openxmlformats.org/drawingml/2006/main" noGrp="1"/>
          </p:cNvSpPr>
          <p:nvPr/>
        </p:nvSpPr>
        <p:spPr>
          <a:xfrm xmlns:a="http://schemas.openxmlformats.org/drawingml/2006/main">
            <a:off x="952500" y="5391150"/>
            <a:ext cx="39624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275" b="0">
                <a:solidFill>
                  <a:srgbClr val="0F172A"/>
                </a:solidFill>
                <a:latin typeface="Aptos"/>
                <a:ea typeface="Aptos"/>
                <a:cs typeface="Aptos"/>
              </a:defRPr>
            </a:pPr>
            <a:r>
              <a:rPr sz="1275" b="0">
                <a:solidFill>
                  <a:srgbClr val="0F172A"/>
                </a:solidFill>
                <a:latin typeface="Aptos"/>
                <a:ea typeface="Aptos"/>
                <a:cs typeface="Aptos"/>
              </a:rPr>
              <a:t>Check local flood pixels in a 40 m point buffer and a 1 km surrounding buffer.</a:t>
            </a:r>
          </a:p>
        </p:txBody>
      </p:sp>
      <p:sp>
        <p:nvSpPr>
          <p:cNvPr id="34" name="DecisionPanel">
            <a:extLst xmlns:a="http://schemas.openxmlformats.org/drawingml/2006/main">
              <a:ext uri="{FF2B5EF4-FFF2-40B4-BE49-F238E27FC236}">
                <a16:creationId xmlns:a16="http://schemas.microsoft.com/office/drawing/2014/main" id="{866FB172-9724-4DBD-B9BB-584A63044933}"/>
              </a:ext>
            </a:extLst>
          </p:cNvPr>
          <p:cNvSpPr>
            <a:spLocks xmlns:a="http://schemas.openxmlformats.org/drawingml/2006/main" noGrp="1"/>
          </p:cNvSpPr>
          <p:nvPr/>
        </p:nvSpPr>
        <p:spPr>
          <a:xfrm xmlns:a="http://schemas.openxmlformats.org/drawingml/2006/main">
            <a:off x="5505450" y="3086100"/>
            <a:ext cx="5638800" cy="287655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35" name="BodyText">
            <a:extLst xmlns:a="http://schemas.openxmlformats.org/drawingml/2006/main">
              <a:ext uri="{FF2B5EF4-FFF2-40B4-BE49-F238E27FC236}">
                <a16:creationId xmlns:a16="http://schemas.microsoft.com/office/drawing/2014/main" id="{AB18583F-3470-41B1-8F1B-365B159ABCB9}"/>
              </a:ext>
            </a:extLst>
          </p:cNvPr>
          <p:cNvSpPr>
            <a:spLocks xmlns:a="http://schemas.openxmlformats.org/drawingml/2006/main" noGrp="1"/>
          </p:cNvSpPr>
          <p:nvPr/>
        </p:nvSpPr>
        <p:spPr>
          <a:xfrm xmlns:a="http://schemas.openxmlformats.org/drawingml/2006/main">
            <a:off x="5734050" y="32956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0F172A"/>
                </a:solidFill>
                <a:latin typeface="Aptos Display"/>
                <a:ea typeface="Aptos Display"/>
                <a:cs typeface="Aptos Display"/>
              </a:defRPr>
            </a:pPr>
            <a:r>
              <a:rPr sz="1725" b="1">
                <a:solidFill>
                  <a:srgbClr val="0F172A"/>
                </a:solidFill>
                <a:latin typeface="Aptos Display"/>
                <a:ea typeface="Aptos Display"/>
                <a:cs typeface="Aptos Display"/>
              </a:rPr>
              <a:t>Decision-path breakdown</a:t>
            </a:r>
          </a:p>
        </p:txBody>
      </p:sp>
      <p:sp>
        <p:nvSpPr>
          <p:cNvPr id="36" name="SmallText">
            <a:extLst xmlns:a="http://schemas.openxmlformats.org/drawingml/2006/main">
              <a:ext uri="{FF2B5EF4-FFF2-40B4-BE49-F238E27FC236}">
                <a16:creationId xmlns:a16="http://schemas.microsoft.com/office/drawing/2014/main" id="{11C6782B-913E-4482-B552-D0D63707B1D4}"/>
              </a:ext>
            </a:extLst>
          </p:cNvPr>
          <p:cNvSpPr>
            <a:spLocks xmlns:a="http://schemas.openxmlformats.org/drawingml/2006/main" noGrp="1"/>
          </p:cNvSpPr>
          <p:nvPr/>
        </p:nvSpPr>
        <p:spPr>
          <a:xfrm xmlns:a="http://schemas.openxmlformats.org/drawingml/2006/main">
            <a:off x="5734050" y="3733800"/>
            <a:ext cx="2667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LAU not touched in processed JRC events</a:t>
            </a:r>
          </a:p>
        </p:txBody>
      </p:sp>
      <p:sp>
        <p:nvSpPr>
          <p:cNvPr id="37" name="SmallText">
            <a:extLst xmlns:a="http://schemas.openxmlformats.org/drawingml/2006/main">
              <a:ext uri="{FF2B5EF4-FFF2-40B4-BE49-F238E27FC236}">
                <a16:creationId xmlns:a16="http://schemas.microsoft.com/office/drawing/2014/main" id="{A863FD39-DA1D-4323-9A40-A20AD8274B84}"/>
              </a:ext>
            </a:extLst>
          </p:cNvPr>
          <p:cNvSpPr>
            <a:spLocks xmlns:a="http://schemas.openxmlformats.org/drawingml/2006/main" noGrp="1"/>
          </p:cNvSpPr>
          <p:nvPr/>
        </p:nvSpPr>
        <p:spPr>
          <a:xfrm xmlns:a="http://schemas.openxmlformats.org/drawingml/2006/main">
            <a:off x="10306050" y="3733800"/>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36</a:t>
            </a:r>
          </a:p>
        </p:txBody>
      </p:sp>
      <p:sp>
        <p:nvSpPr>
          <p:cNvPr id="38" name="DecisionTrack">
            <a:extLst xmlns:a="http://schemas.openxmlformats.org/drawingml/2006/main">
              <a:ext uri="{FF2B5EF4-FFF2-40B4-BE49-F238E27FC236}">
                <a16:creationId xmlns:a16="http://schemas.microsoft.com/office/drawing/2014/main" id="{B8CA9B11-9AA8-4BEC-BEE6-E2CBFF56531A}"/>
              </a:ext>
            </a:extLst>
          </p:cNvPr>
          <p:cNvSpPr>
            <a:spLocks xmlns:a="http://schemas.openxmlformats.org/drawingml/2006/main" noGrp="1"/>
          </p:cNvSpPr>
          <p:nvPr/>
        </p:nvSpPr>
        <p:spPr>
          <a:xfrm xmlns:a="http://schemas.openxmlformats.org/drawingml/2006/main">
            <a:off x="5734050" y="3962400"/>
            <a:ext cx="4953000" cy="15240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39" name="DecisionFill">
            <a:extLst xmlns:a="http://schemas.openxmlformats.org/drawingml/2006/main">
              <a:ext uri="{FF2B5EF4-FFF2-40B4-BE49-F238E27FC236}">
                <a16:creationId xmlns:a16="http://schemas.microsoft.com/office/drawing/2014/main" id="{E011E53C-5CDB-4403-9571-790306F272CA}"/>
              </a:ext>
            </a:extLst>
          </p:cNvPr>
          <p:cNvSpPr>
            <a:spLocks xmlns:a="http://schemas.openxmlformats.org/drawingml/2006/main" noGrp="1"/>
          </p:cNvSpPr>
          <p:nvPr/>
        </p:nvSpPr>
        <p:spPr>
          <a:xfrm xmlns:a="http://schemas.openxmlformats.org/drawingml/2006/main">
            <a:off x="5734050" y="3962400"/>
            <a:ext cx="3638550" cy="15240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40" name="SmallText">
            <a:extLst xmlns:a="http://schemas.openxmlformats.org/drawingml/2006/main">
              <a:ext uri="{FF2B5EF4-FFF2-40B4-BE49-F238E27FC236}">
                <a16:creationId xmlns:a16="http://schemas.microsoft.com/office/drawing/2014/main" id="{B9D4ACB5-F208-498D-8B31-398626DF96BE}"/>
              </a:ext>
            </a:extLst>
          </p:cNvPr>
          <p:cNvSpPr>
            <a:spLocks xmlns:a="http://schemas.openxmlformats.org/drawingml/2006/main" noGrp="1"/>
          </p:cNvSpPr>
          <p:nvPr/>
        </p:nvSpPr>
        <p:spPr>
          <a:xfrm xmlns:a="http://schemas.openxmlformats.org/drawingml/2006/main">
            <a:off x="5734050" y="4267200"/>
            <a:ext cx="2667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Touched, but no local flooded pixel above threshold</a:t>
            </a:r>
          </a:p>
        </p:txBody>
      </p:sp>
      <p:sp>
        <p:nvSpPr>
          <p:cNvPr id="41" name="SmallText">
            <a:extLst xmlns:a="http://schemas.openxmlformats.org/drawingml/2006/main">
              <a:ext uri="{FF2B5EF4-FFF2-40B4-BE49-F238E27FC236}">
                <a16:creationId xmlns:a16="http://schemas.microsoft.com/office/drawing/2014/main" id="{7EC1E55D-9F2F-44F3-8E86-22A680216E85}"/>
              </a:ext>
            </a:extLst>
          </p:cNvPr>
          <p:cNvSpPr>
            <a:spLocks xmlns:a="http://schemas.openxmlformats.org/drawingml/2006/main" noGrp="1"/>
          </p:cNvSpPr>
          <p:nvPr/>
        </p:nvSpPr>
        <p:spPr>
          <a:xfrm xmlns:a="http://schemas.openxmlformats.org/drawingml/2006/main">
            <a:off x="10306050" y="4267200"/>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7</a:t>
            </a:r>
          </a:p>
        </p:txBody>
      </p:sp>
      <p:sp>
        <p:nvSpPr>
          <p:cNvPr id="42" name="DecisionTrack">
            <a:extLst xmlns:a="http://schemas.openxmlformats.org/drawingml/2006/main">
              <a:ext uri="{FF2B5EF4-FFF2-40B4-BE49-F238E27FC236}">
                <a16:creationId xmlns:a16="http://schemas.microsoft.com/office/drawing/2014/main" id="{28A91798-AA26-49D0-9B21-380616AC9E51}"/>
              </a:ext>
            </a:extLst>
          </p:cNvPr>
          <p:cNvSpPr>
            <a:spLocks xmlns:a="http://schemas.openxmlformats.org/drawingml/2006/main" noGrp="1"/>
          </p:cNvSpPr>
          <p:nvPr/>
        </p:nvSpPr>
        <p:spPr>
          <a:xfrm xmlns:a="http://schemas.openxmlformats.org/drawingml/2006/main">
            <a:off x="5734050" y="4495800"/>
            <a:ext cx="4953000" cy="15240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43" name="DecisionFill">
            <a:extLst xmlns:a="http://schemas.openxmlformats.org/drawingml/2006/main">
              <a:ext uri="{FF2B5EF4-FFF2-40B4-BE49-F238E27FC236}">
                <a16:creationId xmlns:a16="http://schemas.microsoft.com/office/drawing/2014/main" id="{DE49AD43-92EF-4F66-82DC-7DEFB935B9AA}"/>
              </a:ext>
            </a:extLst>
          </p:cNvPr>
          <p:cNvSpPr>
            <a:spLocks xmlns:a="http://schemas.openxmlformats.org/drawingml/2006/main" noGrp="1"/>
          </p:cNvSpPr>
          <p:nvPr/>
        </p:nvSpPr>
        <p:spPr>
          <a:xfrm xmlns:a="http://schemas.openxmlformats.org/drawingml/2006/main">
            <a:off x="5734050" y="4495800"/>
            <a:ext cx="704850" cy="152400"/>
          </a:xfrm>
          <a:prstGeom xmlns:a="http://schemas.openxmlformats.org/drawingml/2006/main" prst="rect">
            <a:avLst/>
          </a:prstGeom>
          <a:solidFill xmlns:a="http://schemas.openxmlformats.org/drawingml/2006/main">
            <a:srgbClr val="0F766E"/>
          </a:solidFill>
          <a:ln xmlns:a="http://schemas.openxmlformats.org/drawingml/2006/main" w="0">
            <a:solidFill>
              <a:srgbClr val="000000">
                <a:alpha val="0"/>
              </a:srgbClr>
            </a:solidFill>
            <a:prstDash val="solid"/>
          </a:ln>
        </p:spPr>
      </p:sp>
      <p:sp>
        <p:nvSpPr>
          <p:cNvPr id="44" name="SmallText">
            <a:extLst xmlns:a="http://schemas.openxmlformats.org/drawingml/2006/main">
              <a:ext uri="{FF2B5EF4-FFF2-40B4-BE49-F238E27FC236}">
                <a16:creationId xmlns:a16="http://schemas.microsoft.com/office/drawing/2014/main" id="{C90B7FAA-7E21-4090-B14A-7F72B4E8C343}"/>
              </a:ext>
            </a:extLst>
          </p:cNvPr>
          <p:cNvSpPr>
            <a:spLocks xmlns:a="http://schemas.openxmlformats.org/drawingml/2006/main" noGrp="1"/>
          </p:cNvSpPr>
          <p:nvPr/>
        </p:nvSpPr>
        <p:spPr>
          <a:xfrm xmlns:a="http://schemas.openxmlformats.org/drawingml/2006/main">
            <a:off x="5734050" y="4800600"/>
            <a:ext cx="2667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Point outside LAU polygon</a:t>
            </a:r>
          </a:p>
        </p:txBody>
      </p:sp>
      <p:sp>
        <p:nvSpPr>
          <p:cNvPr id="45" name="SmallText">
            <a:extLst xmlns:a="http://schemas.openxmlformats.org/drawingml/2006/main">
              <a:ext uri="{FF2B5EF4-FFF2-40B4-BE49-F238E27FC236}">
                <a16:creationId xmlns:a16="http://schemas.microsoft.com/office/drawing/2014/main" id="{088CA88A-4236-49CF-8D54-FA946FCDF767}"/>
              </a:ext>
            </a:extLst>
          </p:cNvPr>
          <p:cNvSpPr>
            <a:spLocks xmlns:a="http://schemas.openxmlformats.org/drawingml/2006/main" noGrp="1"/>
          </p:cNvSpPr>
          <p:nvPr/>
        </p:nvSpPr>
        <p:spPr>
          <a:xfrm xmlns:a="http://schemas.openxmlformats.org/drawingml/2006/main">
            <a:off x="10306050" y="4800600"/>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5</a:t>
            </a:r>
          </a:p>
        </p:txBody>
      </p:sp>
      <p:sp>
        <p:nvSpPr>
          <p:cNvPr id="46" name="DecisionTrack">
            <a:extLst xmlns:a="http://schemas.openxmlformats.org/drawingml/2006/main">
              <a:ext uri="{FF2B5EF4-FFF2-40B4-BE49-F238E27FC236}">
                <a16:creationId xmlns:a16="http://schemas.microsoft.com/office/drawing/2014/main" id="{490C7279-E404-44F3-AC81-E407EEC4140F}"/>
              </a:ext>
            </a:extLst>
          </p:cNvPr>
          <p:cNvSpPr>
            <a:spLocks xmlns:a="http://schemas.openxmlformats.org/drawingml/2006/main" noGrp="1"/>
          </p:cNvSpPr>
          <p:nvPr/>
        </p:nvSpPr>
        <p:spPr>
          <a:xfrm xmlns:a="http://schemas.openxmlformats.org/drawingml/2006/main">
            <a:off x="5734050" y="5029200"/>
            <a:ext cx="4953000" cy="15240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47" name="DecisionFill">
            <a:extLst xmlns:a="http://schemas.openxmlformats.org/drawingml/2006/main">
              <a:ext uri="{FF2B5EF4-FFF2-40B4-BE49-F238E27FC236}">
                <a16:creationId xmlns:a16="http://schemas.microsoft.com/office/drawing/2014/main" id="{7B7C8863-6079-4C19-86DA-FF5BC1C0ACF2}"/>
              </a:ext>
            </a:extLst>
          </p:cNvPr>
          <p:cNvSpPr>
            <a:spLocks xmlns:a="http://schemas.openxmlformats.org/drawingml/2006/main" noGrp="1"/>
          </p:cNvSpPr>
          <p:nvPr/>
        </p:nvSpPr>
        <p:spPr>
          <a:xfrm xmlns:a="http://schemas.openxmlformats.org/drawingml/2006/main">
            <a:off x="5734050" y="5029200"/>
            <a:ext cx="504825" cy="152400"/>
          </a:xfrm>
          <a:prstGeom xmlns:a="http://schemas.openxmlformats.org/drawingml/2006/main" prst="rect">
            <a:avLst/>
          </a:prstGeom>
          <a:solidFill xmlns:a="http://schemas.openxmlformats.org/drawingml/2006/main">
            <a:srgbClr val="D4A72C"/>
          </a:solidFill>
          <a:ln xmlns:a="http://schemas.openxmlformats.org/drawingml/2006/main" w="0">
            <a:solidFill>
              <a:srgbClr val="000000">
                <a:alpha val="0"/>
              </a:srgbClr>
            </a:solidFill>
            <a:prstDash val="solid"/>
          </a:ln>
        </p:spPr>
      </p:sp>
      <p:sp>
        <p:nvSpPr>
          <p:cNvPr id="48" name="SmallText">
            <a:extLst xmlns:a="http://schemas.openxmlformats.org/drawingml/2006/main">
              <a:ext uri="{FF2B5EF4-FFF2-40B4-BE49-F238E27FC236}">
                <a16:creationId xmlns:a16="http://schemas.microsoft.com/office/drawing/2014/main" id="{B52A4807-7A07-4CE3-BC40-63904DD5B686}"/>
              </a:ext>
            </a:extLst>
          </p:cNvPr>
          <p:cNvSpPr>
            <a:spLocks xmlns:a="http://schemas.openxmlformats.org/drawingml/2006/main" noGrp="1"/>
          </p:cNvSpPr>
          <p:nvPr/>
        </p:nvSpPr>
        <p:spPr>
          <a:xfrm xmlns:a="http://schemas.openxmlformats.org/drawingml/2006/main">
            <a:off x="5734050" y="5334000"/>
            <a:ext cx="2667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Positive local flood hit</a:t>
            </a:r>
          </a:p>
        </p:txBody>
      </p:sp>
      <p:sp>
        <p:nvSpPr>
          <p:cNvPr id="49" name="SmallText">
            <a:extLst xmlns:a="http://schemas.openxmlformats.org/drawingml/2006/main">
              <a:ext uri="{FF2B5EF4-FFF2-40B4-BE49-F238E27FC236}">
                <a16:creationId xmlns:a16="http://schemas.microsoft.com/office/drawing/2014/main" id="{D440FFA5-1210-4D20-BC75-4300A7A621A6}"/>
              </a:ext>
            </a:extLst>
          </p:cNvPr>
          <p:cNvSpPr>
            <a:spLocks xmlns:a="http://schemas.openxmlformats.org/drawingml/2006/main" noGrp="1"/>
          </p:cNvSpPr>
          <p:nvPr/>
        </p:nvSpPr>
        <p:spPr>
          <a:xfrm xmlns:a="http://schemas.openxmlformats.org/drawingml/2006/main">
            <a:off x="10306050" y="5334000"/>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050" b="0">
                <a:solidFill>
                  <a:srgbClr val="5F6675"/>
                </a:solidFill>
                <a:latin typeface="Aptos"/>
                <a:ea typeface="Aptos"/>
                <a:cs typeface="Aptos"/>
              </a:defRPr>
            </a:pPr>
            <a:r>
              <a:rPr sz="1050" b="0">
                <a:solidFill>
                  <a:srgbClr val="5F6675"/>
                </a:solidFill>
                <a:latin typeface="Aptos"/>
                <a:ea typeface="Aptos"/>
                <a:cs typeface="Aptos"/>
              </a:rPr>
              <a:t>1</a:t>
            </a:r>
          </a:p>
        </p:txBody>
      </p:sp>
      <p:sp>
        <p:nvSpPr>
          <p:cNvPr id="50" name="DecisionTrack">
            <a:extLst xmlns:a="http://schemas.openxmlformats.org/drawingml/2006/main">
              <a:ext uri="{FF2B5EF4-FFF2-40B4-BE49-F238E27FC236}">
                <a16:creationId xmlns:a16="http://schemas.microsoft.com/office/drawing/2014/main" id="{0F46165D-92C0-409F-B6E9-5A3DCFD6DA70}"/>
              </a:ext>
            </a:extLst>
          </p:cNvPr>
          <p:cNvSpPr>
            <a:spLocks xmlns:a="http://schemas.openxmlformats.org/drawingml/2006/main" noGrp="1"/>
          </p:cNvSpPr>
          <p:nvPr/>
        </p:nvSpPr>
        <p:spPr>
          <a:xfrm xmlns:a="http://schemas.openxmlformats.org/drawingml/2006/main">
            <a:off x="5734050" y="5562600"/>
            <a:ext cx="4953000" cy="152400"/>
          </a:xfrm>
          <a:prstGeom xmlns:a="http://schemas.openxmlformats.org/drawingml/2006/main" prst="rect">
            <a:avLst/>
          </a:prstGeom>
          <a:solidFill xmlns:a="http://schemas.openxmlformats.org/drawingml/2006/main">
            <a:srgbClr val="EFE7DB"/>
          </a:solidFill>
          <a:ln xmlns:a="http://schemas.openxmlformats.org/drawingml/2006/main" w="0">
            <a:solidFill>
              <a:srgbClr val="000000">
                <a:alpha val="0"/>
              </a:srgbClr>
            </a:solidFill>
            <a:prstDash val="solid"/>
          </a:ln>
        </p:spPr>
      </p:sp>
      <p:sp>
        <p:nvSpPr>
          <p:cNvPr id="51" name="DecisionFill">
            <a:extLst xmlns:a="http://schemas.openxmlformats.org/drawingml/2006/main">
              <a:ext uri="{FF2B5EF4-FFF2-40B4-BE49-F238E27FC236}">
                <a16:creationId xmlns:a16="http://schemas.microsoft.com/office/drawing/2014/main" id="{7D2DB65D-78F1-4836-AABD-48929946CE14}"/>
              </a:ext>
            </a:extLst>
          </p:cNvPr>
          <p:cNvSpPr>
            <a:spLocks xmlns:a="http://schemas.openxmlformats.org/drawingml/2006/main" noGrp="1"/>
          </p:cNvSpPr>
          <p:nvPr/>
        </p:nvSpPr>
        <p:spPr>
          <a:xfrm xmlns:a="http://schemas.openxmlformats.org/drawingml/2006/main">
            <a:off x="5734050" y="5562600"/>
            <a:ext cx="104775" cy="15240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52" name="CasePanel">
            <a:extLst xmlns:a="http://schemas.openxmlformats.org/drawingml/2006/main">
              <a:ext uri="{FF2B5EF4-FFF2-40B4-BE49-F238E27FC236}">
                <a16:creationId xmlns:a16="http://schemas.microsoft.com/office/drawing/2014/main" id="{DE55A7F1-594B-4BB8-AE7D-080D6662DB0A}"/>
              </a:ext>
            </a:extLst>
          </p:cNvPr>
          <p:cNvSpPr>
            <a:spLocks xmlns:a="http://schemas.openxmlformats.org/drawingml/2006/main" noGrp="1"/>
          </p:cNvSpPr>
          <p:nvPr/>
        </p:nvSpPr>
        <p:spPr>
          <a:xfrm xmlns:a="http://schemas.openxmlformats.org/drawingml/2006/main">
            <a:off x="514350" y="6153150"/>
            <a:ext cx="10629900" cy="419100"/>
          </a:xfrm>
          <a:prstGeom xmlns:a="http://schemas.openxmlformats.org/drawingml/2006/main" prst="rect">
            <a:avLst/>
          </a:prstGeom>
          <a:solidFill xmlns:a="http://schemas.openxmlformats.org/drawingml/2006/main">
            <a:srgbClr val="FFFDFC"/>
          </a:solidFill>
          <a:ln xmlns:a="http://schemas.openxmlformats.org/drawingml/2006/main" w="9525">
            <a:solidFill>
              <a:srgbClr val="D7CEC0"/>
            </a:solidFill>
            <a:prstDash val="solid"/>
          </a:ln>
        </p:spPr>
      </p:sp>
      <p:sp>
        <p:nvSpPr>
          <p:cNvPr id="53" name="BodyText">
            <a:extLst xmlns:a="http://schemas.openxmlformats.org/drawingml/2006/main">
              <a:ext uri="{FF2B5EF4-FFF2-40B4-BE49-F238E27FC236}">
                <a16:creationId xmlns:a16="http://schemas.microsoft.com/office/drawing/2014/main" id="{71F13B58-D9F1-4D44-9B04-0D18D8D3C319}"/>
              </a:ext>
            </a:extLst>
          </p:cNvPr>
          <p:cNvSpPr>
            <a:spLocks xmlns:a="http://schemas.openxmlformats.org/drawingml/2006/main" noGrp="1"/>
          </p:cNvSpPr>
          <p:nvPr/>
        </p:nvSpPr>
        <p:spPr>
          <a:xfrm xmlns:a="http://schemas.openxmlformats.org/drawingml/2006/main">
            <a:off x="742950" y="6267450"/>
            <a:ext cx="10172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0F172A"/>
                </a:solidFill>
                <a:latin typeface="Aptos"/>
                <a:ea typeface="Aptos"/>
                <a:cs typeface="Aptos"/>
              </a:defRPr>
            </a:pPr>
            <a:r>
              <a:rPr sz="1350" b="0">
                <a:solidFill>
                  <a:srgbClr val="0F172A"/>
                </a:solidFill>
                <a:latin typeface="Aptos"/>
                <a:ea typeface="Aptos"/>
                <a:cs typeface="Aptos"/>
              </a:rPr>
              <a:t>Positive case: Allenjoie (Doubs, 25) is the only positive local case, with four matched event hits from 2018 to 2021.</a:t>
            </a:r>
          </a:p>
        </p:txBody>
      </p:sp>
      <p:sp>
        <p:nvSpPr>
          <p:cNvPr id="54" name="Rule">
            <a:extLst xmlns:a="http://schemas.openxmlformats.org/drawingml/2006/main">
              <a:ext uri="{FF2B5EF4-FFF2-40B4-BE49-F238E27FC236}">
                <a16:creationId xmlns:a16="http://schemas.microsoft.com/office/drawing/2014/main" id="{93118B7C-FBC0-48F1-A4E5-0E734438C748}"/>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D7CEC0"/>
          </a:solidFill>
          <a:ln xmlns:a="http://schemas.openxmlformats.org/drawingml/2006/main" w="0">
            <a:solidFill>
              <a:srgbClr val="000000">
                <a:alpha val="0"/>
              </a:srgbClr>
            </a:solidFill>
            <a:prstDash val="solid"/>
          </a:ln>
        </p:spPr>
      </p:sp>
      <p:sp>
        <p:nvSpPr>
          <p:cNvPr id="55" name="SmallText">
            <a:extLst xmlns:a="http://schemas.openxmlformats.org/drawingml/2006/main">
              <a:ext uri="{FF2B5EF4-FFF2-40B4-BE49-F238E27FC236}">
                <a16:creationId xmlns:a16="http://schemas.microsoft.com/office/drawing/2014/main" id="{1F2D72DA-C917-4365-BCFD-775BDAF9C00E}"/>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Workbook: data/processed/T20_Anonymised_jrc_flood_check.xlsx. Decision paths show why most rows stay negative even after successful LAU geocoding.</a:t>
            </a:r>
          </a:p>
        </p:txBody>
      </p:sp>
    </p:spTree>
    <p:extLst>
      <p:ext uri="{BB962C8B-B14F-4D97-AF65-F5344CB8AC3E}">
        <p14:creationId xmlns:p14="http://schemas.microsoft.com/office/powerpoint/2010/main" val="6134543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C49077AE-5F93-43E3-BF4D-58749D5FD40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01826"/>
              </a:gs>
              <a:gs pos="100000">
                <a:srgbClr val="1B2840"/>
              </a:gs>
            </a:gsLst>
            <a:lin ang="10800000"/>
          </a:gradFill>
          <a:ln xmlns:a="http://schemas.openxmlformats.org/drawingml/2006/main" w="0">
            <a:solidFill>
              <a:srgbClr val="000000">
                <a:alpha val="0"/>
              </a:srgbClr>
            </a:solidFill>
            <a:prstDash val="solid"/>
          </a:ln>
        </p:spPr>
      </p:sp>
      <p:sp>
        <p:nvSpPr>
          <p:cNvPr id="2" name="Label">
            <a:extLst xmlns:a="http://schemas.openxmlformats.org/drawingml/2006/main">
              <a:ext uri="{FF2B5EF4-FFF2-40B4-BE49-F238E27FC236}">
                <a16:creationId xmlns:a16="http://schemas.microsoft.com/office/drawing/2014/main" id="{A1320442-6AAC-40DC-9AE1-0E471DA80592}"/>
              </a:ext>
            </a:extLst>
          </p:cNvPr>
          <p:cNvSpPr>
            <a:spLocks xmlns:a="http://schemas.openxmlformats.org/drawingml/2006/main" noGrp="1"/>
          </p:cNvSpPr>
          <p:nvPr/>
        </p:nvSpPr>
        <p:spPr>
          <a:xfrm xmlns:a="http://schemas.openxmlformats.org/drawingml/2006/main">
            <a:off x="514350" y="400050"/>
            <a:ext cx="3429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F4B39F"/>
                </a:solidFill>
                <a:latin typeface="Aptos"/>
                <a:ea typeface="Aptos"/>
                <a:cs typeface="Aptos"/>
              </a:defRPr>
            </a:pPr>
            <a:r>
              <a:rPr sz="1350" b="1">
                <a:solidFill>
                  <a:srgbClr val="F4B39F"/>
                </a:solidFill>
                <a:latin typeface="Aptos"/>
                <a:ea typeface="Aptos"/>
                <a:cs typeface="Aptos"/>
              </a:rPr>
              <a:t>READY NOW / NEXT</a:t>
            </a:r>
          </a:p>
        </p:txBody>
      </p:sp>
      <p:sp>
        <p:nvSpPr>
          <p:cNvPr id="3" name="Title">
            <a:extLst xmlns:a="http://schemas.openxmlformats.org/drawingml/2006/main">
              <a:ext uri="{FF2B5EF4-FFF2-40B4-BE49-F238E27FC236}">
                <a16:creationId xmlns:a16="http://schemas.microsoft.com/office/drawing/2014/main" id="{6D508FD2-E59B-4E73-8031-FB14EB9974DF}"/>
              </a:ext>
            </a:extLst>
          </p:cNvPr>
          <p:cNvSpPr>
            <a:spLocks xmlns:a="http://schemas.openxmlformats.org/drawingml/2006/main" noGrp="1"/>
          </p:cNvSpPr>
          <p:nvPr/>
        </p:nvSpPr>
        <p:spPr>
          <a:xfrm xmlns:a="http://schemas.openxmlformats.org/drawingml/2006/main">
            <a:off x="514350" y="742950"/>
            <a:ext cx="10287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57150" bIns="0" anchor="t"/>
          <a:lstStyle xmlns:a="http://schemas.openxmlformats.org/drawingml/2006/main"/>
          <a:p xmlns:a="http://schemas.openxmlformats.org/drawingml/2006/main">
            <a:pPr algn="l">
              <a:defRPr sz="2850" b="1">
                <a:solidFill>
                  <a:srgbClr val="F5F1E8"/>
                </a:solidFill>
                <a:latin typeface="Aptos Display"/>
                <a:ea typeface="Aptos Display"/>
                <a:cs typeface="Aptos Display"/>
              </a:defRPr>
            </a:pPr>
            <a:r>
              <a:rPr sz="2850" b="1">
                <a:solidFill>
                  <a:srgbClr val="F5F1E8"/>
                </a:solidFill>
                <a:latin typeface="Aptos Display"/>
                <a:ea typeface="Aptos Display"/>
                <a:cs typeface="Aptos Display"/>
              </a:rPr>
              <a:t>The project now has both a decision tool and a validation backlog</a:t>
            </a:r>
          </a:p>
        </p:txBody>
      </p:sp>
      <p:sp>
        <p:nvSpPr>
          <p:cNvPr id="4" name="ReadyPanel">
            <a:extLst xmlns:a="http://schemas.openxmlformats.org/drawingml/2006/main">
              <a:ext uri="{FF2B5EF4-FFF2-40B4-BE49-F238E27FC236}">
                <a16:creationId xmlns:a16="http://schemas.microsoft.com/office/drawing/2014/main" id="{5092944E-3027-4AA1-B58F-7FB138D7ADEE}"/>
              </a:ext>
            </a:extLst>
          </p:cNvPr>
          <p:cNvSpPr>
            <a:spLocks xmlns:a="http://schemas.openxmlformats.org/drawingml/2006/main" noGrp="1"/>
          </p:cNvSpPr>
          <p:nvPr/>
        </p:nvSpPr>
        <p:spPr>
          <a:xfrm xmlns:a="http://schemas.openxmlformats.org/drawingml/2006/main">
            <a:off x="514350" y="1828800"/>
            <a:ext cx="4972050" cy="3886200"/>
          </a:xfrm>
          <a:prstGeom xmlns:a="http://schemas.openxmlformats.org/drawingml/2006/main" prst="rect">
            <a:avLst/>
          </a:prstGeom>
          <a:solidFill xmlns:a="http://schemas.openxmlformats.org/drawingml/2006/main">
            <a:srgbClr val="F7EFE6"/>
          </a:solidFill>
          <a:ln xmlns:a="http://schemas.openxmlformats.org/drawingml/2006/main" w="0">
            <a:solidFill>
              <a:srgbClr val="000000">
                <a:alpha val="0"/>
              </a:srgbClr>
            </a:solidFill>
            <a:prstDash val="solid"/>
          </a:ln>
        </p:spPr>
      </p:sp>
      <p:sp>
        <p:nvSpPr>
          <p:cNvPr id="5" name="BodyText">
            <a:extLst xmlns:a="http://schemas.openxmlformats.org/drawingml/2006/main">
              <a:ext uri="{FF2B5EF4-FFF2-40B4-BE49-F238E27FC236}">
                <a16:creationId xmlns:a16="http://schemas.microsoft.com/office/drawing/2014/main" id="{C030EA08-2261-44C7-9CFA-772AABA494C6}"/>
              </a:ext>
            </a:extLst>
          </p:cNvPr>
          <p:cNvSpPr>
            <a:spLocks xmlns:a="http://schemas.openxmlformats.org/drawingml/2006/main" noGrp="1"/>
          </p:cNvSpPr>
          <p:nvPr/>
        </p:nvSpPr>
        <p:spPr>
          <a:xfrm xmlns:a="http://schemas.openxmlformats.org/drawingml/2006/main">
            <a:off x="781050" y="20764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0F172A"/>
                </a:solidFill>
                <a:latin typeface="Aptos Display"/>
                <a:ea typeface="Aptos Display"/>
                <a:cs typeface="Aptos Display"/>
              </a:defRPr>
            </a:pPr>
            <a:r>
              <a:rPr sz="1800" b="1">
                <a:solidFill>
                  <a:srgbClr val="0F172A"/>
                </a:solidFill>
                <a:latin typeface="Aptos Display"/>
                <a:ea typeface="Aptos Display"/>
                <a:cs typeface="Aptos Display"/>
              </a:rPr>
              <a:t>Ready today</a:t>
            </a:r>
          </a:p>
        </p:txBody>
      </p:sp>
      <p:sp>
        <p:nvSpPr>
          <p:cNvPr id="6" name="Bullet1">
            <a:extLst xmlns:a="http://schemas.openxmlformats.org/drawingml/2006/main">
              <a:ext uri="{FF2B5EF4-FFF2-40B4-BE49-F238E27FC236}">
                <a16:creationId xmlns:a16="http://schemas.microsoft.com/office/drawing/2014/main" id="{22C941A7-3DE0-450A-9188-5A17B233D367}"/>
              </a:ext>
            </a:extLst>
          </p:cNvPr>
          <p:cNvSpPr>
            <a:spLocks xmlns:a="http://schemas.openxmlformats.org/drawingml/2006/main" noGrp="1"/>
          </p:cNvSpPr>
          <p:nvPr/>
        </p:nvSpPr>
        <p:spPr>
          <a:xfrm xmlns:a="http://schemas.openxmlformats.org/drawingml/2006/main">
            <a:off x="781050" y="264795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7" name="BulletText1">
            <a:extLst xmlns:a="http://schemas.openxmlformats.org/drawingml/2006/main">
              <a:ext uri="{FF2B5EF4-FFF2-40B4-BE49-F238E27FC236}">
                <a16:creationId xmlns:a16="http://schemas.microsoft.com/office/drawing/2014/main" id="{EC460FF0-D23D-47EE-8CCC-6BFBA1AA7B62}"/>
              </a:ext>
            </a:extLst>
          </p:cNvPr>
          <p:cNvSpPr>
            <a:spLocks xmlns:a="http://schemas.openxmlformats.org/drawingml/2006/main" noGrp="1"/>
          </p:cNvSpPr>
          <p:nvPr/>
        </p:nvSpPr>
        <p:spPr>
          <a:xfrm xmlns:a="http://schemas.openxmlformats.org/drawingml/2006/main">
            <a:off x="990600" y="2571750"/>
            <a:ext cx="39624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France commune comparison app with map-first diagnostics</a:t>
            </a:r>
          </a:p>
        </p:txBody>
      </p:sp>
      <p:sp>
        <p:nvSpPr>
          <p:cNvPr id="8" name="Bullet2">
            <a:extLst xmlns:a="http://schemas.openxmlformats.org/drawingml/2006/main">
              <a:ext uri="{FF2B5EF4-FFF2-40B4-BE49-F238E27FC236}">
                <a16:creationId xmlns:a16="http://schemas.microsoft.com/office/drawing/2014/main" id="{DF331785-0723-4F62-9296-E605D1B15376}"/>
              </a:ext>
            </a:extLst>
          </p:cNvPr>
          <p:cNvSpPr>
            <a:spLocks xmlns:a="http://schemas.openxmlformats.org/drawingml/2006/main" noGrp="1"/>
          </p:cNvSpPr>
          <p:nvPr/>
        </p:nvSpPr>
        <p:spPr>
          <a:xfrm xmlns:a="http://schemas.openxmlformats.org/drawingml/2006/main">
            <a:off x="781050" y="33909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9" name="BulletText2">
            <a:extLst xmlns:a="http://schemas.openxmlformats.org/drawingml/2006/main">
              <a:ext uri="{FF2B5EF4-FFF2-40B4-BE49-F238E27FC236}">
                <a16:creationId xmlns:a16="http://schemas.microsoft.com/office/drawing/2014/main" id="{C5FD977B-A9CA-4AF8-8263-C627D71D6597}"/>
              </a:ext>
            </a:extLst>
          </p:cNvPr>
          <p:cNvSpPr>
            <a:spLocks xmlns:a="http://schemas.openxmlformats.org/drawingml/2006/main" noGrp="1"/>
          </p:cNvSpPr>
          <p:nvPr/>
        </p:nvSpPr>
        <p:spPr>
          <a:xfrm xmlns:a="http://schemas.openxmlformats.org/drawingml/2006/main">
            <a:off x="990600" y="3314700"/>
            <a:ext cx="39624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Bilingual Gaspar / JRC match audit docs</a:t>
            </a:r>
          </a:p>
        </p:txBody>
      </p:sp>
      <p:sp>
        <p:nvSpPr>
          <p:cNvPr id="10" name="Bullet3">
            <a:extLst xmlns:a="http://schemas.openxmlformats.org/drawingml/2006/main">
              <a:ext uri="{FF2B5EF4-FFF2-40B4-BE49-F238E27FC236}">
                <a16:creationId xmlns:a16="http://schemas.microsoft.com/office/drawing/2014/main" id="{58761267-1EC0-4C7E-9725-63FDD336F0C2}"/>
              </a:ext>
            </a:extLst>
          </p:cNvPr>
          <p:cNvSpPr>
            <a:spLocks xmlns:a="http://schemas.openxmlformats.org/drawingml/2006/main" noGrp="1"/>
          </p:cNvSpPr>
          <p:nvPr/>
        </p:nvSpPr>
        <p:spPr>
          <a:xfrm xmlns:a="http://schemas.openxmlformats.org/drawingml/2006/main">
            <a:off x="781050" y="413385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1" name="BulletText3">
            <a:extLst xmlns:a="http://schemas.openxmlformats.org/drawingml/2006/main">
              <a:ext uri="{FF2B5EF4-FFF2-40B4-BE49-F238E27FC236}">
                <a16:creationId xmlns:a16="http://schemas.microsoft.com/office/drawing/2014/main" id="{385A6545-8A7E-4866-9597-0E9D96EC88F3}"/>
              </a:ext>
            </a:extLst>
          </p:cNvPr>
          <p:cNvSpPr>
            <a:spLocks xmlns:a="http://schemas.openxmlformats.org/drawingml/2006/main" noGrp="1"/>
          </p:cNvSpPr>
          <p:nvPr/>
        </p:nvSpPr>
        <p:spPr>
          <a:xfrm xmlns:a="http://schemas.openxmlformats.org/drawingml/2006/main">
            <a:off x="990600" y="4057650"/>
            <a:ext cx="39624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July 2021 mismatch evidence report with public links</a:t>
            </a:r>
          </a:p>
        </p:txBody>
      </p:sp>
      <p:sp>
        <p:nvSpPr>
          <p:cNvPr id="12" name="Bullet4">
            <a:extLst xmlns:a="http://schemas.openxmlformats.org/drawingml/2006/main">
              <a:ext uri="{FF2B5EF4-FFF2-40B4-BE49-F238E27FC236}">
                <a16:creationId xmlns:a16="http://schemas.microsoft.com/office/drawing/2014/main" id="{C2DB12E2-2186-4901-BEB6-7632C425F96E}"/>
              </a:ext>
            </a:extLst>
          </p:cNvPr>
          <p:cNvSpPr>
            <a:spLocks xmlns:a="http://schemas.openxmlformats.org/drawingml/2006/main" noGrp="1"/>
          </p:cNvSpPr>
          <p:nvPr/>
        </p:nvSpPr>
        <p:spPr>
          <a:xfrm xmlns:a="http://schemas.openxmlformats.org/drawingml/2006/main">
            <a:off x="781050" y="4876800"/>
            <a:ext cx="95250" cy="95250"/>
          </a:xfrm>
          <a:prstGeom xmlns:a="http://schemas.openxmlformats.org/drawingml/2006/main" prst="rect">
            <a:avLst/>
          </a:prstGeom>
          <a:solidFill xmlns:a="http://schemas.openxmlformats.org/drawingml/2006/main">
            <a:srgbClr val="E45A3C"/>
          </a:solidFill>
          <a:ln xmlns:a="http://schemas.openxmlformats.org/drawingml/2006/main" w="0">
            <a:solidFill>
              <a:srgbClr val="000000">
                <a:alpha val="0"/>
              </a:srgbClr>
            </a:solidFill>
            <a:prstDash val="solid"/>
          </a:ln>
        </p:spPr>
      </p:sp>
      <p:sp>
        <p:nvSpPr>
          <p:cNvPr id="13" name="BulletText4">
            <a:extLst xmlns:a="http://schemas.openxmlformats.org/drawingml/2006/main">
              <a:ext uri="{FF2B5EF4-FFF2-40B4-BE49-F238E27FC236}">
                <a16:creationId xmlns:a16="http://schemas.microsoft.com/office/drawing/2014/main" id="{97A3CDF2-13CB-4BAA-9499-DCE4C3AF5930}"/>
              </a:ext>
            </a:extLst>
          </p:cNvPr>
          <p:cNvSpPr>
            <a:spLocks xmlns:a="http://schemas.openxmlformats.org/drawingml/2006/main" noGrp="1"/>
          </p:cNvSpPr>
          <p:nvPr/>
        </p:nvSpPr>
        <p:spPr>
          <a:xfrm xmlns:a="http://schemas.openxmlformats.org/drawingml/2006/main">
            <a:off x="990600" y="4800600"/>
            <a:ext cx="39624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T20 workbook checked against processed JRC flood rasters</a:t>
            </a:r>
          </a:p>
        </p:txBody>
      </p:sp>
      <p:sp>
        <p:nvSpPr>
          <p:cNvPr id="14" name="NextPanel">
            <a:extLst xmlns:a="http://schemas.openxmlformats.org/drawingml/2006/main">
              <a:ext uri="{FF2B5EF4-FFF2-40B4-BE49-F238E27FC236}">
                <a16:creationId xmlns:a16="http://schemas.microsoft.com/office/drawing/2014/main" id="{094A4254-0D06-4450-9F81-DD96B369DFFA}"/>
              </a:ext>
            </a:extLst>
          </p:cNvPr>
          <p:cNvSpPr>
            <a:spLocks xmlns:a="http://schemas.openxmlformats.org/drawingml/2006/main" noGrp="1"/>
          </p:cNvSpPr>
          <p:nvPr/>
        </p:nvSpPr>
        <p:spPr>
          <a:xfrm xmlns:a="http://schemas.openxmlformats.org/drawingml/2006/main">
            <a:off x="5657850" y="1828800"/>
            <a:ext cx="5486400" cy="3886200"/>
          </a:xfrm>
          <a:prstGeom xmlns:a="http://schemas.openxmlformats.org/drawingml/2006/main" prst="rect">
            <a:avLst/>
          </a:prstGeom>
          <a:solidFill xmlns:a="http://schemas.openxmlformats.org/drawingml/2006/main">
            <a:srgbClr val="EEF3FB"/>
          </a:solidFill>
          <a:ln xmlns:a="http://schemas.openxmlformats.org/drawingml/2006/main" w="0">
            <a:solidFill>
              <a:srgbClr val="000000">
                <a:alpha val="0"/>
              </a:srgbClr>
            </a:solidFill>
            <a:prstDash val="solid"/>
          </a:ln>
        </p:spPr>
      </p:sp>
      <p:sp>
        <p:nvSpPr>
          <p:cNvPr id="15" name="BodyText">
            <a:extLst xmlns:a="http://schemas.openxmlformats.org/drawingml/2006/main">
              <a:ext uri="{FF2B5EF4-FFF2-40B4-BE49-F238E27FC236}">
                <a16:creationId xmlns:a16="http://schemas.microsoft.com/office/drawing/2014/main" id="{67E51CCE-7A7C-4EBD-B204-C78809F4289A}"/>
              </a:ext>
            </a:extLst>
          </p:cNvPr>
          <p:cNvSpPr>
            <a:spLocks xmlns:a="http://schemas.openxmlformats.org/drawingml/2006/main" noGrp="1"/>
          </p:cNvSpPr>
          <p:nvPr/>
        </p:nvSpPr>
        <p:spPr>
          <a:xfrm xmlns:a="http://schemas.openxmlformats.org/drawingml/2006/main">
            <a:off x="5924550" y="20764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0F172A"/>
                </a:solidFill>
                <a:latin typeface="Aptos Display"/>
                <a:ea typeface="Aptos Display"/>
                <a:cs typeface="Aptos Display"/>
              </a:defRPr>
            </a:pPr>
            <a:r>
              <a:rPr sz="1800" b="1">
                <a:solidFill>
                  <a:srgbClr val="0F172A"/>
                </a:solidFill>
                <a:latin typeface="Aptos Display"/>
                <a:ea typeface="Aptos Display"/>
                <a:cs typeface="Aptos Display"/>
              </a:rPr>
              <a:t>Best next questions</a:t>
            </a:r>
          </a:p>
        </p:txBody>
      </p:sp>
      <p:sp>
        <p:nvSpPr>
          <p:cNvPr id="16" name="Bullet1">
            <a:extLst xmlns:a="http://schemas.openxmlformats.org/drawingml/2006/main">
              <a:ext uri="{FF2B5EF4-FFF2-40B4-BE49-F238E27FC236}">
                <a16:creationId xmlns:a16="http://schemas.microsoft.com/office/drawing/2014/main" id="{43EA76B9-4355-4019-B767-F74847265F9D}"/>
              </a:ext>
            </a:extLst>
          </p:cNvPr>
          <p:cNvSpPr>
            <a:spLocks xmlns:a="http://schemas.openxmlformats.org/drawingml/2006/main" noGrp="1"/>
          </p:cNvSpPr>
          <p:nvPr/>
        </p:nvSpPr>
        <p:spPr>
          <a:xfrm xmlns:a="http://schemas.openxmlformats.org/drawingml/2006/main">
            <a:off x="5924550" y="2647950"/>
            <a:ext cx="95250" cy="952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7" name="BulletText1">
            <a:extLst xmlns:a="http://schemas.openxmlformats.org/drawingml/2006/main">
              <a:ext uri="{FF2B5EF4-FFF2-40B4-BE49-F238E27FC236}">
                <a16:creationId xmlns:a16="http://schemas.microsoft.com/office/drawing/2014/main" id="{EC7FB190-65CD-4D2C-ADBA-8FDF56F875D8}"/>
              </a:ext>
            </a:extLst>
          </p:cNvPr>
          <p:cNvSpPr>
            <a:spLocks xmlns:a="http://schemas.openxmlformats.org/drawingml/2006/main" noGrp="1"/>
          </p:cNvSpPr>
          <p:nvPr/>
        </p:nvSpPr>
        <p:spPr>
          <a:xfrm xmlns:a="http://schemas.openxmlformats.org/drawingml/2006/main">
            <a:off x="6134100" y="2571750"/>
            <a:ext cx="4476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Test alternative event-grouping rules to reduce commune-level fragmentation.</a:t>
            </a:r>
          </a:p>
        </p:txBody>
      </p:sp>
      <p:sp>
        <p:nvSpPr>
          <p:cNvPr id="18" name="Bullet2">
            <a:extLst xmlns:a="http://schemas.openxmlformats.org/drawingml/2006/main">
              <a:ext uri="{FF2B5EF4-FFF2-40B4-BE49-F238E27FC236}">
                <a16:creationId xmlns:a16="http://schemas.microsoft.com/office/drawing/2014/main" id="{54C51BA5-27F7-4A22-9B9D-8E547678A264}"/>
              </a:ext>
            </a:extLst>
          </p:cNvPr>
          <p:cNvSpPr>
            <a:spLocks xmlns:a="http://schemas.openxmlformats.org/drawingml/2006/main" noGrp="1"/>
          </p:cNvSpPr>
          <p:nvPr/>
        </p:nvSpPr>
        <p:spPr>
          <a:xfrm xmlns:a="http://schemas.openxmlformats.org/drawingml/2006/main">
            <a:off x="5924550" y="3390900"/>
            <a:ext cx="95250" cy="952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19" name="BulletText2">
            <a:extLst xmlns:a="http://schemas.openxmlformats.org/drawingml/2006/main">
              <a:ext uri="{FF2B5EF4-FFF2-40B4-BE49-F238E27FC236}">
                <a16:creationId xmlns:a16="http://schemas.microsoft.com/office/drawing/2014/main" id="{D07A1C88-C35C-4C76-9AEB-1FC3137D1AAD}"/>
              </a:ext>
            </a:extLst>
          </p:cNvPr>
          <p:cNvSpPr>
            <a:spLocks xmlns:a="http://schemas.openxmlformats.org/drawingml/2006/main" noGrp="1"/>
          </p:cNvSpPr>
          <p:nvPr/>
        </p:nvSpPr>
        <p:spPr>
          <a:xfrm xmlns:a="http://schemas.openxmlformats.org/drawingml/2006/main">
            <a:off x="6134100" y="3314700"/>
            <a:ext cx="4476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Add more quarter-region manual checks where the mismatch remains highest.</a:t>
            </a:r>
          </a:p>
        </p:txBody>
      </p:sp>
      <p:sp>
        <p:nvSpPr>
          <p:cNvPr id="20" name="Bullet3">
            <a:extLst xmlns:a="http://schemas.openxmlformats.org/drawingml/2006/main">
              <a:ext uri="{FF2B5EF4-FFF2-40B4-BE49-F238E27FC236}">
                <a16:creationId xmlns:a16="http://schemas.microsoft.com/office/drawing/2014/main" id="{30DC431E-7B27-4109-92B1-B71FF6F0A6DC}"/>
              </a:ext>
            </a:extLst>
          </p:cNvPr>
          <p:cNvSpPr>
            <a:spLocks xmlns:a="http://schemas.openxmlformats.org/drawingml/2006/main" noGrp="1"/>
          </p:cNvSpPr>
          <p:nvPr/>
        </p:nvSpPr>
        <p:spPr>
          <a:xfrm xmlns:a="http://schemas.openxmlformats.org/drawingml/2006/main">
            <a:off x="5924550" y="4133850"/>
            <a:ext cx="95250" cy="952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21" name="BulletText3">
            <a:extLst xmlns:a="http://schemas.openxmlformats.org/drawingml/2006/main">
              <a:ext uri="{FF2B5EF4-FFF2-40B4-BE49-F238E27FC236}">
                <a16:creationId xmlns:a16="http://schemas.microsoft.com/office/drawing/2014/main" id="{0F6E4378-6EF5-409E-8944-D5E3B87FC47A}"/>
              </a:ext>
            </a:extLst>
          </p:cNvPr>
          <p:cNvSpPr>
            <a:spLocks xmlns:a="http://schemas.openxmlformats.org/drawingml/2006/main" noGrp="1"/>
          </p:cNvSpPr>
          <p:nvPr/>
        </p:nvSpPr>
        <p:spPr>
          <a:xfrm xmlns:a="http://schemas.openxmlformats.org/drawingml/2006/main">
            <a:off x="6134100" y="4057650"/>
            <a:ext cx="4476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Decide whether to add a LAU-geometry map mode alongside current communes.</a:t>
            </a:r>
          </a:p>
        </p:txBody>
      </p:sp>
      <p:sp>
        <p:nvSpPr>
          <p:cNvPr id="22" name="Bullet4">
            <a:extLst xmlns:a="http://schemas.openxmlformats.org/drawingml/2006/main">
              <a:ext uri="{FF2B5EF4-FFF2-40B4-BE49-F238E27FC236}">
                <a16:creationId xmlns:a16="http://schemas.microsoft.com/office/drawing/2014/main" id="{6D51D63B-6ACC-419D-AC9C-90F93262B53B}"/>
              </a:ext>
            </a:extLst>
          </p:cNvPr>
          <p:cNvSpPr>
            <a:spLocks xmlns:a="http://schemas.openxmlformats.org/drawingml/2006/main" noGrp="1"/>
          </p:cNvSpPr>
          <p:nvPr/>
        </p:nvSpPr>
        <p:spPr>
          <a:xfrm xmlns:a="http://schemas.openxmlformats.org/drawingml/2006/main">
            <a:off x="5924550" y="4876800"/>
            <a:ext cx="95250" cy="95250"/>
          </a:xfrm>
          <a:prstGeom xmlns:a="http://schemas.openxmlformats.org/drawingml/2006/main" prst="rect">
            <a:avLst/>
          </a:prstGeom>
          <a:solidFill xmlns:a="http://schemas.openxmlformats.org/drawingml/2006/main">
            <a:srgbClr val="3158D3"/>
          </a:solidFill>
          <a:ln xmlns:a="http://schemas.openxmlformats.org/drawingml/2006/main" w="0">
            <a:solidFill>
              <a:srgbClr val="000000">
                <a:alpha val="0"/>
              </a:srgbClr>
            </a:solidFill>
            <a:prstDash val="solid"/>
          </a:ln>
        </p:spPr>
      </p:sp>
      <p:sp>
        <p:nvSpPr>
          <p:cNvPr id="23" name="BulletText4">
            <a:extLst xmlns:a="http://schemas.openxmlformats.org/drawingml/2006/main">
              <a:ext uri="{FF2B5EF4-FFF2-40B4-BE49-F238E27FC236}">
                <a16:creationId xmlns:a16="http://schemas.microsoft.com/office/drawing/2014/main" id="{9AED5E1C-763B-4A51-92C8-320A0209EB3B}"/>
              </a:ext>
            </a:extLst>
          </p:cNvPr>
          <p:cNvSpPr>
            <a:spLocks xmlns:a="http://schemas.openxmlformats.org/drawingml/2006/main" noGrp="1"/>
          </p:cNvSpPr>
          <p:nvPr/>
        </p:nvSpPr>
        <p:spPr>
          <a:xfrm xmlns:a="http://schemas.openxmlformats.org/drawingml/2006/main">
            <a:off x="6134100" y="4800600"/>
            <a:ext cx="447675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lnSpc>
                <a:spcPct val="110000"/>
              </a:lnSpc>
              <a:buNone/>
              <a:defRPr sz="1350" b="0">
                <a:solidFill>
                  <a:srgbClr val="0F172A"/>
                </a:solidFill>
                <a:latin typeface="Aptos"/>
                <a:ea typeface="Aptos"/>
                <a:cs typeface="Aptos"/>
              </a:defRPr>
            </a:pPr>
            <a:r>
              <a:rPr sz="1350" b="0">
                <a:solidFill>
                  <a:srgbClr val="0F172A"/>
                </a:solidFill>
                <a:latin typeface="Aptos"/>
                <a:ea typeface="Aptos"/>
                <a:cs typeface="Aptos"/>
              </a:rPr>
              <a:t>Use the same point-screening workflow on additional credit portfolios.</a:t>
            </a:r>
          </a:p>
        </p:txBody>
      </p:sp>
      <p:sp>
        <p:nvSpPr>
          <p:cNvPr id="24" name="BodyText">
            <a:extLst xmlns:a="http://schemas.openxmlformats.org/drawingml/2006/main">
              <a:ext uri="{FF2B5EF4-FFF2-40B4-BE49-F238E27FC236}">
                <a16:creationId xmlns:a16="http://schemas.microsoft.com/office/drawing/2014/main" id="{D9665B27-214D-4BA2-8D9B-98506B3B978B}"/>
              </a:ext>
            </a:extLst>
          </p:cNvPr>
          <p:cNvSpPr>
            <a:spLocks xmlns:a="http://schemas.openxmlformats.org/drawingml/2006/main" noGrp="1"/>
          </p:cNvSpPr>
          <p:nvPr/>
        </p:nvSpPr>
        <p:spPr>
          <a:xfrm xmlns:a="http://schemas.openxmlformats.org/drawingml/2006/main">
            <a:off x="514350" y="5962650"/>
            <a:ext cx="10629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5F1E8"/>
                </a:solidFill>
                <a:latin typeface="Aptos Display"/>
                <a:ea typeface="Aptos Display"/>
                <a:cs typeface="Aptos Display"/>
              </a:defRPr>
            </a:pPr>
            <a:r>
              <a:rPr sz="1650" b="1">
                <a:solidFill>
                  <a:srgbClr val="F5F1E8"/>
                </a:solidFill>
                <a:latin typeface="Aptos Display"/>
                <a:ea typeface="Aptos Display"/>
                <a:cs typeface="Aptos Display"/>
              </a:rPr>
              <a:t>Bottom line: the project moved from isolated scripts to a coherent comparison workflow with a reproducible audit trail and analyst-facing map diagnostics.</a:t>
            </a:r>
          </a:p>
        </p:txBody>
      </p:sp>
      <p:sp>
        <p:nvSpPr>
          <p:cNvPr id="25" name="Rule">
            <a:extLst xmlns:a="http://schemas.openxmlformats.org/drawingml/2006/main">
              <a:ext uri="{FF2B5EF4-FFF2-40B4-BE49-F238E27FC236}">
                <a16:creationId xmlns:a16="http://schemas.microsoft.com/office/drawing/2014/main" id="{6BF73882-3CB5-49C5-8A23-5874663DFE09}"/>
              </a:ext>
            </a:extLst>
          </p:cNvPr>
          <p:cNvSpPr>
            <a:spLocks xmlns:a="http://schemas.openxmlformats.org/drawingml/2006/main" noGrp="1"/>
          </p:cNvSpPr>
          <p:nvPr/>
        </p:nvSpPr>
        <p:spPr>
          <a:xfrm xmlns:a="http://schemas.openxmlformats.org/drawingml/2006/main">
            <a:off x="457200" y="6457950"/>
            <a:ext cx="11277600" cy="9525"/>
          </a:xfrm>
          <a:prstGeom xmlns:a="http://schemas.openxmlformats.org/drawingml/2006/main" prst="rect">
            <a:avLst/>
          </a:prstGeom>
          <a:solidFill xmlns:a="http://schemas.openxmlformats.org/drawingml/2006/main">
            <a:srgbClr val="324157"/>
          </a:solidFill>
          <a:ln xmlns:a="http://schemas.openxmlformats.org/drawingml/2006/main" w="0">
            <a:solidFill>
              <a:srgbClr val="000000">
                <a:alpha val="0"/>
              </a:srgbClr>
            </a:solidFill>
            <a:prstDash val="solid"/>
          </a:ln>
        </p:spPr>
      </p:sp>
      <p:sp>
        <p:nvSpPr>
          <p:cNvPr id="26" name="SmallText">
            <a:extLst xmlns:a="http://schemas.openxmlformats.org/drawingml/2006/main">
              <a:ext uri="{FF2B5EF4-FFF2-40B4-BE49-F238E27FC236}">
                <a16:creationId xmlns:a16="http://schemas.microsoft.com/office/drawing/2014/main" id="{D8B39F40-73A4-4E47-9545-A1F78BDFB591}"/>
              </a:ext>
            </a:extLst>
          </p:cNvPr>
          <p:cNvSpPr>
            <a:spLocks xmlns:a="http://schemas.openxmlformats.org/drawingml/2006/main" noGrp="1"/>
          </p:cNvSpPr>
          <p:nvPr/>
        </p:nvSpPr>
        <p:spPr>
          <a:xfrm xmlns:a="http://schemas.openxmlformats.org/drawingml/2006/main">
            <a:off x="457200" y="6553200"/>
            <a:ext cx="11277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F6675"/>
                </a:solidFill>
                <a:latin typeface="Aptos"/>
                <a:ea typeface="Aptos"/>
                <a:cs typeface="Aptos"/>
              </a:defRPr>
            </a:pPr>
            <a:r>
              <a:rPr sz="1050" b="0">
                <a:solidFill>
                  <a:srgbClr val="5F6675"/>
                </a:solidFill>
                <a:latin typeface="Aptos"/>
                <a:ea typeface="Aptos"/>
                <a:cs typeface="Aptos"/>
              </a:rPr>
              <a:t>Deliverables shipped this cycle: France comparison app, bilingual audit, July 2021 evidence note, and T20 JRC flood-check workbook.</a:t>
            </a:r>
          </a:p>
        </p:txBody>
      </p:sp>
    </p:spTree>
    <p:extLst>
      <p:ext uri="{BB962C8B-B14F-4D97-AF65-F5344CB8AC3E}">
        <p14:creationId xmlns:p14="http://schemas.microsoft.com/office/powerpoint/2010/main" val="10690696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2026-06-04T09:45:12.4080000Z</dcterms:created>
  <dcterms:modified xsi:type="dcterms:W3CDTF">2026-06-04T09:45:12.4080000Z</dcterms:modified>
</coreProperties>
</file>