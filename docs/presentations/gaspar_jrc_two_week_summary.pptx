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d9472dc86f4369" /><Relationship Type="http://schemas.openxmlformats.org/officeDocument/2006/relationships/extended-properties" Target="/docProps/app.xml" Id="R9857720c6618431f" /><Relationship Type="http://schemas.openxmlformats.org/officeDocument/2006/relationships/officeDocument" Target="/ppt/presentation.xml" Id="R11e0ec6714e044f9" /></Relationships>
</file>

<file path=ppt/presentation.xml><?xml version="1.0" encoding="utf-8"?>
<p:presentation xmlns:p="http://schemas.openxmlformats.org/presentationml/2006/main">
  <p:sldMasterIdLst>
    <p:sldMasterId xmlns:r="http://schemas.openxmlformats.org/officeDocument/2006/relationships" id="2147483648" r:id="R13e0028be93f4a6f"/>
  </p:sldMasterIdLst>
  <p:notesMasterIdLst>
    <p:notesMasterId xmlns:r="http://schemas.openxmlformats.org/officeDocument/2006/relationships" r:id="Raf3a427c955e4ef2"/>
  </p:notesMasterIdLst>
  <p:sldIdLst>
    <p:sldId xmlns:r="http://schemas.openxmlformats.org/officeDocument/2006/relationships" id="256" r:id="R303749e527b64ad0"/>
    <p:sldId xmlns:r="http://schemas.openxmlformats.org/officeDocument/2006/relationships" id="257" r:id="R2fd54c208b53416f"/>
    <p:sldId xmlns:r="http://schemas.openxmlformats.org/officeDocument/2006/relationships" id="258" r:id="R54272f0bf35843f4"/>
    <p:sldId xmlns:r="http://schemas.openxmlformats.org/officeDocument/2006/relationships" id="259" r:id="Rbc379c57f5144340"/>
    <p:sldId xmlns:r="http://schemas.openxmlformats.org/officeDocument/2006/relationships" id="260" r:id="R64ad5ba2e13d4477"/>
    <p:sldId xmlns:r="http://schemas.openxmlformats.org/officeDocument/2006/relationships" id="261" r:id="R443529e83b3544f8"/>
    <p:sldId xmlns:r="http://schemas.openxmlformats.org/officeDocument/2006/relationships" id="262" r:id="Rd105a9c2f6634ae7"/>
    <p:sldId xmlns:r="http://schemas.openxmlformats.org/officeDocument/2006/relationships" id="263" r:id="R1e8e17aa51f24d85"/>
    <p:sldId xmlns:r="http://schemas.openxmlformats.org/officeDocument/2006/relationships" id="264" r:id="R3f5957bd3439448b"/>
    <p:sldId xmlns:r="http://schemas.openxmlformats.org/officeDocument/2006/relationships" id="265" r:id="Rafe886bbf582409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d33f0a763fa4176" /><Relationship Type="http://schemas.openxmlformats.org/officeDocument/2006/relationships/slideMaster" Target="/ppt/slideMasters/slideMaster1.xml" Id="R13e0028be93f4a6f" /><Relationship Type="http://schemas.openxmlformats.org/officeDocument/2006/relationships/notesMaster" Target="/ppt/notesMasters/notesMaster1.xml" Id="Raf3a427c955e4ef2" /><Relationship Type="http://schemas.openxmlformats.org/officeDocument/2006/relationships/presProps" Target="/ppt/presProps.xml" Id="Recca0397e4694666" /><Relationship Type="http://schemas.openxmlformats.org/officeDocument/2006/relationships/viewProps" Target="/ppt/viewProps.xml" Id="R1085ef10bf294153" /><Relationship Type="http://schemas.openxmlformats.org/officeDocument/2006/relationships/tableStyles" Target="/ppt/tableStyles.xml" Id="R2eff0ba6cb214195" /><Relationship Type="http://schemas.openxmlformats.org/officeDocument/2006/relationships/slide" Target="/ppt/slides/slide1.xml" Id="R303749e527b64ad0" /><Relationship Type="http://schemas.openxmlformats.org/officeDocument/2006/relationships/slide" Target="/ppt/slides/slide2.xml" Id="R2fd54c208b53416f" /><Relationship Type="http://schemas.openxmlformats.org/officeDocument/2006/relationships/slide" Target="/ppt/slides/slide3.xml" Id="R54272f0bf35843f4" /><Relationship Type="http://schemas.openxmlformats.org/officeDocument/2006/relationships/slide" Target="/ppt/slides/slide4.xml" Id="Rbc379c57f5144340" /><Relationship Type="http://schemas.openxmlformats.org/officeDocument/2006/relationships/slide" Target="/ppt/slides/slide5.xml" Id="R64ad5ba2e13d4477" /><Relationship Type="http://schemas.openxmlformats.org/officeDocument/2006/relationships/slide" Target="/ppt/slides/slide6.xml" Id="R443529e83b3544f8" /><Relationship Type="http://schemas.openxmlformats.org/officeDocument/2006/relationships/slide" Target="/ppt/slides/slide7.xml" Id="Rd105a9c2f6634ae7" /><Relationship Type="http://schemas.openxmlformats.org/officeDocument/2006/relationships/slide" Target="/ppt/slides/slide8.xml" Id="R1e8e17aa51f24d85" /><Relationship Type="http://schemas.openxmlformats.org/officeDocument/2006/relationships/slide" Target="/ppt/slides/slide9.xml" Id="R3f5957bd3439448b" /><Relationship Type="http://schemas.openxmlformats.org/officeDocument/2006/relationships/slide" Target="/ppt/slides/slide10.xml" Id="Rafe886bbf58240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30bd418d914f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9b47eee52a4971" /><Relationship Type="http://schemas.openxmlformats.org/officeDocument/2006/relationships/notesMaster" Target="/ppt/notesMasters/notesMaster1.xml" Id="Rb15a9d5084224d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5d080dc84d4e17" /><Relationship Type="http://schemas.openxmlformats.org/officeDocument/2006/relationships/notesMaster" Target="/ppt/notesMasters/notesMaster1.xml" Id="Rd71de3bcabf946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49dbce84b04008" /><Relationship Type="http://schemas.openxmlformats.org/officeDocument/2006/relationships/notesMaster" Target="/ppt/notesMasters/notesMaster1.xml" Id="R6dcac55743f14f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b80f02562e4e99" /><Relationship Type="http://schemas.openxmlformats.org/officeDocument/2006/relationships/notesMaster" Target="/ppt/notesMasters/notesMaster1.xml" Id="Ra09f4d43a75b47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0ded57a6644528" /><Relationship Type="http://schemas.openxmlformats.org/officeDocument/2006/relationships/notesMaster" Target="/ppt/notesMasters/notesMaster1.xml" Id="R64435b4961b843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964424741544b3" /><Relationship Type="http://schemas.openxmlformats.org/officeDocument/2006/relationships/notesMaster" Target="/ppt/notesMasters/notesMaster1.xml" Id="R36cd8cd644704d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18777b83614366" /><Relationship Type="http://schemas.openxmlformats.org/officeDocument/2006/relationships/notesMaster" Target="/ppt/notesMasters/notesMaster1.xml" Id="R642e618dda2849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7b65f2ecf448ec" /><Relationship Type="http://schemas.openxmlformats.org/officeDocument/2006/relationships/notesMaster" Target="/ppt/notesMasters/notesMaster1.xml" Id="R000c1beed66f43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113d26005f455c" /><Relationship Type="http://schemas.openxmlformats.org/officeDocument/2006/relationships/notesMaster" Target="/ppt/notesMasters/notesMaster1.xml" Id="Rf0d7ce018d3446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b1eb6b8d8c4adc" /><Relationship Type="http://schemas.openxmlformats.org/officeDocument/2006/relationships/notesMaster" Target="/ppt/notesMasters/notesMaster1.xml" Id="Rcfef3ee2f5394d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1fb24b93494c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ca9e19ad6c4a03" /><Relationship Type="http://schemas.openxmlformats.org/officeDocument/2006/relationships/slideLayout" Target="/ppt/slideLayouts/slideLayout1.xml" Id="R6ca0da8f252e45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a0da8f252e45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97c3c46a2b4ae3" /><Relationship Type="http://schemas.openxmlformats.org/officeDocument/2006/relationships/notesSlide" Target="/ppt/notesSlides/notesSlide1.xml" Id="R25da16ddc57d47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5c0a7c4e92453f" /><Relationship Type="http://schemas.openxmlformats.org/officeDocument/2006/relationships/notesSlide" Target="/ppt/notesSlides/notesSlide2.xml" Id="Rbef65aff4b2743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9375abec7f4761" /><Relationship Type="http://schemas.openxmlformats.org/officeDocument/2006/relationships/notesSlide" Target="/ppt/notesSlides/notesSlide3.xml" Id="R144ce224fe0b44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76dc00e5e84986" /><Relationship Type="http://schemas.openxmlformats.org/officeDocument/2006/relationships/image" Target="/ppt/media/image.png" Id="R1c6ba726691d4224" /><Relationship Type="http://schemas.openxmlformats.org/officeDocument/2006/relationships/notesSlide" Target="/ppt/notesSlides/notesSlide4.xml" Id="Rd643a7fcb49b47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0c4cd8ae9d4bd1" /><Relationship Type="http://schemas.openxmlformats.org/officeDocument/2006/relationships/notesSlide" Target="/ppt/notesSlides/notesSlide5.xml" Id="R00e096c83ac54d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ee64e1baf64a96" /><Relationship Type="http://schemas.openxmlformats.org/officeDocument/2006/relationships/notesSlide" Target="/ppt/notesSlides/notesSlide6.xml" Id="R7a245596510c4f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f922972fe74613" /><Relationship Type="http://schemas.openxmlformats.org/officeDocument/2006/relationships/notesSlide" Target="/ppt/notesSlides/notesSlide7.xml" Id="R3ffb10b8e99942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9ca8955ef545b2" /><Relationship Type="http://schemas.openxmlformats.org/officeDocument/2006/relationships/image" Target="/ppt/media/image2.png" Id="Rf331470f03ee4686" /><Relationship Type="http://schemas.openxmlformats.org/officeDocument/2006/relationships/image" Target="/ppt/media/image3.png" Id="R0d758dee6e7a4bf6" /><Relationship Type="http://schemas.openxmlformats.org/officeDocument/2006/relationships/image" Target="/ppt/media/image4.png" Id="R898c37b139df4b40" /><Relationship Type="http://schemas.openxmlformats.org/officeDocument/2006/relationships/notesSlide" Target="/ppt/notesSlides/notesSlide8.xml" Id="R6f2603b2a88940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bb18c17cb6499d" /><Relationship Type="http://schemas.openxmlformats.org/officeDocument/2006/relationships/notesSlide" Target="/ppt/notesSlides/notesSlide9.xml" Id="Rbd6eeb280f8e43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b619fb69ad4187" /><Relationship Type="http://schemas.openxmlformats.org/officeDocument/2006/relationships/notesSlide" Target="/ppt/notesSlides/notesSlide10.xml" Id="Ra14dbbccad844c5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5CE2C483-712F-4890-B922-77A50D29C3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01826"/>
              </a:gs>
              <a:gs pos="100000">
                <a:srgbClr val="1B2840"/>
              </a:gs>
            </a:gsLst>
            <a:lin ang="10800000"/>
          </a:gradFill>
          <a:ln xmlns:a="http://schemas.openxmlformats.org/drawingml/2006/main" w="0">
            <a:solidFill>
              <a:srgbClr val="000000">
                <a:alpha val="0"/>
              </a:srgbClr>
            </a:solidFill>
            <a:prstDash val="solid"/>
          </a:ln>
        </p:spPr>
      </p:sp>
      <p:sp>
        <p:nvSpPr>
          <p:cNvPr id="2" name="AccentBand">
            <a:extLst xmlns:a="http://schemas.openxmlformats.org/drawingml/2006/main">
              <a:ext uri="{FF2B5EF4-FFF2-40B4-BE49-F238E27FC236}">
                <a16:creationId xmlns:a16="http://schemas.microsoft.com/office/drawing/2014/main" id="{9EB1E5A4-C292-4527-A259-CBB90140E9D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3" name="Label">
            <a:extLst xmlns:a="http://schemas.openxmlformats.org/drawingml/2006/main">
              <a:ext uri="{FF2B5EF4-FFF2-40B4-BE49-F238E27FC236}">
                <a16:creationId xmlns:a16="http://schemas.microsoft.com/office/drawing/2014/main" id="{7B96D807-64BA-4D8D-896B-219D053CC0B2}"/>
              </a:ext>
            </a:extLst>
          </p:cNvPr>
          <p:cNvSpPr>
            <a:spLocks xmlns:a="http://schemas.openxmlformats.org/drawingml/2006/main" noGrp="1"/>
          </p:cNvSpPr>
          <p:nvPr/>
        </p:nvSpPr>
        <p:spPr>
          <a:xfrm xmlns:a="http://schemas.openxmlformats.org/drawingml/2006/main">
            <a:off x="552450" y="51435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B39F"/>
                </a:solidFill>
                <a:latin typeface="Aptos"/>
                <a:ea typeface="Aptos"/>
                <a:cs typeface="Aptos"/>
              </a:defRPr>
            </a:pPr>
            <a:r>
              <a:rPr sz="1350" b="1">
                <a:solidFill>
                  <a:srgbClr val="F4B39F"/>
                </a:solidFill>
                <a:latin typeface="Aptos"/>
                <a:ea typeface="Aptos"/>
                <a:cs typeface="Aptos"/>
              </a:rPr>
              <a:t>TWO-WEEK SUMMARY</a:t>
            </a:r>
          </a:p>
        </p:txBody>
      </p:sp>
      <p:sp>
        <p:nvSpPr>
          <p:cNvPr id="4" name="Title">
            <a:extLst xmlns:a="http://schemas.openxmlformats.org/drawingml/2006/main">
              <a:ext uri="{FF2B5EF4-FFF2-40B4-BE49-F238E27FC236}">
                <a16:creationId xmlns:a16="http://schemas.microsoft.com/office/drawing/2014/main" id="{839AC434-32A4-496E-BED1-8232D73C1E58}"/>
              </a:ext>
            </a:extLst>
          </p:cNvPr>
          <p:cNvSpPr>
            <a:spLocks xmlns:a="http://schemas.openxmlformats.org/drawingml/2006/main" noGrp="1"/>
          </p:cNvSpPr>
          <p:nvPr/>
        </p:nvSpPr>
        <p:spPr>
          <a:xfrm xmlns:a="http://schemas.openxmlformats.org/drawingml/2006/main">
            <a:off x="552450" y="895350"/>
            <a:ext cx="74295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3450" b="1">
                <a:solidFill>
                  <a:srgbClr val="F5F1E8"/>
                </a:solidFill>
                <a:latin typeface="Aptos Display"/>
                <a:ea typeface="Aptos Display"/>
                <a:cs typeface="Aptos Display"/>
              </a:defRPr>
            </a:pPr>
            <a:r>
              <a:rPr sz="3450" b="1">
                <a:solidFill>
                  <a:srgbClr val="F5F1E8"/>
                </a:solidFill>
                <a:latin typeface="Aptos Display"/>
                <a:ea typeface="Aptos Display"/>
                <a:cs typeface="Aptos Display"/>
              </a:rPr>
              <a:t>Gaspar vs JRC Flood Comparison in France</a:t>
            </a:r>
          </a:p>
        </p:txBody>
      </p:sp>
      <p:sp>
        <p:nvSpPr>
          <p:cNvPr id="5" name="BodyText">
            <a:extLst xmlns:a="http://schemas.openxmlformats.org/drawingml/2006/main">
              <a:ext uri="{FF2B5EF4-FFF2-40B4-BE49-F238E27FC236}">
                <a16:creationId xmlns:a16="http://schemas.microsoft.com/office/drawing/2014/main" id="{024FCF42-CB4C-4A65-B384-5CFB74D430D8}"/>
              </a:ext>
            </a:extLst>
          </p:cNvPr>
          <p:cNvSpPr>
            <a:spLocks xmlns:a="http://schemas.openxmlformats.org/drawingml/2006/main" noGrp="1"/>
          </p:cNvSpPr>
          <p:nvPr/>
        </p:nvSpPr>
        <p:spPr>
          <a:xfrm xmlns:a="http://schemas.openxmlformats.org/drawingml/2006/main">
            <a:off x="552450" y="2019300"/>
            <a:ext cx="6191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1800" b="0">
                <a:solidFill>
                  <a:srgbClr val="E6ECF5"/>
                </a:solidFill>
                <a:latin typeface="Aptos"/>
                <a:ea typeface="Aptos"/>
                <a:cs typeface="Aptos"/>
              </a:defRPr>
            </a:pPr>
            <a:r>
              <a:rPr sz="1800" b="0">
                <a:solidFill>
                  <a:srgbClr val="E6ECF5"/>
                </a:solidFill>
                <a:latin typeface="Aptos"/>
                <a:ea typeface="Aptos"/>
                <a:cs typeface="Aptos"/>
              </a:rPr>
              <a:t>Two-week delivery summary: July 2021 comparison, Streamlit diagnostics, national audit, horizon audit, and T20 screening.</a:t>
            </a:r>
          </a:p>
        </p:txBody>
      </p:sp>
      <p:sp>
        <p:nvSpPr>
          <p:cNvPr id="6" name="Rule">
            <a:extLst xmlns:a="http://schemas.openxmlformats.org/drawingml/2006/main">
              <a:ext uri="{FF2B5EF4-FFF2-40B4-BE49-F238E27FC236}">
                <a16:creationId xmlns:a16="http://schemas.microsoft.com/office/drawing/2014/main" id="{20C76E2B-FE5B-4927-BA6C-178757ECF41C}"/>
              </a:ext>
            </a:extLst>
          </p:cNvPr>
          <p:cNvSpPr>
            <a:spLocks xmlns:a="http://schemas.openxmlformats.org/drawingml/2006/main" noGrp="1"/>
          </p:cNvSpPr>
          <p:nvPr/>
        </p:nvSpPr>
        <p:spPr>
          <a:xfrm xmlns:a="http://schemas.openxmlformats.org/drawingml/2006/main">
            <a:off x="552450" y="3009900"/>
            <a:ext cx="7239000" cy="19050"/>
          </a:xfrm>
          <a:prstGeom xmlns:a="http://schemas.openxmlformats.org/drawingml/2006/main" prst="rect">
            <a:avLst/>
          </a:prstGeom>
          <a:solidFill xmlns:a="http://schemas.openxmlformats.org/drawingml/2006/main">
            <a:srgbClr val="314056"/>
          </a:solidFill>
          <a:ln xmlns:a="http://schemas.openxmlformats.org/drawingml/2006/main" w="0">
            <a:solidFill>
              <a:srgbClr val="000000">
                <a:alpha val="0"/>
              </a:srgbClr>
            </a:solidFill>
            <a:prstDash val="solid"/>
          </a:ln>
        </p:spPr>
      </p:sp>
      <p:sp>
        <p:nvSpPr>
          <p:cNvPr id="7" name="BodyText">
            <a:extLst xmlns:a="http://schemas.openxmlformats.org/drawingml/2006/main">
              <a:ext uri="{FF2B5EF4-FFF2-40B4-BE49-F238E27FC236}">
                <a16:creationId xmlns:a16="http://schemas.microsoft.com/office/drawing/2014/main" id="{BF8C5EEF-42BA-4740-862A-C6D570B0309C}"/>
              </a:ext>
            </a:extLst>
          </p:cNvPr>
          <p:cNvSpPr>
            <a:spLocks xmlns:a="http://schemas.openxmlformats.org/drawingml/2006/main" noGrp="1"/>
          </p:cNvSpPr>
          <p:nvPr/>
        </p:nvSpPr>
        <p:spPr>
          <a:xfrm xmlns:a="http://schemas.openxmlformats.org/drawingml/2006/main">
            <a:off x="552450" y="3238500"/>
            <a:ext cx="6762750" cy="2095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E6ECF5"/>
                </a:solidFill>
                <a:latin typeface="Aptos"/>
                <a:ea typeface="Aptos"/>
                <a:cs typeface="Aptos"/>
              </a:defRPr>
            </a:pPr>
            <a:r>
              <a:rPr sz="1350" b="0">
                <a:solidFill>
                  <a:srgbClr val="E6ECF5"/>
                </a:solidFill>
                <a:latin typeface="Aptos"/>
                <a:ea typeface="Aptos"/>
                <a:cs typeface="Aptos"/>
              </a:rPr>
              <a:t>A France-wide comparison workflow now exists from raw commune rows to map-ready diagnostics.</a:t>
            </a:r>
          </a:p>
          <a:p xmlns:a="http://schemas.openxmlformats.org/drawingml/2006/main">
            <a:r>
              <a:t/>
            </a:r>
          </a:p>
          <a:p xmlns:a="http://schemas.openxmlformats.org/drawingml/2006/main">
            <a:pPr algn="l">
              <a:lnSpc>
                <a:spcPct val="110000"/>
              </a:lnSpc>
              <a:buNone/>
              <a:defRPr sz="1350" b="0">
                <a:solidFill>
                  <a:srgbClr val="E6ECF5"/>
                </a:solidFill>
                <a:latin typeface="Aptos"/>
                <a:ea typeface="Aptos"/>
                <a:cs typeface="Aptos"/>
              </a:defRPr>
            </a:pPr>
            <a:r>
              <a:rPr sz="1350" b="0">
                <a:solidFill>
                  <a:srgbClr val="E6ECF5"/>
                </a:solidFill>
                <a:latin typeface="Aptos"/>
                <a:ea typeface="Aptos"/>
                <a:cs typeface="Aptos"/>
              </a:rPr>
              <a:t>The July 2021 mismatch has been documented with public evidence from both the Gaspar-only and JRC-only sides.</a:t>
            </a:r>
          </a:p>
          <a:p xmlns:a="http://schemas.openxmlformats.org/drawingml/2006/main">
            <a:r>
              <a:t/>
            </a:r>
          </a:p>
          <a:p xmlns:a="http://schemas.openxmlformats.org/drawingml/2006/main">
            <a:pPr algn="l">
              <a:lnSpc>
                <a:spcPct val="110000"/>
              </a:lnSpc>
              <a:buNone/>
              <a:defRPr sz="1350" b="0">
                <a:solidFill>
                  <a:srgbClr val="E6ECF5"/>
                </a:solidFill>
                <a:latin typeface="Aptos"/>
                <a:ea typeface="Aptos"/>
                <a:cs typeface="Aptos"/>
              </a:defRPr>
            </a:pPr>
            <a:r>
              <a:rPr sz="1350" b="0">
                <a:solidFill>
                  <a:srgbClr val="E6ECF5"/>
                </a:solidFill>
                <a:latin typeface="Aptos"/>
                <a:ea typeface="Aptos"/>
                <a:cs typeface="Aptos"/>
              </a:rPr>
              <a:t>National commune-level event matching remains low, but department-level matching is materially higher.</a:t>
            </a:r>
          </a:p>
          <a:p xmlns:a="http://schemas.openxmlformats.org/drawingml/2006/main">
            <a:r>
              <a:t/>
            </a:r>
          </a:p>
          <a:p xmlns:a="http://schemas.openxmlformats.org/drawingml/2006/main">
            <a:pPr algn="l">
              <a:lnSpc>
                <a:spcPct val="110000"/>
              </a:lnSpc>
              <a:buNone/>
              <a:defRPr sz="1350" b="0">
                <a:solidFill>
                  <a:srgbClr val="E6ECF5"/>
                </a:solidFill>
                <a:latin typeface="Aptos"/>
                <a:ea typeface="Aptos"/>
                <a:cs typeface="Aptos"/>
              </a:defRPr>
            </a:pPr>
            <a:r>
              <a:rPr sz="1350" b="0">
                <a:solidFill>
                  <a:srgbClr val="E6ECF5"/>
                </a:solidFill>
                <a:latin typeface="Aptos"/>
                <a:ea typeface="Aptos"/>
                <a:cs typeface="Aptos"/>
              </a:rPr>
              <a:t>The new 2015-2024 horizon audit shows the mismatch recurring across several major flood families.</a:t>
            </a:r>
          </a:p>
          <a:p xmlns:a="http://schemas.openxmlformats.org/drawingml/2006/main">
            <a:r>
              <a:t/>
            </a:r>
          </a:p>
          <a:p xmlns:a="http://schemas.openxmlformats.org/drawingml/2006/main">
            <a:pPr algn="l">
              <a:lnSpc>
                <a:spcPct val="110000"/>
              </a:lnSpc>
              <a:buNone/>
              <a:defRPr sz="1350" b="0">
                <a:solidFill>
                  <a:srgbClr val="E6ECF5"/>
                </a:solidFill>
                <a:latin typeface="Aptos"/>
                <a:ea typeface="Aptos"/>
                <a:cs typeface="Aptos"/>
              </a:defRPr>
            </a:pPr>
            <a:r>
              <a:rPr sz="1350" b="0">
                <a:solidFill>
                  <a:srgbClr val="E6ECF5"/>
                </a:solidFill>
                <a:latin typeface="Aptos"/>
                <a:ea typeface="Aptos"/>
                <a:cs typeface="Aptos"/>
              </a:rPr>
              <a:t>The T20 point workflow is operational and already tested against processed JRC flood rasters.</a:t>
            </a:r>
          </a:p>
        </p:txBody>
      </p:sp>
      <p:sp>
        <p:nvSpPr>
          <p:cNvPr id="8" name="MetricCard">
            <a:extLst xmlns:a="http://schemas.openxmlformats.org/drawingml/2006/main">
              <a:ext uri="{FF2B5EF4-FFF2-40B4-BE49-F238E27FC236}">
                <a16:creationId xmlns:a16="http://schemas.microsoft.com/office/drawing/2014/main" id="{BCB94B14-A664-4C68-B4A8-2A9D66772EDA}"/>
              </a:ext>
            </a:extLst>
          </p:cNvPr>
          <p:cNvSpPr>
            <a:spLocks xmlns:a="http://schemas.openxmlformats.org/drawingml/2006/main" noGrp="1"/>
          </p:cNvSpPr>
          <p:nvPr/>
        </p:nvSpPr>
        <p:spPr>
          <a:xfrm xmlns:a="http://schemas.openxmlformats.org/drawingml/2006/main">
            <a:off x="8191500" y="1028700"/>
            <a:ext cx="2952750" cy="1123950"/>
          </a:xfrm>
          <a:prstGeom xmlns:a="http://schemas.openxmlformats.org/drawingml/2006/main" prst="rect">
            <a:avLst/>
          </a:prstGeom>
          <a:solidFill xmlns:a="http://schemas.openxmlformats.org/drawingml/2006/main">
            <a:srgbClr val="F7EFE6"/>
          </a:solidFill>
          <a:ln xmlns:a="http://schemas.openxmlformats.org/drawingml/2006/main" w="9525">
            <a:solidFill>
              <a:srgbClr val="D7CEC0"/>
            </a:solidFill>
            <a:prstDash val="solid"/>
          </a:ln>
        </p:spPr>
      </p:sp>
      <p:sp>
        <p:nvSpPr>
          <p:cNvPr id="9" name="Rule">
            <a:extLst xmlns:a="http://schemas.openxmlformats.org/drawingml/2006/main">
              <a:ext uri="{FF2B5EF4-FFF2-40B4-BE49-F238E27FC236}">
                <a16:creationId xmlns:a16="http://schemas.microsoft.com/office/drawing/2014/main" id="{342DBCAC-1049-4F15-ABC0-C5973F0CEEBB}"/>
              </a:ext>
            </a:extLst>
          </p:cNvPr>
          <p:cNvSpPr>
            <a:spLocks xmlns:a="http://schemas.openxmlformats.org/drawingml/2006/main" noGrp="1"/>
          </p:cNvSpPr>
          <p:nvPr/>
        </p:nvSpPr>
        <p:spPr>
          <a:xfrm xmlns:a="http://schemas.openxmlformats.org/drawingml/2006/main">
            <a:off x="8191500" y="1028700"/>
            <a:ext cx="2952750" cy="571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0" name="SmallText">
            <a:extLst xmlns:a="http://schemas.openxmlformats.org/drawingml/2006/main">
              <a:ext uri="{FF2B5EF4-FFF2-40B4-BE49-F238E27FC236}">
                <a16:creationId xmlns:a16="http://schemas.microsoft.com/office/drawing/2014/main" id="{9B241DFC-E480-4813-8D59-803C2C7A46D8}"/>
              </a:ext>
            </a:extLst>
          </p:cNvPr>
          <p:cNvSpPr>
            <a:spLocks xmlns:a="http://schemas.openxmlformats.org/drawingml/2006/main" noGrp="1"/>
          </p:cNvSpPr>
          <p:nvPr/>
        </p:nvSpPr>
        <p:spPr>
          <a:xfrm xmlns:a="http://schemas.openxmlformats.org/drawingml/2006/main">
            <a:off x="8362950" y="1200150"/>
            <a:ext cx="2609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MAIN BUILD</a:t>
            </a:r>
          </a:p>
        </p:txBody>
      </p:sp>
      <p:sp>
        <p:nvSpPr>
          <p:cNvPr id="11" name="MetricValue">
            <a:extLst xmlns:a="http://schemas.openxmlformats.org/drawingml/2006/main">
              <a:ext uri="{FF2B5EF4-FFF2-40B4-BE49-F238E27FC236}">
                <a16:creationId xmlns:a16="http://schemas.microsoft.com/office/drawing/2014/main" id="{8D4DE338-3945-4F4E-9C49-1B01A08EC2FE}"/>
              </a:ext>
            </a:extLst>
          </p:cNvPr>
          <p:cNvSpPr>
            <a:spLocks xmlns:a="http://schemas.openxmlformats.org/drawingml/2006/main" noGrp="1"/>
          </p:cNvSpPr>
          <p:nvPr/>
        </p:nvSpPr>
        <p:spPr>
          <a:xfrm xmlns:a="http://schemas.openxmlformats.org/drawingml/2006/main">
            <a:off x="8362950" y="1466850"/>
            <a:ext cx="26098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France comparison app</a:t>
            </a:r>
          </a:p>
        </p:txBody>
      </p:sp>
      <p:sp>
        <p:nvSpPr>
          <p:cNvPr id="12" name="MetricCard">
            <a:extLst xmlns:a="http://schemas.openxmlformats.org/drawingml/2006/main">
              <a:ext uri="{FF2B5EF4-FFF2-40B4-BE49-F238E27FC236}">
                <a16:creationId xmlns:a16="http://schemas.microsoft.com/office/drawing/2014/main" id="{5ACDF476-5D33-4E0D-9A34-111F923BCD7E}"/>
              </a:ext>
            </a:extLst>
          </p:cNvPr>
          <p:cNvSpPr>
            <a:spLocks xmlns:a="http://schemas.openxmlformats.org/drawingml/2006/main" noGrp="1"/>
          </p:cNvSpPr>
          <p:nvPr/>
        </p:nvSpPr>
        <p:spPr>
          <a:xfrm xmlns:a="http://schemas.openxmlformats.org/drawingml/2006/main">
            <a:off x="8191500" y="2343150"/>
            <a:ext cx="1409700" cy="1066800"/>
          </a:xfrm>
          <a:prstGeom xmlns:a="http://schemas.openxmlformats.org/drawingml/2006/main" prst="rect">
            <a:avLst/>
          </a:prstGeom>
          <a:solidFill xmlns:a="http://schemas.openxmlformats.org/drawingml/2006/main">
            <a:srgbClr val="EEF3FB"/>
          </a:solidFill>
          <a:ln xmlns:a="http://schemas.openxmlformats.org/drawingml/2006/main" w="9525">
            <a:solidFill>
              <a:srgbClr val="D7CEC0"/>
            </a:solidFill>
            <a:prstDash val="solid"/>
          </a:ln>
        </p:spPr>
      </p:sp>
      <p:sp>
        <p:nvSpPr>
          <p:cNvPr id="13" name="Rule">
            <a:extLst xmlns:a="http://schemas.openxmlformats.org/drawingml/2006/main">
              <a:ext uri="{FF2B5EF4-FFF2-40B4-BE49-F238E27FC236}">
                <a16:creationId xmlns:a16="http://schemas.microsoft.com/office/drawing/2014/main" id="{14A51B70-925A-45F4-864E-1D248FC41500}"/>
              </a:ext>
            </a:extLst>
          </p:cNvPr>
          <p:cNvSpPr>
            <a:spLocks xmlns:a="http://schemas.openxmlformats.org/drawingml/2006/main" noGrp="1"/>
          </p:cNvSpPr>
          <p:nvPr/>
        </p:nvSpPr>
        <p:spPr>
          <a:xfrm xmlns:a="http://schemas.openxmlformats.org/drawingml/2006/main">
            <a:off x="8191500" y="2343150"/>
            <a:ext cx="1409700" cy="571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14" name="SmallText">
            <a:extLst xmlns:a="http://schemas.openxmlformats.org/drawingml/2006/main">
              <a:ext uri="{FF2B5EF4-FFF2-40B4-BE49-F238E27FC236}">
                <a16:creationId xmlns:a16="http://schemas.microsoft.com/office/drawing/2014/main" id="{DC468CD6-1A86-453C-81CE-200DE1AB1A9F}"/>
              </a:ext>
            </a:extLst>
          </p:cNvPr>
          <p:cNvSpPr>
            <a:spLocks xmlns:a="http://schemas.openxmlformats.org/drawingml/2006/main" noGrp="1"/>
          </p:cNvSpPr>
          <p:nvPr/>
        </p:nvSpPr>
        <p:spPr>
          <a:xfrm xmlns:a="http://schemas.openxmlformats.org/drawingml/2006/main">
            <a:off x="8362950" y="2514600"/>
            <a:ext cx="106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AUDIT DOCS</a:t>
            </a:r>
          </a:p>
        </p:txBody>
      </p:sp>
      <p:sp>
        <p:nvSpPr>
          <p:cNvPr id="15" name="MetricValue">
            <a:extLst xmlns:a="http://schemas.openxmlformats.org/drawingml/2006/main">
              <a:ext uri="{FF2B5EF4-FFF2-40B4-BE49-F238E27FC236}">
                <a16:creationId xmlns:a16="http://schemas.microsoft.com/office/drawing/2014/main" id="{D81EBBFD-2788-4C95-9622-E6FB2A5CF647}"/>
              </a:ext>
            </a:extLst>
          </p:cNvPr>
          <p:cNvSpPr>
            <a:spLocks xmlns:a="http://schemas.openxmlformats.org/drawingml/2006/main" noGrp="1"/>
          </p:cNvSpPr>
          <p:nvPr/>
        </p:nvSpPr>
        <p:spPr>
          <a:xfrm xmlns:a="http://schemas.openxmlformats.org/drawingml/2006/main">
            <a:off x="8362950" y="2781300"/>
            <a:ext cx="10668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EN + FR</a:t>
            </a:r>
          </a:p>
        </p:txBody>
      </p:sp>
      <p:sp>
        <p:nvSpPr>
          <p:cNvPr id="16" name="MetricCard">
            <a:extLst xmlns:a="http://schemas.openxmlformats.org/drawingml/2006/main">
              <a:ext uri="{FF2B5EF4-FFF2-40B4-BE49-F238E27FC236}">
                <a16:creationId xmlns:a16="http://schemas.microsoft.com/office/drawing/2014/main" id="{E89725B2-EE44-47DD-9542-42FECF77E4EE}"/>
              </a:ext>
            </a:extLst>
          </p:cNvPr>
          <p:cNvSpPr>
            <a:spLocks xmlns:a="http://schemas.openxmlformats.org/drawingml/2006/main" noGrp="1"/>
          </p:cNvSpPr>
          <p:nvPr/>
        </p:nvSpPr>
        <p:spPr>
          <a:xfrm xmlns:a="http://schemas.openxmlformats.org/drawingml/2006/main">
            <a:off x="9734550" y="2343150"/>
            <a:ext cx="1409700" cy="1066800"/>
          </a:xfrm>
          <a:prstGeom xmlns:a="http://schemas.openxmlformats.org/drawingml/2006/main" prst="rect">
            <a:avLst/>
          </a:prstGeom>
          <a:solidFill xmlns:a="http://schemas.openxmlformats.org/drawingml/2006/main">
            <a:srgbClr val="EAF5F3"/>
          </a:solidFill>
          <a:ln xmlns:a="http://schemas.openxmlformats.org/drawingml/2006/main" w="9525">
            <a:solidFill>
              <a:srgbClr val="D7CEC0"/>
            </a:solidFill>
            <a:prstDash val="solid"/>
          </a:ln>
        </p:spPr>
      </p:sp>
      <p:sp>
        <p:nvSpPr>
          <p:cNvPr id="17" name="Rule">
            <a:extLst xmlns:a="http://schemas.openxmlformats.org/drawingml/2006/main">
              <a:ext uri="{FF2B5EF4-FFF2-40B4-BE49-F238E27FC236}">
                <a16:creationId xmlns:a16="http://schemas.microsoft.com/office/drawing/2014/main" id="{9993A15A-B617-45C7-BBC7-BBFCFC0F320C}"/>
              </a:ext>
            </a:extLst>
          </p:cNvPr>
          <p:cNvSpPr>
            <a:spLocks xmlns:a="http://schemas.openxmlformats.org/drawingml/2006/main" noGrp="1"/>
          </p:cNvSpPr>
          <p:nvPr/>
        </p:nvSpPr>
        <p:spPr>
          <a:xfrm xmlns:a="http://schemas.openxmlformats.org/drawingml/2006/main">
            <a:off x="9734550" y="2343150"/>
            <a:ext cx="14097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18" name="SmallText">
            <a:extLst xmlns:a="http://schemas.openxmlformats.org/drawingml/2006/main">
              <a:ext uri="{FF2B5EF4-FFF2-40B4-BE49-F238E27FC236}">
                <a16:creationId xmlns:a16="http://schemas.microsoft.com/office/drawing/2014/main" id="{62F49105-594D-479F-A29C-24B5CECB34D3}"/>
              </a:ext>
            </a:extLst>
          </p:cNvPr>
          <p:cNvSpPr>
            <a:spLocks xmlns:a="http://schemas.openxmlformats.org/drawingml/2006/main" noGrp="1"/>
          </p:cNvSpPr>
          <p:nvPr/>
        </p:nvSpPr>
        <p:spPr>
          <a:xfrm xmlns:a="http://schemas.openxmlformats.org/drawingml/2006/main">
            <a:off x="9906000" y="2514600"/>
            <a:ext cx="106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T20 RESULT</a:t>
            </a:r>
          </a:p>
        </p:txBody>
      </p:sp>
      <p:sp>
        <p:nvSpPr>
          <p:cNvPr id="19" name="MetricValue">
            <a:extLst xmlns:a="http://schemas.openxmlformats.org/drawingml/2006/main">
              <a:ext uri="{FF2B5EF4-FFF2-40B4-BE49-F238E27FC236}">
                <a16:creationId xmlns:a16="http://schemas.microsoft.com/office/drawing/2014/main" id="{980A5A7F-C010-44EB-B53D-8121AE5AEF67}"/>
              </a:ext>
            </a:extLst>
          </p:cNvPr>
          <p:cNvSpPr>
            <a:spLocks xmlns:a="http://schemas.openxmlformats.org/drawingml/2006/main" noGrp="1"/>
          </p:cNvSpPr>
          <p:nvPr/>
        </p:nvSpPr>
        <p:spPr>
          <a:xfrm xmlns:a="http://schemas.openxmlformats.org/drawingml/2006/main">
            <a:off x="9906000" y="2781300"/>
            <a:ext cx="10668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1 / 49 hit</a:t>
            </a:r>
          </a:p>
        </p:txBody>
      </p:sp>
      <p:sp>
        <p:nvSpPr>
          <p:cNvPr id="20" name="MetricCard">
            <a:extLst xmlns:a="http://schemas.openxmlformats.org/drawingml/2006/main">
              <a:ext uri="{FF2B5EF4-FFF2-40B4-BE49-F238E27FC236}">
                <a16:creationId xmlns:a16="http://schemas.microsoft.com/office/drawing/2014/main" id="{53DC32E1-A35C-4E53-97F7-702B30D295C6}"/>
              </a:ext>
            </a:extLst>
          </p:cNvPr>
          <p:cNvSpPr>
            <a:spLocks xmlns:a="http://schemas.openxmlformats.org/drawingml/2006/main" noGrp="1"/>
          </p:cNvSpPr>
          <p:nvPr/>
        </p:nvSpPr>
        <p:spPr>
          <a:xfrm xmlns:a="http://schemas.openxmlformats.org/drawingml/2006/main">
            <a:off x="8191500" y="3600450"/>
            <a:ext cx="2952750" cy="1333500"/>
          </a:xfrm>
          <a:prstGeom xmlns:a="http://schemas.openxmlformats.org/drawingml/2006/main" prst="rect">
            <a:avLst/>
          </a:prstGeom>
          <a:solidFill xmlns:a="http://schemas.openxmlformats.org/drawingml/2006/main">
            <a:srgbClr val="F7F1D9"/>
          </a:solidFill>
          <a:ln xmlns:a="http://schemas.openxmlformats.org/drawingml/2006/main" w="9525">
            <a:solidFill>
              <a:srgbClr val="D7CEC0"/>
            </a:solidFill>
            <a:prstDash val="solid"/>
          </a:ln>
        </p:spPr>
      </p:sp>
      <p:sp>
        <p:nvSpPr>
          <p:cNvPr id="21" name="Rule">
            <a:extLst xmlns:a="http://schemas.openxmlformats.org/drawingml/2006/main">
              <a:ext uri="{FF2B5EF4-FFF2-40B4-BE49-F238E27FC236}">
                <a16:creationId xmlns:a16="http://schemas.microsoft.com/office/drawing/2014/main" id="{9ED8D86D-3053-4743-B998-F0213A6594FE}"/>
              </a:ext>
            </a:extLst>
          </p:cNvPr>
          <p:cNvSpPr>
            <a:spLocks xmlns:a="http://schemas.openxmlformats.org/drawingml/2006/main" noGrp="1"/>
          </p:cNvSpPr>
          <p:nvPr/>
        </p:nvSpPr>
        <p:spPr>
          <a:xfrm xmlns:a="http://schemas.openxmlformats.org/drawingml/2006/main">
            <a:off x="8191500" y="3600450"/>
            <a:ext cx="2952750" cy="571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22" name="SmallText">
            <a:extLst xmlns:a="http://schemas.openxmlformats.org/drawingml/2006/main">
              <a:ext uri="{FF2B5EF4-FFF2-40B4-BE49-F238E27FC236}">
                <a16:creationId xmlns:a16="http://schemas.microsoft.com/office/drawing/2014/main" id="{862E7BE5-D95F-4E65-BB90-8926AE2C4682}"/>
              </a:ext>
            </a:extLst>
          </p:cNvPr>
          <p:cNvSpPr>
            <a:spLocks xmlns:a="http://schemas.openxmlformats.org/drawingml/2006/main" noGrp="1"/>
          </p:cNvSpPr>
          <p:nvPr/>
        </p:nvSpPr>
        <p:spPr>
          <a:xfrm xmlns:a="http://schemas.openxmlformats.org/drawingml/2006/main">
            <a:off x="8362950" y="3771900"/>
            <a:ext cx="2609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CORE FINDING</a:t>
            </a:r>
          </a:p>
        </p:txBody>
      </p:sp>
      <p:sp>
        <p:nvSpPr>
          <p:cNvPr id="23" name="MetricValue">
            <a:extLst xmlns:a="http://schemas.openxmlformats.org/drawingml/2006/main">
              <a:ext uri="{FF2B5EF4-FFF2-40B4-BE49-F238E27FC236}">
                <a16:creationId xmlns:a16="http://schemas.microsoft.com/office/drawing/2014/main" id="{22F24A00-4767-4CA9-ABC7-7D767C3F6FD4}"/>
              </a:ext>
            </a:extLst>
          </p:cNvPr>
          <p:cNvSpPr>
            <a:spLocks xmlns:a="http://schemas.openxmlformats.org/drawingml/2006/main" noGrp="1"/>
          </p:cNvSpPr>
          <p:nvPr/>
        </p:nvSpPr>
        <p:spPr>
          <a:xfrm xmlns:a="http://schemas.openxmlformats.org/drawingml/2006/main">
            <a:off x="8362950" y="4038600"/>
            <a:ext cx="26098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Mismatch is structured, not random.</a:t>
            </a:r>
          </a:p>
        </p:txBody>
      </p:sp>
      <p:sp>
        <p:nvSpPr>
          <p:cNvPr id="24" name="Rule">
            <a:extLst xmlns:a="http://schemas.openxmlformats.org/drawingml/2006/main">
              <a:ext uri="{FF2B5EF4-FFF2-40B4-BE49-F238E27FC236}">
                <a16:creationId xmlns:a16="http://schemas.microsoft.com/office/drawing/2014/main" id="{EE27113E-FDF0-40B9-A0F0-4222DC467B5D}"/>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324157"/>
          </a:solidFill>
          <a:ln xmlns:a="http://schemas.openxmlformats.org/drawingml/2006/main" w="0">
            <a:solidFill>
              <a:srgbClr val="000000">
                <a:alpha val="0"/>
              </a:srgbClr>
            </a:solidFill>
            <a:prstDash val="solid"/>
          </a:ln>
        </p:spPr>
      </p:sp>
      <p:sp>
        <p:nvSpPr>
          <p:cNvPr id="25" name="SmallText">
            <a:extLst xmlns:a="http://schemas.openxmlformats.org/drawingml/2006/main">
              <a:ext uri="{FF2B5EF4-FFF2-40B4-BE49-F238E27FC236}">
                <a16:creationId xmlns:a16="http://schemas.microsoft.com/office/drawing/2014/main" id="{E7EF3263-1E48-4DEF-AA24-4357D277CB11}"/>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Prepared on 2026-06-04 | Scope: July 2021 comparison, Streamlit viewer, national plus horizon audit, and T20 point-screening workflow.</a:t>
            </a:r>
          </a:p>
        </p:txBody>
      </p:sp>
    </p:spTree>
    <p:extLst>
      <p:ext uri="{BB962C8B-B14F-4D97-AF65-F5344CB8AC3E}">
        <p14:creationId xmlns:p14="http://schemas.microsoft.com/office/powerpoint/2010/main" val="17699639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072E3096-5281-49FA-B1B7-2CAFA81C7B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1E8"/>
          </a:solidFill>
          <a:ln xmlns:a="http://schemas.openxmlformats.org/drawingml/2006/main" w="0">
            <a:solidFill>
              <a:srgbClr val="000000">
                <a:alpha val="0"/>
              </a:srgbClr>
            </a:solidFill>
            <a:prstDash val="solid"/>
          </a:ln>
        </p:spPr>
      </p:sp>
      <p:sp>
        <p:nvSpPr>
          <p:cNvPr id="2" name="Label">
            <a:extLst xmlns:a="http://schemas.openxmlformats.org/drawingml/2006/main">
              <a:ext uri="{FF2B5EF4-FFF2-40B4-BE49-F238E27FC236}">
                <a16:creationId xmlns:a16="http://schemas.microsoft.com/office/drawing/2014/main" id="{E505CD60-18F3-4016-9404-4191C17E9C69}"/>
              </a:ext>
            </a:extLst>
          </p:cNvPr>
          <p:cNvSpPr>
            <a:spLocks xmlns:a="http://schemas.openxmlformats.org/drawingml/2006/main" noGrp="1"/>
          </p:cNvSpPr>
          <p:nvPr/>
        </p:nvSpPr>
        <p:spPr>
          <a:xfrm xmlns:a="http://schemas.openxmlformats.org/drawingml/2006/main">
            <a:off x="514350" y="400050"/>
            <a:ext cx="285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45A3C"/>
                </a:solidFill>
                <a:latin typeface="Aptos"/>
                <a:ea typeface="Aptos"/>
                <a:cs typeface="Aptos"/>
              </a:defRPr>
            </a:pPr>
            <a:r>
              <a:rPr sz="1350" b="1">
                <a:solidFill>
                  <a:srgbClr val="E45A3C"/>
                </a:solidFill>
                <a:latin typeface="Aptos"/>
                <a:ea typeface="Aptos"/>
                <a:cs typeface="Aptos"/>
              </a:rPr>
              <a:t>SYSTEM VIEW</a:t>
            </a:r>
          </a:p>
        </p:txBody>
      </p:sp>
      <p:sp>
        <p:nvSpPr>
          <p:cNvPr id="3" name="Title">
            <a:extLst xmlns:a="http://schemas.openxmlformats.org/drawingml/2006/main">
              <a:ext uri="{FF2B5EF4-FFF2-40B4-BE49-F238E27FC236}">
                <a16:creationId xmlns:a16="http://schemas.microsoft.com/office/drawing/2014/main" id="{C0586ECD-D81F-4A10-BBF6-EA4DB4181113}"/>
              </a:ext>
            </a:extLst>
          </p:cNvPr>
          <p:cNvSpPr>
            <a:spLocks xmlns:a="http://schemas.openxmlformats.org/drawingml/2006/main" noGrp="1"/>
          </p:cNvSpPr>
          <p:nvPr/>
        </p:nvSpPr>
        <p:spPr>
          <a:xfrm xmlns:a="http://schemas.openxmlformats.org/drawingml/2006/main">
            <a:off x="514350" y="742950"/>
            <a:ext cx="10668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We now have a reusable France comparison stack from raw codes to map-ready communes</a:t>
            </a:r>
          </a:p>
        </p:txBody>
      </p:sp>
      <p:sp>
        <p:nvSpPr>
          <p:cNvPr id="4" name="SmallText">
            <a:extLst xmlns:a="http://schemas.openxmlformats.org/drawingml/2006/main">
              <a:ext uri="{FF2B5EF4-FFF2-40B4-BE49-F238E27FC236}">
                <a16:creationId xmlns:a16="http://schemas.microsoft.com/office/drawing/2014/main" id="{F394ABC9-8C3F-49A3-B1D9-13C1FA120F11}"/>
              </a:ext>
            </a:extLst>
          </p:cNvPr>
          <p:cNvSpPr>
            <a:spLocks xmlns:a="http://schemas.openxmlformats.org/drawingml/2006/main" noGrp="1"/>
          </p:cNvSpPr>
          <p:nvPr/>
        </p:nvSpPr>
        <p:spPr>
          <a:xfrm xmlns:a="http://schemas.openxmlformats.org/drawingml/2006/main">
            <a:off x="514350" y="1390650"/>
            <a:ext cx="971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The same stack now supports raw-data transformation, commune reconciliation, visual comparison, and manual evidence work.</a:t>
            </a:r>
          </a:p>
        </p:txBody>
      </p:sp>
      <p:sp>
        <p:nvSpPr>
          <p:cNvPr id="5" name="Source layer">
            <a:extLst xmlns:a="http://schemas.openxmlformats.org/drawingml/2006/main">
              <a:ext uri="{FF2B5EF4-FFF2-40B4-BE49-F238E27FC236}">
                <a16:creationId xmlns:a16="http://schemas.microsoft.com/office/drawing/2014/main" id="{915D4836-5423-428D-B011-7B8F115864CE}"/>
              </a:ext>
            </a:extLst>
          </p:cNvPr>
          <p:cNvSpPr>
            <a:spLocks xmlns:a="http://schemas.openxmlformats.org/drawingml/2006/main" noGrp="1"/>
          </p:cNvSpPr>
          <p:nvPr/>
        </p:nvSpPr>
        <p:spPr>
          <a:xfrm xmlns:a="http://schemas.openxmlformats.org/drawingml/2006/main">
            <a:off x="514350" y="1981200"/>
            <a:ext cx="2457450" cy="3429000"/>
          </a:xfrm>
          <a:prstGeom xmlns:a="http://schemas.openxmlformats.org/drawingml/2006/main" prst="rect">
            <a:avLst/>
          </a:prstGeom>
          <a:solidFill xmlns:a="http://schemas.openxmlformats.org/drawingml/2006/main">
            <a:srgbClr val="FBF6ED"/>
          </a:solidFill>
          <a:ln xmlns:a="http://schemas.openxmlformats.org/drawingml/2006/main" w="9525">
            <a:solidFill>
              <a:srgbClr val="D7CEC0"/>
            </a:solidFill>
            <a:prstDash val="solid"/>
          </a:ln>
        </p:spPr>
      </p:sp>
      <p:sp>
        <p:nvSpPr>
          <p:cNvPr id="6" name="Source layerAccent">
            <a:extLst xmlns:a="http://schemas.openxmlformats.org/drawingml/2006/main">
              <a:ext uri="{FF2B5EF4-FFF2-40B4-BE49-F238E27FC236}">
                <a16:creationId xmlns:a16="http://schemas.microsoft.com/office/drawing/2014/main" id="{249D7A2E-97EC-4B34-B896-D5613A2662B9}"/>
              </a:ext>
            </a:extLst>
          </p:cNvPr>
          <p:cNvSpPr>
            <a:spLocks xmlns:a="http://schemas.openxmlformats.org/drawingml/2006/main" noGrp="1"/>
          </p:cNvSpPr>
          <p:nvPr/>
        </p:nvSpPr>
        <p:spPr>
          <a:xfrm xmlns:a="http://schemas.openxmlformats.org/drawingml/2006/main">
            <a:off x="514350" y="1981200"/>
            <a:ext cx="2457450" cy="7620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7" name="BodyText">
            <a:extLst xmlns:a="http://schemas.openxmlformats.org/drawingml/2006/main">
              <a:ext uri="{FF2B5EF4-FFF2-40B4-BE49-F238E27FC236}">
                <a16:creationId xmlns:a16="http://schemas.microsoft.com/office/drawing/2014/main" id="{073A272C-CA36-4F59-A93F-26B9751CB359}"/>
              </a:ext>
            </a:extLst>
          </p:cNvPr>
          <p:cNvSpPr>
            <a:spLocks xmlns:a="http://schemas.openxmlformats.org/drawingml/2006/main" noGrp="1"/>
          </p:cNvSpPr>
          <p:nvPr/>
        </p:nvSpPr>
        <p:spPr>
          <a:xfrm xmlns:a="http://schemas.openxmlformats.org/drawingml/2006/main">
            <a:off x="685800" y="2171700"/>
            <a:ext cx="2114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Display"/>
                <a:ea typeface="Aptos Display"/>
                <a:cs typeface="Aptos Display"/>
              </a:defRPr>
            </a:pPr>
            <a:r>
              <a:rPr sz="1725" b="1">
                <a:solidFill>
                  <a:srgbClr val="0F172A"/>
                </a:solidFill>
                <a:latin typeface="Aptos Display"/>
                <a:ea typeface="Aptos Display"/>
                <a:cs typeface="Aptos Display"/>
              </a:rPr>
              <a:t>Source layer</a:t>
            </a:r>
          </a:p>
        </p:txBody>
      </p:sp>
      <p:sp>
        <p:nvSpPr>
          <p:cNvPr id="8" name="BodyText">
            <a:extLst xmlns:a="http://schemas.openxmlformats.org/drawingml/2006/main">
              <a:ext uri="{FF2B5EF4-FFF2-40B4-BE49-F238E27FC236}">
                <a16:creationId xmlns:a16="http://schemas.microsoft.com/office/drawing/2014/main" id="{568B0796-73CE-4C85-A599-F685B74B4847}"/>
              </a:ext>
            </a:extLst>
          </p:cNvPr>
          <p:cNvSpPr>
            <a:spLocks xmlns:a="http://schemas.openxmlformats.org/drawingml/2006/main" noGrp="1"/>
          </p:cNvSpPr>
          <p:nvPr/>
        </p:nvSpPr>
        <p:spPr>
          <a:xfrm xmlns:a="http://schemas.openxmlformats.org/drawingml/2006/main">
            <a:off x="685800" y="26670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Gaspar raw and processed event tables</a:t>
            </a:r>
          </a:p>
        </p:txBody>
      </p:sp>
      <p:sp>
        <p:nvSpPr>
          <p:cNvPr id="9" name="BodyText">
            <a:extLst xmlns:a="http://schemas.openxmlformats.org/drawingml/2006/main">
              <a:ext uri="{FF2B5EF4-FFF2-40B4-BE49-F238E27FC236}">
                <a16:creationId xmlns:a16="http://schemas.microsoft.com/office/drawing/2014/main" id="{B2134BBC-EE25-4072-A8DC-908AA934B39D}"/>
              </a:ext>
            </a:extLst>
          </p:cNvPr>
          <p:cNvSpPr>
            <a:spLocks xmlns:a="http://schemas.openxmlformats.org/drawingml/2006/main" noGrp="1"/>
          </p:cNvSpPr>
          <p:nvPr/>
        </p:nvSpPr>
        <p:spPr>
          <a:xfrm xmlns:a="http://schemas.openxmlformats.org/drawingml/2006/main">
            <a:off x="685800" y="33147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JRC processed France LAU event table</a:t>
            </a:r>
          </a:p>
        </p:txBody>
      </p:sp>
      <p:sp>
        <p:nvSpPr>
          <p:cNvPr id="10" name="BodyText">
            <a:extLst xmlns:a="http://schemas.openxmlformats.org/drawingml/2006/main">
              <a:ext uri="{FF2B5EF4-FFF2-40B4-BE49-F238E27FC236}">
                <a16:creationId xmlns:a16="http://schemas.microsoft.com/office/drawing/2014/main" id="{A215D3E1-61E3-41E5-B18D-0940287E2FBB}"/>
              </a:ext>
            </a:extLst>
          </p:cNvPr>
          <p:cNvSpPr>
            <a:spLocks xmlns:a="http://schemas.openxmlformats.org/drawingml/2006/main" noGrp="1"/>
          </p:cNvSpPr>
          <p:nvPr/>
        </p:nvSpPr>
        <p:spPr>
          <a:xfrm xmlns:a="http://schemas.openxmlformats.org/drawingml/2006/main">
            <a:off x="685800" y="39624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Old INSEE updates plus current LAU / INSEE lookup</a:t>
            </a:r>
          </a:p>
        </p:txBody>
      </p:sp>
      <p:sp>
        <p:nvSpPr>
          <p:cNvPr id="11" name="BodyText">
            <a:extLst xmlns:a="http://schemas.openxmlformats.org/drawingml/2006/main">
              <a:ext uri="{FF2B5EF4-FFF2-40B4-BE49-F238E27FC236}">
                <a16:creationId xmlns:a16="http://schemas.microsoft.com/office/drawing/2014/main" id="{3FE9444C-89EC-4D59-8CE7-4E71BFDB24C1}"/>
              </a:ext>
            </a:extLst>
          </p:cNvPr>
          <p:cNvSpPr>
            <a:spLocks xmlns:a="http://schemas.openxmlformats.org/drawingml/2006/main" noGrp="1"/>
          </p:cNvSpPr>
          <p:nvPr/>
        </p:nvSpPr>
        <p:spPr>
          <a:xfrm xmlns:a="http://schemas.openxmlformats.org/drawingml/2006/main">
            <a:off x="685800" y="46101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AdminExpress commune polygons</a:t>
            </a:r>
          </a:p>
        </p:txBody>
      </p:sp>
      <p:sp>
        <p:nvSpPr>
          <p:cNvPr id="12" name="Harmonization layer">
            <a:extLst xmlns:a="http://schemas.openxmlformats.org/drawingml/2006/main">
              <a:ext uri="{FF2B5EF4-FFF2-40B4-BE49-F238E27FC236}">
                <a16:creationId xmlns:a16="http://schemas.microsoft.com/office/drawing/2014/main" id="{9B5E0FB4-817E-4DDF-9B76-7BCBE37FB3B8}"/>
              </a:ext>
            </a:extLst>
          </p:cNvPr>
          <p:cNvSpPr>
            <a:spLocks xmlns:a="http://schemas.openxmlformats.org/drawingml/2006/main" noGrp="1"/>
          </p:cNvSpPr>
          <p:nvPr/>
        </p:nvSpPr>
        <p:spPr>
          <a:xfrm xmlns:a="http://schemas.openxmlformats.org/drawingml/2006/main">
            <a:off x="3238500" y="1981200"/>
            <a:ext cx="2457450" cy="3429000"/>
          </a:xfrm>
          <a:prstGeom xmlns:a="http://schemas.openxmlformats.org/drawingml/2006/main" prst="rect">
            <a:avLst/>
          </a:prstGeom>
          <a:solidFill xmlns:a="http://schemas.openxmlformats.org/drawingml/2006/main">
            <a:srgbClr val="EEF3FB"/>
          </a:solidFill>
          <a:ln xmlns:a="http://schemas.openxmlformats.org/drawingml/2006/main" w="9525">
            <a:solidFill>
              <a:srgbClr val="D7CEC0"/>
            </a:solidFill>
            <a:prstDash val="solid"/>
          </a:ln>
        </p:spPr>
      </p:sp>
      <p:sp>
        <p:nvSpPr>
          <p:cNvPr id="13" name="Harmonization layerAccent">
            <a:extLst xmlns:a="http://schemas.openxmlformats.org/drawingml/2006/main">
              <a:ext uri="{FF2B5EF4-FFF2-40B4-BE49-F238E27FC236}">
                <a16:creationId xmlns:a16="http://schemas.microsoft.com/office/drawing/2014/main" id="{F5758418-EC34-467E-800E-6A70CE92E091}"/>
              </a:ext>
            </a:extLst>
          </p:cNvPr>
          <p:cNvSpPr>
            <a:spLocks xmlns:a="http://schemas.openxmlformats.org/drawingml/2006/main" noGrp="1"/>
          </p:cNvSpPr>
          <p:nvPr/>
        </p:nvSpPr>
        <p:spPr>
          <a:xfrm xmlns:a="http://schemas.openxmlformats.org/drawingml/2006/main">
            <a:off x="3238500" y="1981200"/>
            <a:ext cx="2457450" cy="7620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14" name="BodyText">
            <a:extLst xmlns:a="http://schemas.openxmlformats.org/drawingml/2006/main">
              <a:ext uri="{FF2B5EF4-FFF2-40B4-BE49-F238E27FC236}">
                <a16:creationId xmlns:a16="http://schemas.microsoft.com/office/drawing/2014/main" id="{679D4846-96DF-4568-90FA-5A3CF36D389C}"/>
              </a:ext>
            </a:extLst>
          </p:cNvPr>
          <p:cNvSpPr>
            <a:spLocks xmlns:a="http://schemas.openxmlformats.org/drawingml/2006/main" noGrp="1"/>
          </p:cNvSpPr>
          <p:nvPr/>
        </p:nvSpPr>
        <p:spPr>
          <a:xfrm xmlns:a="http://schemas.openxmlformats.org/drawingml/2006/main">
            <a:off x="3409950" y="2171700"/>
            <a:ext cx="2114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Display"/>
                <a:ea typeface="Aptos Display"/>
                <a:cs typeface="Aptos Display"/>
              </a:defRPr>
            </a:pPr>
            <a:r>
              <a:rPr sz="1725" b="1">
                <a:solidFill>
                  <a:srgbClr val="0F172A"/>
                </a:solidFill>
                <a:latin typeface="Aptos Display"/>
                <a:ea typeface="Aptos Display"/>
                <a:cs typeface="Aptos Display"/>
              </a:rPr>
              <a:t>Harmonization layer</a:t>
            </a:r>
          </a:p>
        </p:txBody>
      </p:sp>
      <p:sp>
        <p:nvSpPr>
          <p:cNvPr id="15" name="BodyText">
            <a:extLst xmlns:a="http://schemas.openxmlformats.org/drawingml/2006/main">
              <a:ext uri="{FF2B5EF4-FFF2-40B4-BE49-F238E27FC236}">
                <a16:creationId xmlns:a16="http://schemas.microsoft.com/office/drawing/2014/main" id="{DB230635-22EB-4E0A-AE11-182A457A3B37}"/>
              </a:ext>
            </a:extLst>
          </p:cNvPr>
          <p:cNvSpPr>
            <a:spLocks xmlns:a="http://schemas.openxmlformats.org/drawingml/2006/main" noGrp="1"/>
          </p:cNvSpPr>
          <p:nvPr/>
        </p:nvSpPr>
        <p:spPr>
          <a:xfrm xmlns:a="http://schemas.openxmlformats.org/drawingml/2006/main">
            <a:off x="3409950" y="26670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Normalize commune keys to current INSEE communes</a:t>
            </a:r>
          </a:p>
        </p:txBody>
      </p:sp>
      <p:sp>
        <p:nvSpPr>
          <p:cNvPr id="16" name="BodyText">
            <a:extLst xmlns:a="http://schemas.openxmlformats.org/drawingml/2006/main">
              <a:ext uri="{FF2B5EF4-FFF2-40B4-BE49-F238E27FC236}">
                <a16:creationId xmlns:a16="http://schemas.microsoft.com/office/drawing/2014/main" id="{045728F2-5C5D-4209-9B53-3F9932F83D12}"/>
              </a:ext>
            </a:extLst>
          </p:cNvPr>
          <p:cNvSpPr>
            <a:spLocks xmlns:a="http://schemas.openxmlformats.org/drawingml/2006/main" noGrp="1"/>
          </p:cNvSpPr>
          <p:nvPr/>
        </p:nvSpPr>
        <p:spPr>
          <a:xfrm xmlns:a="http://schemas.openxmlformats.org/drawingml/2006/main">
            <a:off x="3409950" y="33147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Handle old commune codes, LAU links, and Corsica alphanumeric cases</a:t>
            </a:r>
          </a:p>
        </p:txBody>
      </p:sp>
      <p:sp>
        <p:nvSpPr>
          <p:cNvPr id="17" name="BodyText">
            <a:extLst xmlns:a="http://schemas.openxmlformats.org/drawingml/2006/main">
              <a:ext uri="{FF2B5EF4-FFF2-40B4-BE49-F238E27FC236}">
                <a16:creationId xmlns:a16="http://schemas.microsoft.com/office/drawing/2014/main" id="{4E551E1F-8A71-4C40-AF8E-4D0AC0BE7354}"/>
              </a:ext>
            </a:extLst>
          </p:cNvPr>
          <p:cNvSpPr>
            <a:spLocks xmlns:a="http://schemas.openxmlformats.org/drawingml/2006/main" noGrp="1"/>
          </p:cNvSpPr>
          <p:nvPr/>
        </p:nvSpPr>
        <p:spPr>
          <a:xfrm xmlns:a="http://schemas.openxmlformats.org/drawingml/2006/main">
            <a:off x="3409950" y="39624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Aggregate activity by date, month, quarter, year, or custom period</a:t>
            </a:r>
          </a:p>
        </p:txBody>
      </p:sp>
      <p:sp>
        <p:nvSpPr>
          <p:cNvPr id="18" name="BodyText">
            <a:extLst xmlns:a="http://schemas.openxmlformats.org/drawingml/2006/main">
              <a:ext uri="{FF2B5EF4-FFF2-40B4-BE49-F238E27FC236}">
                <a16:creationId xmlns:a16="http://schemas.microsoft.com/office/drawing/2014/main" id="{88D7F89C-FC81-4CCE-9112-6E871485A7FC}"/>
              </a:ext>
            </a:extLst>
          </p:cNvPr>
          <p:cNvSpPr>
            <a:spLocks xmlns:a="http://schemas.openxmlformats.org/drawingml/2006/main" noGrp="1"/>
          </p:cNvSpPr>
          <p:nvPr/>
        </p:nvSpPr>
        <p:spPr>
          <a:xfrm xmlns:a="http://schemas.openxmlformats.org/drawingml/2006/main">
            <a:off x="3409950" y="46101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Track unresolved rows instead of silently dropping them</a:t>
            </a:r>
          </a:p>
        </p:txBody>
      </p:sp>
      <p:sp>
        <p:nvSpPr>
          <p:cNvPr id="19" name="Project outputs">
            <a:extLst xmlns:a="http://schemas.openxmlformats.org/drawingml/2006/main">
              <a:ext uri="{FF2B5EF4-FFF2-40B4-BE49-F238E27FC236}">
                <a16:creationId xmlns:a16="http://schemas.microsoft.com/office/drawing/2014/main" id="{CC60503C-3483-4B02-9DCC-AABCD581518F}"/>
              </a:ext>
            </a:extLst>
          </p:cNvPr>
          <p:cNvSpPr>
            <a:spLocks xmlns:a="http://schemas.openxmlformats.org/drawingml/2006/main" noGrp="1"/>
          </p:cNvSpPr>
          <p:nvPr/>
        </p:nvSpPr>
        <p:spPr>
          <a:xfrm xmlns:a="http://schemas.openxmlformats.org/drawingml/2006/main">
            <a:off x="5962650" y="1981200"/>
            <a:ext cx="2457450" cy="3429000"/>
          </a:xfrm>
          <a:prstGeom xmlns:a="http://schemas.openxmlformats.org/drawingml/2006/main" prst="rect">
            <a:avLst/>
          </a:prstGeom>
          <a:solidFill xmlns:a="http://schemas.openxmlformats.org/drawingml/2006/main">
            <a:srgbClr val="EAF5F3"/>
          </a:solidFill>
          <a:ln xmlns:a="http://schemas.openxmlformats.org/drawingml/2006/main" w="9525">
            <a:solidFill>
              <a:srgbClr val="D7CEC0"/>
            </a:solidFill>
            <a:prstDash val="solid"/>
          </a:ln>
        </p:spPr>
      </p:sp>
      <p:sp>
        <p:nvSpPr>
          <p:cNvPr id="20" name="Project outputsAccent">
            <a:extLst xmlns:a="http://schemas.openxmlformats.org/drawingml/2006/main">
              <a:ext uri="{FF2B5EF4-FFF2-40B4-BE49-F238E27FC236}">
                <a16:creationId xmlns:a16="http://schemas.microsoft.com/office/drawing/2014/main" id="{55F8D9BB-D94B-4C00-807C-1716A7623DFE}"/>
              </a:ext>
            </a:extLst>
          </p:cNvPr>
          <p:cNvSpPr>
            <a:spLocks xmlns:a="http://schemas.openxmlformats.org/drawingml/2006/main" noGrp="1"/>
          </p:cNvSpPr>
          <p:nvPr/>
        </p:nvSpPr>
        <p:spPr>
          <a:xfrm xmlns:a="http://schemas.openxmlformats.org/drawingml/2006/main">
            <a:off x="5962650" y="1981200"/>
            <a:ext cx="2457450" cy="762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21" name="BodyText">
            <a:extLst xmlns:a="http://schemas.openxmlformats.org/drawingml/2006/main">
              <a:ext uri="{FF2B5EF4-FFF2-40B4-BE49-F238E27FC236}">
                <a16:creationId xmlns:a16="http://schemas.microsoft.com/office/drawing/2014/main" id="{8784574E-9DD7-4D5E-87AC-86418C8DABEE}"/>
              </a:ext>
            </a:extLst>
          </p:cNvPr>
          <p:cNvSpPr>
            <a:spLocks xmlns:a="http://schemas.openxmlformats.org/drawingml/2006/main" noGrp="1"/>
          </p:cNvSpPr>
          <p:nvPr/>
        </p:nvSpPr>
        <p:spPr>
          <a:xfrm xmlns:a="http://schemas.openxmlformats.org/drawingml/2006/main">
            <a:off x="6134100" y="2171700"/>
            <a:ext cx="2114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Display"/>
                <a:ea typeface="Aptos Display"/>
                <a:cs typeface="Aptos Display"/>
              </a:defRPr>
            </a:pPr>
            <a:r>
              <a:rPr sz="1725" b="1">
                <a:solidFill>
                  <a:srgbClr val="0F172A"/>
                </a:solidFill>
                <a:latin typeface="Aptos Display"/>
                <a:ea typeface="Aptos Display"/>
                <a:cs typeface="Aptos Display"/>
              </a:rPr>
              <a:t>Project outputs</a:t>
            </a:r>
          </a:p>
        </p:txBody>
      </p:sp>
      <p:sp>
        <p:nvSpPr>
          <p:cNvPr id="22" name="BodyText">
            <a:extLst xmlns:a="http://schemas.openxmlformats.org/drawingml/2006/main">
              <a:ext uri="{FF2B5EF4-FFF2-40B4-BE49-F238E27FC236}">
                <a16:creationId xmlns:a16="http://schemas.microsoft.com/office/drawing/2014/main" id="{3C3D3151-6D8C-4B35-8C76-EC9019D08768}"/>
              </a:ext>
            </a:extLst>
          </p:cNvPr>
          <p:cNvSpPr>
            <a:spLocks xmlns:a="http://schemas.openxmlformats.org/drawingml/2006/main" noGrp="1"/>
          </p:cNvSpPr>
          <p:nvPr/>
        </p:nvSpPr>
        <p:spPr>
          <a:xfrm xmlns:a="http://schemas.openxmlformats.org/drawingml/2006/main">
            <a:off x="6134100" y="26670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Bilingual audit documents, horizon audit, and July 2021 evidence note</a:t>
            </a:r>
          </a:p>
        </p:txBody>
      </p:sp>
      <p:sp>
        <p:nvSpPr>
          <p:cNvPr id="23" name="BodyText">
            <a:extLst xmlns:a="http://schemas.openxmlformats.org/drawingml/2006/main">
              <a:ext uri="{FF2B5EF4-FFF2-40B4-BE49-F238E27FC236}">
                <a16:creationId xmlns:a16="http://schemas.microsoft.com/office/drawing/2014/main" id="{7F21B88F-C543-4003-838D-30B6A99EF2C7}"/>
              </a:ext>
            </a:extLst>
          </p:cNvPr>
          <p:cNvSpPr>
            <a:spLocks xmlns:a="http://schemas.openxmlformats.org/drawingml/2006/main" noGrp="1"/>
          </p:cNvSpPr>
          <p:nvPr/>
        </p:nvSpPr>
        <p:spPr>
          <a:xfrm xmlns:a="http://schemas.openxmlformats.org/drawingml/2006/main">
            <a:off x="6134100" y="33147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France comparison tables for 7-day and 30-day windows</a:t>
            </a:r>
          </a:p>
        </p:txBody>
      </p:sp>
      <p:sp>
        <p:nvSpPr>
          <p:cNvPr id="24" name="BodyText">
            <a:extLst xmlns:a="http://schemas.openxmlformats.org/drawingml/2006/main">
              <a:ext uri="{FF2B5EF4-FFF2-40B4-BE49-F238E27FC236}">
                <a16:creationId xmlns:a16="http://schemas.microsoft.com/office/drawing/2014/main" id="{9D8D3DC8-9A84-4045-8585-083AE640B5D3}"/>
              </a:ext>
            </a:extLst>
          </p:cNvPr>
          <p:cNvSpPr>
            <a:spLocks xmlns:a="http://schemas.openxmlformats.org/drawingml/2006/main" noGrp="1"/>
          </p:cNvSpPr>
          <p:nvPr/>
        </p:nvSpPr>
        <p:spPr>
          <a:xfrm xmlns:a="http://schemas.openxmlformats.org/drawingml/2006/main">
            <a:off x="6134100" y="39624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Quarter-region manual comparison maps</a:t>
            </a:r>
          </a:p>
        </p:txBody>
      </p:sp>
      <p:sp>
        <p:nvSpPr>
          <p:cNvPr id="25" name="BodyText">
            <a:extLst xmlns:a="http://schemas.openxmlformats.org/drawingml/2006/main">
              <a:ext uri="{FF2B5EF4-FFF2-40B4-BE49-F238E27FC236}">
                <a16:creationId xmlns:a16="http://schemas.microsoft.com/office/drawing/2014/main" id="{8F885B45-FC77-42C9-94F7-6F7B8EDB75B6}"/>
              </a:ext>
            </a:extLst>
          </p:cNvPr>
          <p:cNvSpPr>
            <a:spLocks xmlns:a="http://schemas.openxmlformats.org/drawingml/2006/main" noGrp="1"/>
          </p:cNvSpPr>
          <p:nvPr/>
        </p:nvSpPr>
        <p:spPr>
          <a:xfrm xmlns:a="http://schemas.openxmlformats.org/drawingml/2006/main">
            <a:off x="6134100" y="46101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T20 workbook with point-level JRC flood checks</a:t>
            </a:r>
          </a:p>
        </p:txBody>
      </p:sp>
      <p:sp>
        <p:nvSpPr>
          <p:cNvPr id="26" name="Analyst tools">
            <a:extLst xmlns:a="http://schemas.openxmlformats.org/drawingml/2006/main">
              <a:ext uri="{FF2B5EF4-FFF2-40B4-BE49-F238E27FC236}">
                <a16:creationId xmlns:a16="http://schemas.microsoft.com/office/drawing/2014/main" id="{B95B3B32-F1C5-4EB0-A659-1EA0FAAF3A04}"/>
              </a:ext>
            </a:extLst>
          </p:cNvPr>
          <p:cNvSpPr>
            <a:spLocks xmlns:a="http://schemas.openxmlformats.org/drawingml/2006/main" noGrp="1"/>
          </p:cNvSpPr>
          <p:nvPr/>
        </p:nvSpPr>
        <p:spPr>
          <a:xfrm xmlns:a="http://schemas.openxmlformats.org/drawingml/2006/main">
            <a:off x="8686800" y="1981200"/>
            <a:ext cx="2457450" cy="3429000"/>
          </a:xfrm>
          <a:prstGeom xmlns:a="http://schemas.openxmlformats.org/drawingml/2006/main" prst="rect">
            <a:avLst/>
          </a:prstGeom>
          <a:solidFill xmlns:a="http://schemas.openxmlformats.org/drawingml/2006/main">
            <a:srgbClr val="F7F1D9"/>
          </a:solidFill>
          <a:ln xmlns:a="http://schemas.openxmlformats.org/drawingml/2006/main" w="9525">
            <a:solidFill>
              <a:srgbClr val="D7CEC0"/>
            </a:solidFill>
            <a:prstDash val="solid"/>
          </a:ln>
        </p:spPr>
      </p:sp>
      <p:sp>
        <p:nvSpPr>
          <p:cNvPr id="27" name="Analyst toolsAccent">
            <a:extLst xmlns:a="http://schemas.openxmlformats.org/drawingml/2006/main">
              <a:ext uri="{FF2B5EF4-FFF2-40B4-BE49-F238E27FC236}">
                <a16:creationId xmlns:a16="http://schemas.microsoft.com/office/drawing/2014/main" id="{CA80A941-AA10-442B-AFD4-F995C07ADF09}"/>
              </a:ext>
            </a:extLst>
          </p:cNvPr>
          <p:cNvSpPr>
            <a:spLocks xmlns:a="http://schemas.openxmlformats.org/drawingml/2006/main" noGrp="1"/>
          </p:cNvSpPr>
          <p:nvPr/>
        </p:nvSpPr>
        <p:spPr>
          <a:xfrm xmlns:a="http://schemas.openxmlformats.org/drawingml/2006/main">
            <a:off x="8686800" y="1981200"/>
            <a:ext cx="2457450" cy="7620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28" name="BodyText">
            <a:extLst xmlns:a="http://schemas.openxmlformats.org/drawingml/2006/main">
              <a:ext uri="{FF2B5EF4-FFF2-40B4-BE49-F238E27FC236}">
                <a16:creationId xmlns:a16="http://schemas.microsoft.com/office/drawing/2014/main" id="{794CC8CC-2B2B-432C-832E-826A8D6A9CD4}"/>
              </a:ext>
            </a:extLst>
          </p:cNvPr>
          <p:cNvSpPr>
            <a:spLocks xmlns:a="http://schemas.openxmlformats.org/drawingml/2006/main" noGrp="1"/>
          </p:cNvSpPr>
          <p:nvPr/>
        </p:nvSpPr>
        <p:spPr>
          <a:xfrm xmlns:a="http://schemas.openxmlformats.org/drawingml/2006/main">
            <a:off x="8858250" y="2171700"/>
            <a:ext cx="2114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Display"/>
                <a:ea typeface="Aptos Display"/>
                <a:cs typeface="Aptos Display"/>
              </a:defRPr>
            </a:pPr>
            <a:r>
              <a:rPr sz="1725" b="1">
                <a:solidFill>
                  <a:srgbClr val="0F172A"/>
                </a:solidFill>
                <a:latin typeface="Aptos Display"/>
                <a:ea typeface="Aptos Display"/>
                <a:cs typeface="Aptos Display"/>
              </a:rPr>
              <a:t>Analyst tools</a:t>
            </a:r>
          </a:p>
        </p:txBody>
      </p:sp>
      <p:sp>
        <p:nvSpPr>
          <p:cNvPr id="29" name="BodyText">
            <a:extLst xmlns:a="http://schemas.openxmlformats.org/drawingml/2006/main">
              <a:ext uri="{FF2B5EF4-FFF2-40B4-BE49-F238E27FC236}">
                <a16:creationId xmlns:a16="http://schemas.microsoft.com/office/drawing/2014/main" id="{4455FE10-3D0F-408C-86ED-CA8D81B0360E}"/>
              </a:ext>
            </a:extLst>
          </p:cNvPr>
          <p:cNvSpPr>
            <a:spLocks xmlns:a="http://schemas.openxmlformats.org/drawingml/2006/main" noGrp="1"/>
          </p:cNvSpPr>
          <p:nvPr/>
        </p:nvSpPr>
        <p:spPr>
          <a:xfrm xmlns:a="http://schemas.openxmlformats.org/drawingml/2006/main">
            <a:off x="8858250" y="26670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Streamlit map with Gaspar, JRC, and Comparison modes</a:t>
            </a:r>
          </a:p>
        </p:txBody>
      </p:sp>
      <p:sp>
        <p:nvSpPr>
          <p:cNvPr id="30" name="BodyText">
            <a:extLst xmlns:a="http://schemas.openxmlformats.org/drawingml/2006/main">
              <a:ext uri="{FF2B5EF4-FFF2-40B4-BE49-F238E27FC236}">
                <a16:creationId xmlns:a16="http://schemas.microsoft.com/office/drawing/2014/main" id="{48646F1F-EB72-4469-ACCF-96F1AB28D5FC}"/>
              </a:ext>
            </a:extLst>
          </p:cNvPr>
          <p:cNvSpPr>
            <a:spLocks xmlns:a="http://schemas.openxmlformats.org/drawingml/2006/main" noGrp="1"/>
          </p:cNvSpPr>
          <p:nvPr/>
        </p:nvSpPr>
        <p:spPr>
          <a:xfrm xmlns:a="http://schemas.openxmlformats.org/drawingml/2006/main">
            <a:off x="8858250" y="33147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Aggregated commune table plus filtered-row diagnostics</a:t>
            </a:r>
          </a:p>
        </p:txBody>
      </p:sp>
      <p:sp>
        <p:nvSpPr>
          <p:cNvPr id="31" name="BodyText">
            <a:extLst xmlns:a="http://schemas.openxmlformats.org/drawingml/2006/main">
              <a:ext uri="{FF2B5EF4-FFF2-40B4-BE49-F238E27FC236}">
                <a16:creationId xmlns:a16="http://schemas.microsoft.com/office/drawing/2014/main" id="{D7434036-AE9F-4F8C-8089-81459DE3445E}"/>
              </a:ext>
            </a:extLst>
          </p:cNvPr>
          <p:cNvSpPr>
            <a:spLocks xmlns:a="http://schemas.openxmlformats.org/drawingml/2006/main" noGrp="1"/>
          </p:cNvSpPr>
          <p:nvPr/>
        </p:nvSpPr>
        <p:spPr>
          <a:xfrm xmlns:a="http://schemas.openxmlformats.org/drawingml/2006/main">
            <a:off x="8858250" y="39624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Downloadable CSV and HTML map exports</a:t>
            </a:r>
          </a:p>
        </p:txBody>
      </p:sp>
      <p:sp>
        <p:nvSpPr>
          <p:cNvPr id="32" name="BodyText">
            <a:extLst xmlns:a="http://schemas.openxmlformats.org/drawingml/2006/main">
              <a:ext uri="{FF2B5EF4-FFF2-40B4-BE49-F238E27FC236}">
                <a16:creationId xmlns:a16="http://schemas.microsoft.com/office/drawing/2014/main" id="{4887B7F0-86F0-420E-9817-B4F681BC2F34}"/>
              </a:ext>
            </a:extLst>
          </p:cNvPr>
          <p:cNvSpPr>
            <a:spLocks xmlns:a="http://schemas.openxmlformats.org/drawingml/2006/main" noGrp="1"/>
          </p:cNvSpPr>
          <p:nvPr/>
        </p:nvSpPr>
        <p:spPr>
          <a:xfrm xmlns:a="http://schemas.openxmlformats.org/drawingml/2006/main">
            <a:off x="8858250" y="4610100"/>
            <a:ext cx="2114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Reproducible scripts for docs and comparison outputs</a:t>
            </a:r>
          </a:p>
        </p:txBody>
      </p:sp>
      <p:sp>
        <p:nvSpPr>
          <p:cNvPr id="33" name="ArrowStem">
            <a:extLst xmlns:a="http://schemas.openxmlformats.org/drawingml/2006/main">
              <a:ext uri="{FF2B5EF4-FFF2-40B4-BE49-F238E27FC236}">
                <a16:creationId xmlns:a16="http://schemas.microsoft.com/office/drawing/2014/main" id="{E99AA1BF-3142-4914-B92B-CA51EF369392}"/>
              </a:ext>
            </a:extLst>
          </p:cNvPr>
          <p:cNvSpPr>
            <a:spLocks xmlns:a="http://schemas.openxmlformats.org/drawingml/2006/main" noGrp="1"/>
          </p:cNvSpPr>
          <p:nvPr/>
        </p:nvSpPr>
        <p:spPr>
          <a:xfrm xmlns:a="http://schemas.openxmlformats.org/drawingml/2006/main">
            <a:off x="2990850" y="3086100"/>
            <a:ext cx="171450" cy="3810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34" name="ArrowHead">
            <a:extLst xmlns:a="http://schemas.openxmlformats.org/drawingml/2006/main">
              <a:ext uri="{FF2B5EF4-FFF2-40B4-BE49-F238E27FC236}">
                <a16:creationId xmlns:a16="http://schemas.microsoft.com/office/drawing/2014/main" id="{414A85B3-6D00-4E14-996A-D5C3C3F3C64C}"/>
              </a:ext>
            </a:extLst>
          </p:cNvPr>
          <p:cNvSpPr>
            <a:spLocks xmlns:a="http://schemas.openxmlformats.org/drawingml/2006/main" noGrp="1"/>
          </p:cNvSpPr>
          <p:nvPr/>
        </p:nvSpPr>
        <p:spPr>
          <a:xfrm xmlns:a="http://schemas.openxmlformats.org/drawingml/2006/main">
            <a:off x="3048000" y="3028950"/>
            <a:ext cx="171450" cy="152400"/>
          </a:xfrm>
          <a:prstGeom xmlns:a="http://schemas.openxmlformats.org/drawingml/2006/main" prst="chevron">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35" name="ArrowStem">
            <a:extLst xmlns:a="http://schemas.openxmlformats.org/drawingml/2006/main">
              <a:ext uri="{FF2B5EF4-FFF2-40B4-BE49-F238E27FC236}">
                <a16:creationId xmlns:a16="http://schemas.microsoft.com/office/drawing/2014/main" id="{DF48371E-3E37-4C2B-8004-D828D154D9FD}"/>
              </a:ext>
            </a:extLst>
          </p:cNvPr>
          <p:cNvSpPr>
            <a:spLocks xmlns:a="http://schemas.openxmlformats.org/drawingml/2006/main" noGrp="1"/>
          </p:cNvSpPr>
          <p:nvPr/>
        </p:nvSpPr>
        <p:spPr>
          <a:xfrm xmlns:a="http://schemas.openxmlformats.org/drawingml/2006/main">
            <a:off x="5715000" y="3086100"/>
            <a:ext cx="171450" cy="3810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36" name="ArrowHead">
            <a:extLst xmlns:a="http://schemas.openxmlformats.org/drawingml/2006/main">
              <a:ext uri="{FF2B5EF4-FFF2-40B4-BE49-F238E27FC236}">
                <a16:creationId xmlns:a16="http://schemas.microsoft.com/office/drawing/2014/main" id="{CDC32762-2A81-421C-B4A5-895951D28B1C}"/>
              </a:ext>
            </a:extLst>
          </p:cNvPr>
          <p:cNvSpPr>
            <a:spLocks xmlns:a="http://schemas.openxmlformats.org/drawingml/2006/main" noGrp="1"/>
          </p:cNvSpPr>
          <p:nvPr/>
        </p:nvSpPr>
        <p:spPr>
          <a:xfrm xmlns:a="http://schemas.openxmlformats.org/drawingml/2006/main">
            <a:off x="5772150" y="3028950"/>
            <a:ext cx="171450" cy="152400"/>
          </a:xfrm>
          <a:prstGeom xmlns:a="http://schemas.openxmlformats.org/drawingml/2006/main" prst="chevron">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37" name="ArrowStem">
            <a:extLst xmlns:a="http://schemas.openxmlformats.org/drawingml/2006/main">
              <a:ext uri="{FF2B5EF4-FFF2-40B4-BE49-F238E27FC236}">
                <a16:creationId xmlns:a16="http://schemas.microsoft.com/office/drawing/2014/main" id="{DB590D90-E927-4713-84BF-A551F958F663}"/>
              </a:ext>
            </a:extLst>
          </p:cNvPr>
          <p:cNvSpPr>
            <a:spLocks xmlns:a="http://schemas.openxmlformats.org/drawingml/2006/main" noGrp="1"/>
          </p:cNvSpPr>
          <p:nvPr/>
        </p:nvSpPr>
        <p:spPr>
          <a:xfrm xmlns:a="http://schemas.openxmlformats.org/drawingml/2006/main">
            <a:off x="8439150" y="3086100"/>
            <a:ext cx="17145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8" name="ArrowHead">
            <a:extLst xmlns:a="http://schemas.openxmlformats.org/drawingml/2006/main">
              <a:ext uri="{FF2B5EF4-FFF2-40B4-BE49-F238E27FC236}">
                <a16:creationId xmlns:a16="http://schemas.microsoft.com/office/drawing/2014/main" id="{A654750E-502B-42BE-A3B6-4F9F8DF34C41}"/>
              </a:ext>
            </a:extLst>
          </p:cNvPr>
          <p:cNvSpPr>
            <a:spLocks xmlns:a="http://schemas.openxmlformats.org/drawingml/2006/main" noGrp="1"/>
          </p:cNvSpPr>
          <p:nvPr/>
        </p:nvSpPr>
        <p:spPr>
          <a:xfrm xmlns:a="http://schemas.openxmlformats.org/drawingml/2006/main">
            <a:off x="8496300" y="3028950"/>
            <a:ext cx="171450" cy="152400"/>
          </a:xfrm>
          <a:prstGeom xmlns:a="http://schemas.openxmlformats.org/drawingml/2006/main" prst="chevron">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9" name="Callout">
            <a:extLst xmlns:a="http://schemas.openxmlformats.org/drawingml/2006/main">
              <a:ext uri="{FF2B5EF4-FFF2-40B4-BE49-F238E27FC236}">
                <a16:creationId xmlns:a16="http://schemas.microsoft.com/office/drawing/2014/main" id="{48810D0D-659C-4914-8B37-715C243C907A}"/>
              </a:ext>
            </a:extLst>
          </p:cNvPr>
          <p:cNvSpPr>
            <a:spLocks xmlns:a="http://schemas.openxmlformats.org/drawingml/2006/main" noGrp="1"/>
          </p:cNvSpPr>
          <p:nvPr/>
        </p:nvSpPr>
        <p:spPr>
          <a:xfrm xmlns:a="http://schemas.openxmlformats.org/drawingml/2006/main">
            <a:off x="514350" y="5619750"/>
            <a:ext cx="10629900" cy="7048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40" name="BodyText">
            <a:extLst xmlns:a="http://schemas.openxmlformats.org/drawingml/2006/main">
              <a:ext uri="{FF2B5EF4-FFF2-40B4-BE49-F238E27FC236}">
                <a16:creationId xmlns:a16="http://schemas.microsoft.com/office/drawing/2014/main" id="{28C1E0F6-A885-47AD-93B2-B8E008D6BDAA}"/>
              </a:ext>
            </a:extLst>
          </p:cNvPr>
          <p:cNvSpPr>
            <a:spLocks xmlns:a="http://schemas.openxmlformats.org/drawingml/2006/main" noGrp="1"/>
          </p:cNvSpPr>
          <p:nvPr/>
        </p:nvSpPr>
        <p:spPr>
          <a:xfrm xmlns:a="http://schemas.openxmlformats.org/drawingml/2006/main">
            <a:off x="742950" y="5772150"/>
            <a:ext cx="10191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Special-case logic matters: old INSEE updates, LAU reconciliation, and Corsica-style codes such as 2B246 are handled explicitly.</a:t>
            </a:r>
          </a:p>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The final visual layer is current AdminExpress commune polygons, while LAU is used in the reconciliation logic.</a:t>
            </a:r>
          </a:p>
        </p:txBody>
      </p:sp>
      <p:sp>
        <p:nvSpPr>
          <p:cNvPr id="41" name="Rule">
            <a:extLst xmlns:a="http://schemas.openxmlformats.org/drawingml/2006/main">
              <a:ext uri="{FF2B5EF4-FFF2-40B4-BE49-F238E27FC236}">
                <a16:creationId xmlns:a16="http://schemas.microsoft.com/office/drawing/2014/main" id="{D2933ADC-9BBA-4380-B3B4-2287705F8251}"/>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D7CEC0"/>
          </a:solidFill>
          <a:ln xmlns:a="http://schemas.openxmlformats.org/drawingml/2006/main" w="0">
            <a:solidFill>
              <a:srgbClr val="000000">
                <a:alpha val="0"/>
              </a:srgbClr>
            </a:solidFill>
            <a:prstDash val="solid"/>
          </a:ln>
        </p:spPr>
      </p:sp>
      <p:sp>
        <p:nvSpPr>
          <p:cNvPr id="42" name="SmallText">
            <a:extLst xmlns:a="http://schemas.openxmlformats.org/drawingml/2006/main">
              <a:ext uri="{FF2B5EF4-FFF2-40B4-BE49-F238E27FC236}">
                <a16:creationId xmlns:a16="http://schemas.microsoft.com/office/drawing/2014/main" id="{C89BACCC-C9E0-49EC-BC4A-42C384ACF702}"/>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Built from existing project logic in the France comparison scripts, commune-activity loader, and point-screening workflow.</a:t>
            </a:r>
          </a:p>
        </p:txBody>
      </p:sp>
    </p:spTree>
    <p:extLst>
      <p:ext uri="{BB962C8B-B14F-4D97-AF65-F5344CB8AC3E}">
        <p14:creationId xmlns:p14="http://schemas.microsoft.com/office/powerpoint/2010/main" val="46760984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CA3BAB69-2AD5-440B-AD1B-C38557C4A5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EEF3FB"/>
              </a:gs>
              <a:gs pos="100000">
                <a:srgbClr val="F5F1E8"/>
              </a:gs>
            </a:gsLst>
            <a:lin ang="10800000"/>
          </a:gradFill>
          <a:ln xmlns:a="http://schemas.openxmlformats.org/drawingml/2006/main" w="0">
            <a:solidFill>
              <a:srgbClr val="000000">
                <a:alpha val="0"/>
              </a:srgbClr>
            </a:solidFill>
            <a:prstDash val="solid"/>
          </a:ln>
        </p:spPr>
      </p:sp>
      <p:sp>
        <p:nvSpPr>
          <p:cNvPr id="2" name="Label">
            <a:extLst xmlns:a="http://schemas.openxmlformats.org/drawingml/2006/main">
              <a:ext uri="{FF2B5EF4-FFF2-40B4-BE49-F238E27FC236}">
                <a16:creationId xmlns:a16="http://schemas.microsoft.com/office/drawing/2014/main" id="{B2E74D91-8CD7-4D09-9FD0-A8D0EDE83BBE}"/>
              </a:ext>
            </a:extLst>
          </p:cNvPr>
          <p:cNvSpPr>
            <a:spLocks xmlns:a="http://schemas.openxmlformats.org/drawingml/2006/main" noGrp="1"/>
          </p:cNvSpPr>
          <p:nvPr/>
        </p:nvSpPr>
        <p:spPr>
          <a:xfrm xmlns:a="http://schemas.openxmlformats.org/drawingml/2006/main">
            <a:off x="514350" y="4000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45A3C"/>
                </a:solidFill>
                <a:latin typeface="Aptos"/>
                <a:ea typeface="Aptos"/>
                <a:cs typeface="Aptos"/>
              </a:defRPr>
            </a:pPr>
            <a:r>
              <a:rPr sz="1350" b="1">
                <a:solidFill>
                  <a:srgbClr val="E45A3C"/>
                </a:solidFill>
                <a:latin typeface="Aptos"/>
                <a:ea typeface="Aptos"/>
                <a:cs typeface="Aptos"/>
              </a:rPr>
              <a:t>JULY 2021 DEEP DIVE</a:t>
            </a:r>
          </a:p>
        </p:txBody>
      </p:sp>
      <p:sp>
        <p:nvSpPr>
          <p:cNvPr id="3" name="Title">
            <a:extLst xmlns:a="http://schemas.openxmlformats.org/drawingml/2006/main">
              <a:ext uri="{FF2B5EF4-FFF2-40B4-BE49-F238E27FC236}">
                <a16:creationId xmlns:a16="http://schemas.microsoft.com/office/drawing/2014/main" id="{45890C8F-52C8-42C0-8057-C7B5DC0ED827}"/>
              </a:ext>
            </a:extLst>
          </p:cNvPr>
          <p:cNvSpPr>
            <a:spLocks xmlns:a="http://schemas.openxmlformats.org/drawingml/2006/main" noGrp="1"/>
          </p:cNvSpPr>
          <p:nvPr/>
        </p:nvSpPr>
        <p:spPr>
          <a:xfrm xmlns:a="http://schemas.openxmlformats.org/drawingml/2006/main">
            <a:off x="514350" y="742950"/>
            <a:ext cx="10668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July 2021 shows a real source disagreement, not just a cleaning error</a:t>
            </a:r>
          </a:p>
        </p:txBody>
      </p:sp>
      <p:sp>
        <p:nvSpPr>
          <p:cNvPr id="4" name="SmallText">
            <a:extLst xmlns:a="http://schemas.openxmlformats.org/drawingml/2006/main">
              <a:ext uri="{FF2B5EF4-FFF2-40B4-BE49-F238E27FC236}">
                <a16:creationId xmlns:a16="http://schemas.microsoft.com/office/drawing/2014/main" id="{A5A68939-6658-4BD1-BEA0-070E0DD793B2}"/>
              </a:ext>
            </a:extLst>
          </p:cNvPr>
          <p:cNvSpPr>
            <a:spLocks xmlns:a="http://schemas.openxmlformats.org/drawingml/2006/main" noGrp="1"/>
          </p:cNvSpPr>
          <p:nvPr/>
        </p:nvSpPr>
        <p:spPr>
          <a:xfrm xmlns:a="http://schemas.openxmlformats.org/drawingml/2006/main">
            <a:off x="514350" y="13906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The mismatch is material in both directions, and public evidence exists for flood impacts on both the Gaspar-only and the JRC-only sides.</a:t>
            </a:r>
          </a:p>
        </p:txBody>
      </p:sp>
      <p:sp>
        <p:nvSpPr>
          <p:cNvPr id="5" name="MetricCard">
            <a:extLst xmlns:a="http://schemas.openxmlformats.org/drawingml/2006/main">
              <a:ext uri="{FF2B5EF4-FFF2-40B4-BE49-F238E27FC236}">
                <a16:creationId xmlns:a16="http://schemas.microsoft.com/office/drawing/2014/main" id="{E935A92F-EC9C-4877-89FE-408E65AF85FF}"/>
              </a:ext>
            </a:extLst>
          </p:cNvPr>
          <p:cNvSpPr>
            <a:spLocks xmlns:a="http://schemas.openxmlformats.org/drawingml/2006/main" noGrp="1"/>
          </p:cNvSpPr>
          <p:nvPr/>
        </p:nvSpPr>
        <p:spPr>
          <a:xfrm xmlns:a="http://schemas.openxmlformats.org/drawingml/2006/main">
            <a:off x="514350" y="1905000"/>
            <a:ext cx="2095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7CEC0"/>
            </a:solidFill>
            <a:prstDash val="solid"/>
          </a:ln>
        </p:spPr>
      </p:sp>
      <p:sp>
        <p:nvSpPr>
          <p:cNvPr id="6" name="Rule">
            <a:extLst xmlns:a="http://schemas.openxmlformats.org/drawingml/2006/main">
              <a:ext uri="{FF2B5EF4-FFF2-40B4-BE49-F238E27FC236}">
                <a16:creationId xmlns:a16="http://schemas.microsoft.com/office/drawing/2014/main" id="{A91787AC-CBAF-4EAC-8D83-81AD26034E93}"/>
              </a:ext>
            </a:extLst>
          </p:cNvPr>
          <p:cNvSpPr>
            <a:spLocks xmlns:a="http://schemas.openxmlformats.org/drawingml/2006/main" noGrp="1"/>
          </p:cNvSpPr>
          <p:nvPr/>
        </p:nvSpPr>
        <p:spPr>
          <a:xfrm xmlns:a="http://schemas.openxmlformats.org/drawingml/2006/main">
            <a:off x="514350" y="1905000"/>
            <a:ext cx="2095500" cy="57150"/>
          </a:xfrm>
          <a:prstGeom xmlns:a="http://schemas.openxmlformats.org/drawingml/2006/main" prst="rect">
            <a:avLst/>
          </a:prstGeom>
          <a:solidFill xmlns:a="http://schemas.openxmlformats.org/drawingml/2006/main">
            <a:srgbClr val="1E293B"/>
          </a:solidFill>
          <a:ln xmlns:a="http://schemas.openxmlformats.org/drawingml/2006/main" w="0">
            <a:solidFill>
              <a:srgbClr val="000000">
                <a:alpha val="0"/>
              </a:srgbClr>
            </a:solidFill>
            <a:prstDash val="solid"/>
          </a:ln>
        </p:spPr>
      </p:sp>
      <p:sp>
        <p:nvSpPr>
          <p:cNvPr id="7" name="SmallText">
            <a:extLst xmlns:a="http://schemas.openxmlformats.org/drawingml/2006/main">
              <a:ext uri="{FF2B5EF4-FFF2-40B4-BE49-F238E27FC236}">
                <a16:creationId xmlns:a16="http://schemas.microsoft.com/office/drawing/2014/main" id="{06637F94-E48B-4CB6-B59F-62767ECBAB5A}"/>
              </a:ext>
            </a:extLst>
          </p:cNvPr>
          <p:cNvSpPr>
            <a:spLocks xmlns:a="http://schemas.openxmlformats.org/drawingml/2006/main" noGrp="1"/>
          </p:cNvSpPr>
          <p:nvPr/>
        </p:nvSpPr>
        <p:spPr>
          <a:xfrm xmlns:a="http://schemas.openxmlformats.org/drawingml/2006/main">
            <a:off x="685800" y="2076450"/>
            <a:ext cx="1752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ACTIVE COMMUNES</a:t>
            </a:r>
          </a:p>
        </p:txBody>
      </p:sp>
      <p:sp>
        <p:nvSpPr>
          <p:cNvPr id="8" name="MetricValue">
            <a:extLst xmlns:a="http://schemas.openxmlformats.org/drawingml/2006/main">
              <a:ext uri="{FF2B5EF4-FFF2-40B4-BE49-F238E27FC236}">
                <a16:creationId xmlns:a16="http://schemas.microsoft.com/office/drawing/2014/main" id="{BAD6905A-B142-4525-813C-EAE81FB5C0C7}"/>
              </a:ext>
            </a:extLst>
          </p:cNvPr>
          <p:cNvSpPr>
            <a:spLocks xmlns:a="http://schemas.openxmlformats.org/drawingml/2006/main" noGrp="1"/>
          </p:cNvSpPr>
          <p:nvPr/>
        </p:nvSpPr>
        <p:spPr>
          <a:xfrm xmlns:a="http://schemas.openxmlformats.org/drawingml/2006/main">
            <a:off x="685800" y="2343150"/>
            <a:ext cx="17526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1,671</a:t>
            </a:r>
          </a:p>
        </p:txBody>
      </p:sp>
      <p:sp>
        <p:nvSpPr>
          <p:cNvPr id="9" name="MetricCard">
            <a:extLst xmlns:a="http://schemas.openxmlformats.org/drawingml/2006/main">
              <a:ext uri="{FF2B5EF4-FFF2-40B4-BE49-F238E27FC236}">
                <a16:creationId xmlns:a16="http://schemas.microsoft.com/office/drawing/2014/main" id="{449A59CE-92BE-4723-B137-041191355EC7}"/>
              </a:ext>
            </a:extLst>
          </p:cNvPr>
          <p:cNvSpPr>
            <a:spLocks xmlns:a="http://schemas.openxmlformats.org/drawingml/2006/main" noGrp="1"/>
          </p:cNvSpPr>
          <p:nvPr/>
        </p:nvSpPr>
        <p:spPr>
          <a:xfrm xmlns:a="http://schemas.openxmlformats.org/drawingml/2006/main">
            <a:off x="2781300" y="1905000"/>
            <a:ext cx="1600200" cy="1066800"/>
          </a:xfrm>
          <a:prstGeom xmlns:a="http://schemas.openxmlformats.org/drawingml/2006/main" prst="rect">
            <a:avLst/>
          </a:prstGeom>
          <a:solidFill xmlns:a="http://schemas.openxmlformats.org/drawingml/2006/main">
            <a:srgbClr val="EAF5F3"/>
          </a:solidFill>
          <a:ln xmlns:a="http://schemas.openxmlformats.org/drawingml/2006/main" w="9525">
            <a:solidFill>
              <a:srgbClr val="D7CEC0"/>
            </a:solidFill>
            <a:prstDash val="solid"/>
          </a:ln>
        </p:spPr>
      </p:sp>
      <p:sp>
        <p:nvSpPr>
          <p:cNvPr id="10" name="Rule">
            <a:extLst xmlns:a="http://schemas.openxmlformats.org/drawingml/2006/main">
              <a:ext uri="{FF2B5EF4-FFF2-40B4-BE49-F238E27FC236}">
                <a16:creationId xmlns:a16="http://schemas.microsoft.com/office/drawing/2014/main" id="{0192080F-D05E-432E-B140-690AD7B701F7}"/>
              </a:ext>
            </a:extLst>
          </p:cNvPr>
          <p:cNvSpPr>
            <a:spLocks xmlns:a="http://schemas.openxmlformats.org/drawingml/2006/main" noGrp="1"/>
          </p:cNvSpPr>
          <p:nvPr/>
        </p:nvSpPr>
        <p:spPr>
          <a:xfrm xmlns:a="http://schemas.openxmlformats.org/drawingml/2006/main">
            <a:off x="2781300" y="1905000"/>
            <a:ext cx="16002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11" name="SmallText">
            <a:extLst xmlns:a="http://schemas.openxmlformats.org/drawingml/2006/main">
              <a:ext uri="{FF2B5EF4-FFF2-40B4-BE49-F238E27FC236}">
                <a16:creationId xmlns:a16="http://schemas.microsoft.com/office/drawing/2014/main" id="{CF8D66AE-C53F-4A0A-988C-01B8B80F1B73}"/>
              </a:ext>
            </a:extLst>
          </p:cNvPr>
          <p:cNvSpPr>
            <a:spLocks xmlns:a="http://schemas.openxmlformats.org/drawingml/2006/main" noGrp="1"/>
          </p:cNvSpPr>
          <p:nvPr/>
        </p:nvSpPr>
        <p:spPr>
          <a:xfrm xmlns:a="http://schemas.openxmlformats.org/drawingml/2006/main">
            <a:off x="2952750" y="2076450"/>
            <a:ext cx="1257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BOTH</a:t>
            </a:r>
          </a:p>
        </p:txBody>
      </p:sp>
      <p:sp>
        <p:nvSpPr>
          <p:cNvPr id="12" name="MetricValue">
            <a:extLst xmlns:a="http://schemas.openxmlformats.org/drawingml/2006/main">
              <a:ext uri="{FF2B5EF4-FFF2-40B4-BE49-F238E27FC236}">
                <a16:creationId xmlns:a16="http://schemas.microsoft.com/office/drawing/2014/main" id="{FA6A0AE3-789B-4F65-9C9D-05A81BFD3AC5}"/>
              </a:ext>
            </a:extLst>
          </p:cNvPr>
          <p:cNvSpPr>
            <a:spLocks xmlns:a="http://schemas.openxmlformats.org/drawingml/2006/main" noGrp="1"/>
          </p:cNvSpPr>
          <p:nvPr/>
        </p:nvSpPr>
        <p:spPr>
          <a:xfrm xmlns:a="http://schemas.openxmlformats.org/drawingml/2006/main">
            <a:off x="2952750" y="2343150"/>
            <a:ext cx="1257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133</a:t>
            </a:r>
          </a:p>
        </p:txBody>
      </p:sp>
      <p:sp>
        <p:nvSpPr>
          <p:cNvPr id="13" name="MetricCard">
            <a:extLst xmlns:a="http://schemas.openxmlformats.org/drawingml/2006/main">
              <a:ext uri="{FF2B5EF4-FFF2-40B4-BE49-F238E27FC236}">
                <a16:creationId xmlns:a16="http://schemas.microsoft.com/office/drawing/2014/main" id="{A3C1EF08-8F84-4F3C-B4DD-5F0092B8B03F}"/>
              </a:ext>
            </a:extLst>
          </p:cNvPr>
          <p:cNvSpPr>
            <a:spLocks xmlns:a="http://schemas.openxmlformats.org/drawingml/2006/main" noGrp="1"/>
          </p:cNvSpPr>
          <p:nvPr/>
        </p:nvSpPr>
        <p:spPr>
          <a:xfrm xmlns:a="http://schemas.openxmlformats.org/drawingml/2006/main">
            <a:off x="4533900" y="1905000"/>
            <a:ext cx="1600200" cy="1066800"/>
          </a:xfrm>
          <a:prstGeom xmlns:a="http://schemas.openxmlformats.org/drawingml/2006/main" prst="rect">
            <a:avLst/>
          </a:prstGeom>
          <a:solidFill xmlns:a="http://schemas.openxmlformats.org/drawingml/2006/main">
            <a:srgbClr val="FBEEE9"/>
          </a:solidFill>
          <a:ln xmlns:a="http://schemas.openxmlformats.org/drawingml/2006/main" w="9525">
            <a:solidFill>
              <a:srgbClr val="D7CEC0"/>
            </a:solidFill>
            <a:prstDash val="solid"/>
          </a:ln>
        </p:spPr>
      </p:sp>
      <p:sp>
        <p:nvSpPr>
          <p:cNvPr id="14" name="Rule">
            <a:extLst xmlns:a="http://schemas.openxmlformats.org/drawingml/2006/main">
              <a:ext uri="{FF2B5EF4-FFF2-40B4-BE49-F238E27FC236}">
                <a16:creationId xmlns:a16="http://schemas.microsoft.com/office/drawing/2014/main" id="{EE3D3637-2EF2-4284-BB86-6BD4B7DB3F0A}"/>
              </a:ext>
            </a:extLst>
          </p:cNvPr>
          <p:cNvSpPr>
            <a:spLocks xmlns:a="http://schemas.openxmlformats.org/drawingml/2006/main" noGrp="1"/>
          </p:cNvSpPr>
          <p:nvPr/>
        </p:nvSpPr>
        <p:spPr>
          <a:xfrm xmlns:a="http://schemas.openxmlformats.org/drawingml/2006/main">
            <a:off x="4533900" y="1905000"/>
            <a:ext cx="1600200" cy="571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5" name="SmallText">
            <a:extLst xmlns:a="http://schemas.openxmlformats.org/drawingml/2006/main">
              <a:ext uri="{FF2B5EF4-FFF2-40B4-BE49-F238E27FC236}">
                <a16:creationId xmlns:a16="http://schemas.microsoft.com/office/drawing/2014/main" id="{120787B8-2342-4854-A14E-ED8527D489D3}"/>
              </a:ext>
            </a:extLst>
          </p:cNvPr>
          <p:cNvSpPr>
            <a:spLocks xmlns:a="http://schemas.openxmlformats.org/drawingml/2006/main" noGrp="1"/>
          </p:cNvSpPr>
          <p:nvPr/>
        </p:nvSpPr>
        <p:spPr>
          <a:xfrm xmlns:a="http://schemas.openxmlformats.org/drawingml/2006/main">
            <a:off x="4705350" y="2076450"/>
            <a:ext cx="1257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GASPAR ONLY</a:t>
            </a:r>
          </a:p>
        </p:txBody>
      </p:sp>
      <p:sp>
        <p:nvSpPr>
          <p:cNvPr id="16" name="MetricValue">
            <a:extLst xmlns:a="http://schemas.openxmlformats.org/drawingml/2006/main">
              <a:ext uri="{FF2B5EF4-FFF2-40B4-BE49-F238E27FC236}">
                <a16:creationId xmlns:a16="http://schemas.microsoft.com/office/drawing/2014/main" id="{4B01F09B-A6F1-46A6-90D5-E0E9F37B4DB8}"/>
              </a:ext>
            </a:extLst>
          </p:cNvPr>
          <p:cNvSpPr>
            <a:spLocks xmlns:a="http://schemas.openxmlformats.org/drawingml/2006/main" noGrp="1"/>
          </p:cNvSpPr>
          <p:nvPr/>
        </p:nvSpPr>
        <p:spPr>
          <a:xfrm xmlns:a="http://schemas.openxmlformats.org/drawingml/2006/main">
            <a:off x="4705350" y="2343150"/>
            <a:ext cx="1257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363</a:t>
            </a:r>
          </a:p>
        </p:txBody>
      </p:sp>
      <p:sp>
        <p:nvSpPr>
          <p:cNvPr id="17" name="MetricCard">
            <a:extLst xmlns:a="http://schemas.openxmlformats.org/drawingml/2006/main">
              <a:ext uri="{FF2B5EF4-FFF2-40B4-BE49-F238E27FC236}">
                <a16:creationId xmlns:a16="http://schemas.microsoft.com/office/drawing/2014/main" id="{7F9463F6-359A-413A-AB10-7A30F5E02B19}"/>
              </a:ext>
            </a:extLst>
          </p:cNvPr>
          <p:cNvSpPr>
            <a:spLocks xmlns:a="http://schemas.openxmlformats.org/drawingml/2006/main" noGrp="1"/>
          </p:cNvSpPr>
          <p:nvPr/>
        </p:nvSpPr>
        <p:spPr>
          <a:xfrm xmlns:a="http://schemas.openxmlformats.org/drawingml/2006/main">
            <a:off x="6286500" y="1905000"/>
            <a:ext cx="1600200" cy="1066800"/>
          </a:xfrm>
          <a:prstGeom xmlns:a="http://schemas.openxmlformats.org/drawingml/2006/main" prst="rect">
            <a:avLst/>
          </a:prstGeom>
          <a:solidFill xmlns:a="http://schemas.openxmlformats.org/drawingml/2006/main">
            <a:srgbClr val="EEF3FB"/>
          </a:solidFill>
          <a:ln xmlns:a="http://schemas.openxmlformats.org/drawingml/2006/main" w="9525">
            <a:solidFill>
              <a:srgbClr val="D7CEC0"/>
            </a:solidFill>
            <a:prstDash val="solid"/>
          </a:ln>
        </p:spPr>
      </p:sp>
      <p:sp>
        <p:nvSpPr>
          <p:cNvPr id="18" name="Rule">
            <a:extLst xmlns:a="http://schemas.openxmlformats.org/drawingml/2006/main">
              <a:ext uri="{FF2B5EF4-FFF2-40B4-BE49-F238E27FC236}">
                <a16:creationId xmlns:a16="http://schemas.microsoft.com/office/drawing/2014/main" id="{93E68420-43BE-4CC1-87D0-E346A0E647A1}"/>
              </a:ext>
            </a:extLst>
          </p:cNvPr>
          <p:cNvSpPr>
            <a:spLocks xmlns:a="http://schemas.openxmlformats.org/drawingml/2006/main" noGrp="1"/>
          </p:cNvSpPr>
          <p:nvPr/>
        </p:nvSpPr>
        <p:spPr>
          <a:xfrm xmlns:a="http://schemas.openxmlformats.org/drawingml/2006/main">
            <a:off x="6286500" y="1905000"/>
            <a:ext cx="1600200" cy="571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19" name="SmallText">
            <a:extLst xmlns:a="http://schemas.openxmlformats.org/drawingml/2006/main">
              <a:ext uri="{FF2B5EF4-FFF2-40B4-BE49-F238E27FC236}">
                <a16:creationId xmlns:a16="http://schemas.microsoft.com/office/drawing/2014/main" id="{F6F2767B-3640-4A78-A5D0-8F7B1752EDD5}"/>
              </a:ext>
            </a:extLst>
          </p:cNvPr>
          <p:cNvSpPr>
            <a:spLocks xmlns:a="http://schemas.openxmlformats.org/drawingml/2006/main" noGrp="1"/>
          </p:cNvSpPr>
          <p:nvPr/>
        </p:nvSpPr>
        <p:spPr>
          <a:xfrm xmlns:a="http://schemas.openxmlformats.org/drawingml/2006/main">
            <a:off x="6457950" y="2076450"/>
            <a:ext cx="1257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JRC ONLY</a:t>
            </a:r>
          </a:p>
        </p:txBody>
      </p:sp>
      <p:sp>
        <p:nvSpPr>
          <p:cNvPr id="20" name="MetricValue">
            <a:extLst xmlns:a="http://schemas.openxmlformats.org/drawingml/2006/main">
              <a:ext uri="{FF2B5EF4-FFF2-40B4-BE49-F238E27FC236}">
                <a16:creationId xmlns:a16="http://schemas.microsoft.com/office/drawing/2014/main" id="{F11429DE-4228-45CF-B10B-507757E69311}"/>
              </a:ext>
            </a:extLst>
          </p:cNvPr>
          <p:cNvSpPr>
            <a:spLocks xmlns:a="http://schemas.openxmlformats.org/drawingml/2006/main" noGrp="1"/>
          </p:cNvSpPr>
          <p:nvPr/>
        </p:nvSpPr>
        <p:spPr>
          <a:xfrm xmlns:a="http://schemas.openxmlformats.org/drawingml/2006/main">
            <a:off x="6457950" y="2343150"/>
            <a:ext cx="12573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1,175</a:t>
            </a:r>
          </a:p>
        </p:txBody>
      </p:sp>
      <p:sp>
        <p:nvSpPr>
          <p:cNvPr id="21" name="StackedBarPanel">
            <a:extLst xmlns:a="http://schemas.openxmlformats.org/drawingml/2006/main">
              <a:ext uri="{FF2B5EF4-FFF2-40B4-BE49-F238E27FC236}">
                <a16:creationId xmlns:a16="http://schemas.microsoft.com/office/drawing/2014/main" id="{544E148E-F691-45CF-99F4-323ED8979E33}"/>
              </a:ext>
            </a:extLst>
          </p:cNvPr>
          <p:cNvSpPr>
            <a:spLocks xmlns:a="http://schemas.openxmlformats.org/drawingml/2006/main" noGrp="1"/>
          </p:cNvSpPr>
          <p:nvPr/>
        </p:nvSpPr>
        <p:spPr>
          <a:xfrm xmlns:a="http://schemas.openxmlformats.org/drawingml/2006/main">
            <a:off x="514350" y="3238500"/>
            <a:ext cx="7372350" cy="1543050"/>
          </a:xfrm>
          <a:prstGeom xmlns:a="http://schemas.openxmlformats.org/drawingml/2006/main" prst="rect">
            <a:avLst/>
          </a:prstGeom>
          <a:solidFill xmlns:a="http://schemas.openxmlformats.org/drawingml/2006/main">
            <a:srgbClr val="FFFFFF"/>
          </a:solidFill>
          <a:ln xmlns:a="http://schemas.openxmlformats.org/drawingml/2006/main" w="9525">
            <a:solidFill>
              <a:srgbClr val="D7CEC0"/>
            </a:solidFill>
            <a:prstDash val="solid"/>
          </a:ln>
        </p:spPr>
      </p:sp>
      <p:sp>
        <p:nvSpPr>
          <p:cNvPr id="22" name="BodyText">
            <a:extLst xmlns:a="http://schemas.openxmlformats.org/drawingml/2006/main">
              <a:ext uri="{FF2B5EF4-FFF2-40B4-BE49-F238E27FC236}">
                <a16:creationId xmlns:a16="http://schemas.microsoft.com/office/drawing/2014/main" id="{71716836-538E-462B-9468-750EC1CAA8A2}"/>
              </a:ext>
            </a:extLst>
          </p:cNvPr>
          <p:cNvSpPr>
            <a:spLocks xmlns:a="http://schemas.openxmlformats.org/drawingml/2006/main" noGrp="1"/>
          </p:cNvSpPr>
          <p:nvPr/>
        </p:nvSpPr>
        <p:spPr>
          <a:xfrm xmlns:a="http://schemas.openxmlformats.org/drawingml/2006/main">
            <a:off x="742950" y="342900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72A"/>
                </a:solidFill>
                <a:latin typeface="Aptos Display"/>
                <a:ea typeface="Aptos Display"/>
                <a:cs typeface="Aptos Display"/>
              </a:defRPr>
            </a:pPr>
            <a:r>
              <a:rPr sz="1575" b="1">
                <a:solidFill>
                  <a:srgbClr val="0F172A"/>
                </a:solidFill>
                <a:latin typeface="Aptos Display"/>
                <a:ea typeface="Aptos Display"/>
                <a:cs typeface="Aptos Display"/>
              </a:rPr>
              <a:t>France-wide commune activity split in the app</a:t>
            </a:r>
          </a:p>
        </p:txBody>
      </p:sp>
      <p:sp>
        <p:nvSpPr>
          <p:cNvPr id="23" name="StackedBar1">
            <a:extLst xmlns:a="http://schemas.openxmlformats.org/drawingml/2006/main">
              <a:ext uri="{FF2B5EF4-FFF2-40B4-BE49-F238E27FC236}">
                <a16:creationId xmlns:a16="http://schemas.microsoft.com/office/drawing/2014/main" id="{8884A257-A22A-4071-8FD3-45A92B7F3A12}"/>
              </a:ext>
            </a:extLst>
          </p:cNvPr>
          <p:cNvSpPr>
            <a:spLocks xmlns:a="http://schemas.openxmlformats.org/drawingml/2006/main" noGrp="1"/>
          </p:cNvSpPr>
          <p:nvPr/>
        </p:nvSpPr>
        <p:spPr>
          <a:xfrm xmlns:a="http://schemas.openxmlformats.org/drawingml/2006/main">
            <a:off x="742950" y="3905250"/>
            <a:ext cx="542925" cy="4000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24" name="StackedBar2">
            <a:extLst xmlns:a="http://schemas.openxmlformats.org/drawingml/2006/main">
              <a:ext uri="{FF2B5EF4-FFF2-40B4-BE49-F238E27FC236}">
                <a16:creationId xmlns:a16="http://schemas.microsoft.com/office/drawing/2014/main" id="{945144C0-7A29-46AA-95D6-2F27E72BFEDC}"/>
              </a:ext>
            </a:extLst>
          </p:cNvPr>
          <p:cNvSpPr>
            <a:spLocks xmlns:a="http://schemas.openxmlformats.org/drawingml/2006/main" noGrp="1"/>
          </p:cNvSpPr>
          <p:nvPr/>
        </p:nvSpPr>
        <p:spPr>
          <a:xfrm xmlns:a="http://schemas.openxmlformats.org/drawingml/2006/main">
            <a:off x="1285875" y="3905250"/>
            <a:ext cx="1485900" cy="4000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25" name="StackedBar3">
            <a:extLst xmlns:a="http://schemas.openxmlformats.org/drawingml/2006/main">
              <a:ext uri="{FF2B5EF4-FFF2-40B4-BE49-F238E27FC236}">
                <a16:creationId xmlns:a16="http://schemas.microsoft.com/office/drawing/2014/main" id="{C73668AF-6AB3-4882-925B-F4261E38F243}"/>
              </a:ext>
            </a:extLst>
          </p:cNvPr>
          <p:cNvSpPr>
            <a:spLocks xmlns:a="http://schemas.openxmlformats.org/drawingml/2006/main" noGrp="1"/>
          </p:cNvSpPr>
          <p:nvPr/>
        </p:nvSpPr>
        <p:spPr>
          <a:xfrm xmlns:a="http://schemas.openxmlformats.org/drawingml/2006/main">
            <a:off x="2771775" y="3905250"/>
            <a:ext cx="4829175" cy="4000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26" name="SmallText">
            <a:extLst xmlns:a="http://schemas.openxmlformats.org/drawingml/2006/main">
              <a:ext uri="{FF2B5EF4-FFF2-40B4-BE49-F238E27FC236}">
                <a16:creationId xmlns:a16="http://schemas.microsoft.com/office/drawing/2014/main" id="{A7400741-062C-4D8A-8783-026EC9E131B6}"/>
              </a:ext>
            </a:extLst>
          </p:cNvPr>
          <p:cNvSpPr>
            <a:spLocks xmlns:a="http://schemas.openxmlformats.org/drawingml/2006/main" noGrp="1"/>
          </p:cNvSpPr>
          <p:nvPr/>
        </p:nvSpPr>
        <p:spPr>
          <a:xfrm xmlns:a="http://schemas.openxmlformats.org/drawingml/2006/main">
            <a:off x="742950" y="4457700"/>
            <a:ext cx="2000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Both: 133 (8.0%)</a:t>
            </a:r>
          </a:p>
        </p:txBody>
      </p:sp>
      <p:sp>
        <p:nvSpPr>
          <p:cNvPr id="27" name="SmallText">
            <a:extLst xmlns:a="http://schemas.openxmlformats.org/drawingml/2006/main">
              <a:ext uri="{FF2B5EF4-FFF2-40B4-BE49-F238E27FC236}">
                <a16:creationId xmlns:a16="http://schemas.microsoft.com/office/drawing/2014/main" id="{612E7A69-4441-433F-A9D7-9F85AEA0270B}"/>
              </a:ext>
            </a:extLst>
          </p:cNvPr>
          <p:cNvSpPr>
            <a:spLocks xmlns:a="http://schemas.openxmlformats.org/drawingml/2006/main" noGrp="1"/>
          </p:cNvSpPr>
          <p:nvPr/>
        </p:nvSpPr>
        <p:spPr>
          <a:xfrm xmlns:a="http://schemas.openxmlformats.org/drawingml/2006/main">
            <a:off x="3086100" y="445770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Gaspar only: 363 (21.7%)</a:t>
            </a:r>
          </a:p>
        </p:txBody>
      </p:sp>
      <p:sp>
        <p:nvSpPr>
          <p:cNvPr id="28" name="SmallText">
            <a:extLst xmlns:a="http://schemas.openxmlformats.org/drawingml/2006/main">
              <a:ext uri="{FF2B5EF4-FFF2-40B4-BE49-F238E27FC236}">
                <a16:creationId xmlns:a16="http://schemas.microsoft.com/office/drawing/2014/main" id="{CE36A5D7-06A9-4FBF-9072-309E7E3276D4}"/>
              </a:ext>
            </a:extLst>
          </p:cNvPr>
          <p:cNvSpPr>
            <a:spLocks xmlns:a="http://schemas.openxmlformats.org/drawingml/2006/main" noGrp="1"/>
          </p:cNvSpPr>
          <p:nvPr/>
        </p:nvSpPr>
        <p:spPr>
          <a:xfrm xmlns:a="http://schemas.openxmlformats.org/drawingml/2006/main">
            <a:off x="5505450" y="4457700"/>
            <a:ext cx="209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JRC only: 1175 (70.3%)</a:t>
            </a:r>
          </a:p>
        </p:txBody>
      </p:sp>
      <p:sp>
        <p:nvSpPr>
          <p:cNvPr id="29" name="EvidencePanel">
            <a:extLst xmlns:a="http://schemas.openxmlformats.org/drawingml/2006/main">
              <a:ext uri="{FF2B5EF4-FFF2-40B4-BE49-F238E27FC236}">
                <a16:creationId xmlns:a16="http://schemas.microsoft.com/office/drawing/2014/main" id="{337F9867-DFD8-4491-B035-3572F4DF6B00}"/>
              </a:ext>
            </a:extLst>
          </p:cNvPr>
          <p:cNvSpPr>
            <a:spLocks xmlns:a="http://schemas.openxmlformats.org/drawingml/2006/main" noGrp="1"/>
          </p:cNvSpPr>
          <p:nvPr/>
        </p:nvSpPr>
        <p:spPr>
          <a:xfrm xmlns:a="http://schemas.openxmlformats.org/drawingml/2006/main">
            <a:off x="8134350" y="1905000"/>
            <a:ext cx="3009900" cy="28765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30" name="BodyText">
            <a:extLst xmlns:a="http://schemas.openxmlformats.org/drawingml/2006/main">
              <a:ext uri="{FF2B5EF4-FFF2-40B4-BE49-F238E27FC236}">
                <a16:creationId xmlns:a16="http://schemas.microsoft.com/office/drawing/2014/main" id="{A9EF1624-E6AD-47BC-BF3C-5DCD63B96D90}"/>
              </a:ext>
            </a:extLst>
          </p:cNvPr>
          <p:cNvSpPr>
            <a:spLocks xmlns:a="http://schemas.openxmlformats.org/drawingml/2006/main" noGrp="1"/>
          </p:cNvSpPr>
          <p:nvPr/>
        </p:nvSpPr>
        <p:spPr>
          <a:xfrm xmlns:a="http://schemas.openxmlformats.org/drawingml/2006/main">
            <a:off x="8362950" y="2095500"/>
            <a:ext cx="2381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Display"/>
                <a:ea typeface="Aptos Display"/>
                <a:cs typeface="Aptos Display"/>
              </a:defRPr>
            </a:pPr>
            <a:r>
              <a:rPr sz="1725" b="1">
                <a:solidFill>
                  <a:srgbClr val="0F172A"/>
                </a:solidFill>
                <a:latin typeface="Aptos Display"/>
                <a:ea typeface="Aptos Display"/>
                <a:cs typeface="Aptos Display"/>
              </a:rPr>
              <a:t>Public evidence found</a:t>
            </a:r>
          </a:p>
        </p:txBody>
      </p:sp>
      <p:sp>
        <p:nvSpPr>
          <p:cNvPr id="31" name="SmallText">
            <a:extLst xmlns:a="http://schemas.openxmlformats.org/drawingml/2006/main">
              <a:ext uri="{FF2B5EF4-FFF2-40B4-BE49-F238E27FC236}">
                <a16:creationId xmlns:a16="http://schemas.microsoft.com/office/drawing/2014/main" id="{2200406D-9C82-48B4-961D-CE8611004DEC}"/>
              </a:ext>
            </a:extLst>
          </p:cNvPr>
          <p:cNvSpPr>
            <a:spLocks xmlns:a="http://schemas.openxmlformats.org/drawingml/2006/main" noGrp="1"/>
          </p:cNvSpPr>
          <p:nvPr/>
        </p:nvSpPr>
        <p:spPr>
          <a:xfrm xmlns:a="http://schemas.openxmlformats.org/drawingml/2006/main">
            <a:off x="8362950" y="24574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Gaspar-only side</a:t>
            </a:r>
          </a:p>
        </p:txBody>
      </p:sp>
      <p:sp>
        <p:nvSpPr>
          <p:cNvPr id="32" name="BodyText">
            <a:extLst xmlns:a="http://schemas.openxmlformats.org/drawingml/2006/main">
              <a:ext uri="{FF2B5EF4-FFF2-40B4-BE49-F238E27FC236}">
                <a16:creationId xmlns:a16="http://schemas.microsoft.com/office/drawing/2014/main" id="{8B0AB87C-84AC-44E4-B7A9-35D961256A7F}"/>
              </a:ext>
            </a:extLst>
          </p:cNvPr>
          <p:cNvSpPr>
            <a:spLocks xmlns:a="http://schemas.openxmlformats.org/drawingml/2006/main" noGrp="1"/>
          </p:cNvSpPr>
          <p:nvPr/>
        </p:nvSpPr>
        <p:spPr>
          <a:xfrm xmlns:a="http://schemas.openxmlformats.org/drawingml/2006/main">
            <a:off x="8362950" y="2724150"/>
            <a:ext cx="24384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00" b="0">
                <a:solidFill>
                  <a:srgbClr val="0F172A"/>
                </a:solidFill>
                <a:latin typeface="Aptos"/>
                <a:ea typeface="Aptos"/>
                <a:cs typeface="Aptos"/>
              </a:defRPr>
            </a:pPr>
            <a:r>
              <a:rPr sz="1200" b="0">
                <a:solidFill>
                  <a:srgbClr val="0F172A"/>
                </a:solidFill>
                <a:latin typeface="Aptos"/>
                <a:ea typeface="Aptos"/>
                <a:cs typeface="Aptos"/>
              </a:rPr>
              <a:t>Jura, Meuse, and Claye-Souilly all have press or official support on the Gaspar side.</a:t>
            </a:r>
          </a:p>
        </p:txBody>
      </p:sp>
      <p:sp>
        <p:nvSpPr>
          <p:cNvPr id="33" name="SmallText">
            <a:extLst xmlns:a="http://schemas.openxmlformats.org/drawingml/2006/main">
              <a:ext uri="{FF2B5EF4-FFF2-40B4-BE49-F238E27FC236}">
                <a16:creationId xmlns:a16="http://schemas.microsoft.com/office/drawing/2014/main" id="{7528F2EC-01DD-4452-B253-761F32FCC766}"/>
              </a:ext>
            </a:extLst>
          </p:cNvPr>
          <p:cNvSpPr>
            <a:spLocks xmlns:a="http://schemas.openxmlformats.org/drawingml/2006/main" noGrp="1"/>
          </p:cNvSpPr>
          <p:nvPr/>
        </p:nvSpPr>
        <p:spPr>
          <a:xfrm xmlns:a="http://schemas.openxmlformats.org/drawingml/2006/main">
            <a:off x="8362950" y="38290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JRC-only side</a:t>
            </a:r>
          </a:p>
        </p:txBody>
      </p:sp>
      <p:sp>
        <p:nvSpPr>
          <p:cNvPr id="34" name="BodyText">
            <a:extLst xmlns:a="http://schemas.openxmlformats.org/drawingml/2006/main">
              <a:ext uri="{FF2B5EF4-FFF2-40B4-BE49-F238E27FC236}">
                <a16:creationId xmlns:a16="http://schemas.microsoft.com/office/drawing/2014/main" id="{54C197FA-4A7F-4F18-9453-DB72C949E7D8}"/>
              </a:ext>
            </a:extLst>
          </p:cNvPr>
          <p:cNvSpPr>
            <a:spLocks xmlns:a="http://schemas.openxmlformats.org/drawingml/2006/main" noGrp="1"/>
          </p:cNvSpPr>
          <p:nvPr/>
        </p:nvSpPr>
        <p:spPr>
          <a:xfrm xmlns:a="http://schemas.openxmlformats.org/drawingml/2006/main">
            <a:off x="8362950" y="4095750"/>
            <a:ext cx="24384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00" b="0">
                <a:solidFill>
                  <a:srgbClr val="0F172A"/>
                </a:solidFill>
                <a:latin typeface="Aptos"/>
                <a:ea typeface="Aptos"/>
                <a:cs typeface="Aptos"/>
              </a:defRPr>
            </a:pPr>
            <a:r>
              <a:rPr sz="1200" b="0">
                <a:solidFill>
                  <a:srgbClr val="0F172A"/>
                </a:solidFill>
                <a:latin typeface="Aptos"/>
                <a:ea typeface="Aptos"/>
                <a:cs typeface="Aptos"/>
              </a:rPr>
              <a:t>Autet, Asfeld, the Sedan area, and Louhans also have local or departmental evidence on the JRC side.</a:t>
            </a:r>
          </a:p>
        </p:txBody>
      </p:sp>
      <p:sp>
        <p:nvSpPr>
          <p:cNvPr id="35" name="InterpretationPanel">
            <a:extLst xmlns:a="http://schemas.openxmlformats.org/drawingml/2006/main">
              <a:ext uri="{FF2B5EF4-FFF2-40B4-BE49-F238E27FC236}">
                <a16:creationId xmlns:a16="http://schemas.microsoft.com/office/drawing/2014/main" id="{CEE79AE2-C21D-4123-B7F1-CCDF73E2F401}"/>
              </a:ext>
            </a:extLst>
          </p:cNvPr>
          <p:cNvSpPr>
            <a:spLocks xmlns:a="http://schemas.openxmlformats.org/drawingml/2006/main" noGrp="1"/>
          </p:cNvSpPr>
          <p:nvPr/>
        </p:nvSpPr>
        <p:spPr>
          <a:xfrm xmlns:a="http://schemas.openxmlformats.org/drawingml/2006/main">
            <a:off x="514350" y="5029200"/>
            <a:ext cx="106299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7CEC0"/>
            </a:solidFill>
            <a:prstDash val="solid"/>
          </a:ln>
        </p:spPr>
      </p:sp>
      <p:sp>
        <p:nvSpPr>
          <p:cNvPr id="36" name="BodyText">
            <a:extLst xmlns:a="http://schemas.openxmlformats.org/drawingml/2006/main">
              <a:ext uri="{FF2B5EF4-FFF2-40B4-BE49-F238E27FC236}">
                <a16:creationId xmlns:a16="http://schemas.microsoft.com/office/drawing/2014/main" id="{1C5F0B80-14EE-43C3-BEB7-9F037B375CF5}"/>
              </a:ext>
            </a:extLst>
          </p:cNvPr>
          <p:cNvSpPr>
            <a:spLocks xmlns:a="http://schemas.openxmlformats.org/drawingml/2006/main" noGrp="1"/>
          </p:cNvSpPr>
          <p:nvPr/>
        </p:nvSpPr>
        <p:spPr>
          <a:xfrm xmlns:a="http://schemas.openxmlformats.org/drawingml/2006/main">
            <a:off x="742950" y="5257800"/>
            <a:ext cx="10191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575" b="0">
                <a:solidFill>
                  <a:srgbClr val="0F172A"/>
                </a:solidFill>
                <a:latin typeface="Aptos"/>
                <a:ea typeface="Aptos"/>
                <a:cs typeface="Aptos"/>
              </a:defRPr>
            </a:pPr>
            <a:r>
              <a:rPr sz="1575" b="0">
                <a:solidFill>
                  <a:srgbClr val="0F172A"/>
                </a:solidFill>
                <a:latin typeface="Aptos"/>
                <a:ea typeface="Aptos"/>
                <a:cs typeface="Aptos"/>
              </a:rPr>
              <a:t>Interpretation: the July 2021 mismatch is not just an extraction problem. Both sources capture real flood impacts, but they disagree strongly on which communes belong to the same episode and on how widely the flood footprint should extend.</a:t>
            </a:r>
          </a:p>
        </p:txBody>
      </p:sp>
      <p:sp>
        <p:nvSpPr>
          <p:cNvPr id="37" name="Rule">
            <a:extLst xmlns:a="http://schemas.openxmlformats.org/drawingml/2006/main">
              <a:ext uri="{FF2B5EF4-FFF2-40B4-BE49-F238E27FC236}">
                <a16:creationId xmlns:a16="http://schemas.microsoft.com/office/drawing/2014/main" id="{25667E12-61B0-42A7-9481-4278A2FEC8A6}"/>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D7CEC0"/>
          </a:solidFill>
          <a:ln xmlns:a="http://schemas.openxmlformats.org/drawingml/2006/main" w="0">
            <a:solidFill>
              <a:srgbClr val="000000">
                <a:alpha val="0"/>
              </a:srgbClr>
            </a:solidFill>
            <a:prstDash val="solid"/>
          </a:ln>
        </p:spPr>
      </p:sp>
      <p:sp>
        <p:nvSpPr>
          <p:cNvPr id="38" name="SmallText">
            <a:extLst xmlns:a="http://schemas.openxmlformats.org/drawingml/2006/main">
              <a:ext uri="{FF2B5EF4-FFF2-40B4-BE49-F238E27FC236}">
                <a16:creationId xmlns:a16="http://schemas.microsoft.com/office/drawing/2014/main" id="{0CAF87D2-320F-464D-97B4-E1DBEBB696D2}"/>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Evidence report: docs/july_2021_gaspar_jrc_mismatch_evidence_report.md. Comparison counts from the France Streamlit app for 2021-07.</a:t>
            </a:r>
          </a:p>
        </p:txBody>
      </p:sp>
    </p:spTree>
    <p:extLst>
      <p:ext uri="{BB962C8B-B14F-4D97-AF65-F5344CB8AC3E}">
        <p14:creationId xmlns:p14="http://schemas.microsoft.com/office/powerpoint/2010/main" val="456342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45B9E9A7-84E8-4015-8C80-3F8707A47A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1E8"/>
          </a:solidFill>
          <a:ln xmlns:a="http://schemas.openxmlformats.org/drawingml/2006/main" w="0">
            <a:solidFill>
              <a:srgbClr val="000000">
                <a:alpha val="0"/>
              </a:srgbClr>
            </a:solidFill>
            <a:prstDash val="solid"/>
          </a:ln>
        </p:spPr>
      </p:sp>
      <p:sp>
        <p:nvSpPr>
          <p:cNvPr id="2" name="Label">
            <a:extLst xmlns:a="http://schemas.openxmlformats.org/drawingml/2006/main">
              <a:ext uri="{FF2B5EF4-FFF2-40B4-BE49-F238E27FC236}">
                <a16:creationId xmlns:a16="http://schemas.microsoft.com/office/drawing/2014/main" id="{19809CA1-31BF-4CF1-A3BF-06EFD9F36BE9}"/>
              </a:ext>
            </a:extLst>
          </p:cNvPr>
          <p:cNvSpPr>
            <a:spLocks xmlns:a="http://schemas.openxmlformats.org/drawingml/2006/main" noGrp="1"/>
          </p:cNvSpPr>
          <p:nvPr/>
        </p:nvSpPr>
        <p:spPr>
          <a:xfrm xmlns:a="http://schemas.openxmlformats.org/drawingml/2006/main">
            <a:off x="514350" y="40005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45A3C"/>
                </a:solidFill>
                <a:latin typeface="Aptos"/>
                <a:ea typeface="Aptos"/>
                <a:cs typeface="Aptos"/>
              </a:defRPr>
            </a:pPr>
            <a:r>
              <a:rPr sz="1350" b="1">
                <a:solidFill>
                  <a:srgbClr val="E45A3C"/>
                </a:solidFill>
                <a:latin typeface="Aptos"/>
                <a:ea typeface="Aptos"/>
                <a:cs typeface="Aptos"/>
              </a:rPr>
              <a:t>STREAMLIT APP</a:t>
            </a:r>
          </a:p>
        </p:txBody>
      </p:sp>
      <p:sp>
        <p:nvSpPr>
          <p:cNvPr id="3" name="Title">
            <a:extLst xmlns:a="http://schemas.openxmlformats.org/drawingml/2006/main">
              <a:ext uri="{FF2B5EF4-FFF2-40B4-BE49-F238E27FC236}">
                <a16:creationId xmlns:a16="http://schemas.microsoft.com/office/drawing/2014/main" id="{0FAAE3BA-9016-4BFC-A30F-927207E32E6D}"/>
              </a:ext>
            </a:extLst>
          </p:cNvPr>
          <p:cNvSpPr>
            <a:spLocks xmlns:a="http://schemas.openxmlformats.org/drawingml/2006/main" noGrp="1"/>
          </p:cNvSpPr>
          <p:nvPr/>
        </p:nvSpPr>
        <p:spPr>
          <a:xfrm xmlns:a="http://schemas.openxmlformats.org/drawingml/2006/main">
            <a:off x="514350" y="742950"/>
            <a:ext cx="10477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The new Streamlit app turns commune matching into a practical visual QA workflow</a:t>
            </a:r>
          </a:p>
        </p:txBody>
      </p:sp>
      <p:sp>
        <p:nvSpPr>
          <p:cNvPr id="4" name="SidebarPanel">
            <a:extLst xmlns:a="http://schemas.openxmlformats.org/drawingml/2006/main">
              <a:ext uri="{FF2B5EF4-FFF2-40B4-BE49-F238E27FC236}">
                <a16:creationId xmlns:a16="http://schemas.microsoft.com/office/drawing/2014/main" id="{D5468EF6-126F-4E59-9006-F0474E1D31FF}"/>
              </a:ext>
            </a:extLst>
          </p:cNvPr>
          <p:cNvSpPr>
            <a:spLocks xmlns:a="http://schemas.openxmlformats.org/drawingml/2006/main" noGrp="1"/>
          </p:cNvSpPr>
          <p:nvPr/>
        </p:nvSpPr>
        <p:spPr>
          <a:xfrm xmlns:a="http://schemas.openxmlformats.org/drawingml/2006/main">
            <a:off x="514350" y="1714500"/>
            <a:ext cx="3390900" cy="44767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5" name="BodyText">
            <a:extLst xmlns:a="http://schemas.openxmlformats.org/drawingml/2006/main">
              <a:ext uri="{FF2B5EF4-FFF2-40B4-BE49-F238E27FC236}">
                <a16:creationId xmlns:a16="http://schemas.microsoft.com/office/drawing/2014/main" id="{A8716FC7-037B-4A0C-BD2C-70BD6C6FE11D}"/>
              </a:ext>
            </a:extLst>
          </p:cNvPr>
          <p:cNvSpPr>
            <a:spLocks xmlns:a="http://schemas.openxmlformats.org/drawingml/2006/main" noGrp="1"/>
          </p:cNvSpPr>
          <p:nvPr/>
        </p:nvSpPr>
        <p:spPr>
          <a:xfrm xmlns:a="http://schemas.openxmlformats.org/drawingml/2006/main">
            <a:off x="742950" y="1943100"/>
            <a:ext cx="2476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F172A"/>
                </a:solidFill>
                <a:latin typeface="Aptos Display"/>
                <a:ea typeface="Aptos Display"/>
                <a:cs typeface="Aptos Display"/>
              </a:defRPr>
            </a:pPr>
            <a:r>
              <a:rPr sz="1650" b="1">
                <a:solidFill>
                  <a:srgbClr val="0F172A"/>
                </a:solidFill>
                <a:latin typeface="Aptos Display"/>
                <a:ea typeface="Aptos Display"/>
                <a:cs typeface="Aptos Display"/>
              </a:rPr>
              <a:t>What the app now supports</a:t>
            </a:r>
          </a:p>
        </p:txBody>
      </p:sp>
      <p:sp>
        <p:nvSpPr>
          <p:cNvPr id="6" name="Bullet1">
            <a:extLst xmlns:a="http://schemas.openxmlformats.org/drawingml/2006/main">
              <a:ext uri="{FF2B5EF4-FFF2-40B4-BE49-F238E27FC236}">
                <a16:creationId xmlns:a16="http://schemas.microsoft.com/office/drawing/2014/main" id="{55F4937C-110F-4715-B7F3-3CECD632EDC7}"/>
              </a:ext>
            </a:extLst>
          </p:cNvPr>
          <p:cNvSpPr>
            <a:spLocks xmlns:a="http://schemas.openxmlformats.org/drawingml/2006/main" noGrp="1"/>
          </p:cNvSpPr>
          <p:nvPr/>
        </p:nvSpPr>
        <p:spPr>
          <a:xfrm xmlns:a="http://schemas.openxmlformats.org/drawingml/2006/main">
            <a:off x="742950" y="247650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7" name="BulletText1">
            <a:extLst xmlns:a="http://schemas.openxmlformats.org/drawingml/2006/main">
              <a:ext uri="{FF2B5EF4-FFF2-40B4-BE49-F238E27FC236}">
                <a16:creationId xmlns:a16="http://schemas.microsoft.com/office/drawing/2014/main" id="{1F341487-1562-4B30-81F6-49881441D4FB}"/>
              </a:ext>
            </a:extLst>
          </p:cNvPr>
          <p:cNvSpPr>
            <a:spLocks xmlns:a="http://schemas.openxmlformats.org/drawingml/2006/main" noGrp="1"/>
          </p:cNvSpPr>
          <p:nvPr/>
        </p:nvSpPr>
        <p:spPr>
          <a:xfrm xmlns:a="http://schemas.openxmlformats.org/drawingml/2006/main">
            <a:off x="952500" y="2400300"/>
            <a:ext cx="2571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Switch between Gaspar, JRC, and direct Comparison display modes.</a:t>
            </a:r>
          </a:p>
        </p:txBody>
      </p:sp>
      <p:sp>
        <p:nvSpPr>
          <p:cNvPr id="8" name="Bullet2">
            <a:extLst xmlns:a="http://schemas.openxmlformats.org/drawingml/2006/main">
              <a:ext uri="{FF2B5EF4-FFF2-40B4-BE49-F238E27FC236}">
                <a16:creationId xmlns:a16="http://schemas.microsoft.com/office/drawing/2014/main" id="{BD95AF3F-FF15-495D-8C5F-50A16D3EBED0}"/>
              </a:ext>
            </a:extLst>
          </p:cNvPr>
          <p:cNvSpPr>
            <a:spLocks xmlns:a="http://schemas.openxmlformats.org/drawingml/2006/main" noGrp="1"/>
          </p:cNvSpPr>
          <p:nvPr/>
        </p:nvSpPr>
        <p:spPr>
          <a:xfrm xmlns:a="http://schemas.openxmlformats.org/drawingml/2006/main">
            <a:off x="742950" y="314325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9" name="BulletText2">
            <a:extLst xmlns:a="http://schemas.openxmlformats.org/drawingml/2006/main">
              <a:ext uri="{FF2B5EF4-FFF2-40B4-BE49-F238E27FC236}">
                <a16:creationId xmlns:a16="http://schemas.microsoft.com/office/drawing/2014/main" id="{C36DECA9-B8C5-42C1-9BC9-D9A7EA2F0053}"/>
              </a:ext>
            </a:extLst>
          </p:cNvPr>
          <p:cNvSpPr>
            <a:spLocks xmlns:a="http://schemas.openxmlformats.org/drawingml/2006/main" noGrp="1"/>
          </p:cNvSpPr>
          <p:nvPr/>
        </p:nvSpPr>
        <p:spPr>
          <a:xfrm xmlns:a="http://schemas.openxmlformats.org/drawingml/2006/main">
            <a:off x="952500" y="3067050"/>
            <a:ext cx="2571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Filter by exact date, month, year, quarter, or custom interval.</a:t>
            </a:r>
          </a:p>
        </p:txBody>
      </p:sp>
      <p:sp>
        <p:nvSpPr>
          <p:cNvPr id="10" name="Bullet3">
            <a:extLst xmlns:a="http://schemas.openxmlformats.org/drawingml/2006/main">
              <a:ext uri="{FF2B5EF4-FFF2-40B4-BE49-F238E27FC236}">
                <a16:creationId xmlns:a16="http://schemas.microsoft.com/office/drawing/2014/main" id="{086E1802-1956-49EF-BCA5-73E397FFDE36}"/>
              </a:ext>
            </a:extLst>
          </p:cNvPr>
          <p:cNvSpPr>
            <a:spLocks xmlns:a="http://schemas.openxmlformats.org/drawingml/2006/main" noGrp="1"/>
          </p:cNvSpPr>
          <p:nvPr/>
        </p:nvSpPr>
        <p:spPr>
          <a:xfrm xmlns:a="http://schemas.openxmlformats.org/drawingml/2006/main">
            <a:off x="742950" y="381000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1" name="BulletText3">
            <a:extLst xmlns:a="http://schemas.openxmlformats.org/drawingml/2006/main">
              <a:ext uri="{FF2B5EF4-FFF2-40B4-BE49-F238E27FC236}">
                <a16:creationId xmlns:a16="http://schemas.microsoft.com/office/drawing/2014/main" id="{4AB563CF-EF40-4273-A14D-669D19372BD2}"/>
              </a:ext>
            </a:extLst>
          </p:cNvPr>
          <p:cNvSpPr>
            <a:spLocks xmlns:a="http://schemas.openxmlformats.org/drawingml/2006/main" noGrp="1"/>
          </p:cNvSpPr>
          <p:nvPr/>
        </p:nvSpPr>
        <p:spPr>
          <a:xfrm xmlns:a="http://schemas.openxmlformats.org/drawingml/2006/main">
            <a:off x="952500" y="3733800"/>
            <a:ext cx="2571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Inspect active communes, filtered rows, matched rows, and unresolved rows.</a:t>
            </a:r>
          </a:p>
        </p:txBody>
      </p:sp>
      <p:sp>
        <p:nvSpPr>
          <p:cNvPr id="12" name="Bullet4">
            <a:extLst xmlns:a="http://schemas.openxmlformats.org/drawingml/2006/main">
              <a:ext uri="{FF2B5EF4-FFF2-40B4-BE49-F238E27FC236}">
                <a16:creationId xmlns:a16="http://schemas.microsoft.com/office/drawing/2014/main" id="{B0628652-B8AF-4002-9CE2-266CE733B91B}"/>
              </a:ext>
            </a:extLst>
          </p:cNvPr>
          <p:cNvSpPr>
            <a:spLocks xmlns:a="http://schemas.openxmlformats.org/drawingml/2006/main" noGrp="1"/>
          </p:cNvSpPr>
          <p:nvPr/>
        </p:nvSpPr>
        <p:spPr>
          <a:xfrm xmlns:a="http://schemas.openxmlformats.org/drawingml/2006/main">
            <a:off x="742950" y="447675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3" name="BulletText4">
            <a:extLst xmlns:a="http://schemas.openxmlformats.org/drawingml/2006/main">
              <a:ext uri="{FF2B5EF4-FFF2-40B4-BE49-F238E27FC236}">
                <a16:creationId xmlns:a16="http://schemas.microsoft.com/office/drawing/2014/main" id="{7FF28A70-F0B1-4422-8B77-914E6E0EABDC}"/>
              </a:ext>
            </a:extLst>
          </p:cNvPr>
          <p:cNvSpPr>
            <a:spLocks xmlns:a="http://schemas.openxmlformats.org/drawingml/2006/main" noGrp="1"/>
          </p:cNvSpPr>
          <p:nvPr/>
        </p:nvSpPr>
        <p:spPr>
          <a:xfrm xmlns:a="http://schemas.openxmlformats.org/drawingml/2006/main">
            <a:off x="952500" y="4400550"/>
            <a:ext cx="2571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Download the current aggregated table as CSV and the current map as HTML.</a:t>
            </a:r>
          </a:p>
        </p:txBody>
      </p:sp>
      <p:sp>
        <p:nvSpPr>
          <p:cNvPr id="14" name="Bullet5">
            <a:extLst xmlns:a="http://schemas.openxmlformats.org/drawingml/2006/main">
              <a:ext uri="{FF2B5EF4-FFF2-40B4-BE49-F238E27FC236}">
                <a16:creationId xmlns:a16="http://schemas.microsoft.com/office/drawing/2014/main" id="{78844A8E-5C84-488F-980B-5165F7200E4D}"/>
              </a:ext>
            </a:extLst>
          </p:cNvPr>
          <p:cNvSpPr>
            <a:spLocks xmlns:a="http://schemas.openxmlformats.org/drawingml/2006/main" noGrp="1"/>
          </p:cNvSpPr>
          <p:nvPr/>
        </p:nvSpPr>
        <p:spPr>
          <a:xfrm xmlns:a="http://schemas.openxmlformats.org/drawingml/2006/main">
            <a:off x="742950" y="514350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5" name="BulletText5">
            <a:extLst xmlns:a="http://schemas.openxmlformats.org/drawingml/2006/main">
              <a:ext uri="{FF2B5EF4-FFF2-40B4-BE49-F238E27FC236}">
                <a16:creationId xmlns:a16="http://schemas.microsoft.com/office/drawing/2014/main" id="{F8F52391-4A82-4AA9-ADFF-16E28D59393F}"/>
              </a:ext>
            </a:extLst>
          </p:cNvPr>
          <p:cNvSpPr>
            <a:spLocks xmlns:a="http://schemas.openxmlformats.org/drawingml/2006/main" noGrp="1"/>
          </p:cNvSpPr>
          <p:nvPr/>
        </p:nvSpPr>
        <p:spPr>
          <a:xfrm xmlns:a="http://schemas.openxmlformats.org/drawingml/2006/main">
            <a:off x="952500" y="5067300"/>
            <a:ext cx="2571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Use current commune polygons while keeping commune-code diagnostics visible.</a:t>
            </a:r>
          </a:p>
        </p:txBody>
      </p:sp>
      <p:sp>
        <p:nvSpPr>
          <p:cNvPr id="16" name="BrowserChrome">
            <a:extLst xmlns:a="http://schemas.openxmlformats.org/drawingml/2006/main">
              <a:ext uri="{FF2B5EF4-FFF2-40B4-BE49-F238E27FC236}">
                <a16:creationId xmlns:a16="http://schemas.microsoft.com/office/drawing/2014/main" id="{B690E99E-0FAA-49EA-B00C-EC21DC1881F5}"/>
              </a:ext>
            </a:extLst>
          </p:cNvPr>
          <p:cNvSpPr>
            <a:spLocks xmlns:a="http://schemas.openxmlformats.org/drawingml/2006/main" noGrp="1"/>
          </p:cNvSpPr>
          <p:nvPr/>
        </p:nvSpPr>
        <p:spPr>
          <a:xfrm xmlns:a="http://schemas.openxmlformats.org/drawingml/2006/main">
            <a:off x="4095750" y="1714500"/>
            <a:ext cx="7048500" cy="4476750"/>
          </a:xfrm>
          <a:prstGeom xmlns:a="http://schemas.openxmlformats.org/drawingml/2006/main" prst="rect">
            <a:avLst/>
          </a:prstGeom>
          <a:solidFill xmlns:a="http://schemas.openxmlformats.org/drawingml/2006/main">
            <a:srgbClr val="111827"/>
          </a:solidFill>
          <a:ln xmlns:a="http://schemas.openxmlformats.org/drawingml/2006/main" w="9525">
            <a:solidFill>
              <a:srgbClr val="202B3C"/>
            </a:solidFill>
            <a:prstDash val="solid"/>
          </a:ln>
        </p:spPr>
      </p:sp>
      <p:sp>
        <p:nvSpPr>
          <p:cNvPr id="17" name="BrowserTopBar">
            <a:extLst xmlns:a="http://schemas.openxmlformats.org/drawingml/2006/main">
              <a:ext uri="{FF2B5EF4-FFF2-40B4-BE49-F238E27FC236}">
                <a16:creationId xmlns:a16="http://schemas.microsoft.com/office/drawing/2014/main" id="{70EA5EA0-00A5-4F08-A8D3-4085C7BD0B30}"/>
              </a:ext>
            </a:extLst>
          </p:cNvPr>
          <p:cNvSpPr>
            <a:spLocks xmlns:a="http://schemas.openxmlformats.org/drawingml/2006/main" noGrp="1"/>
          </p:cNvSpPr>
          <p:nvPr/>
        </p:nvSpPr>
        <p:spPr>
          <a:xfrm xmlns:a="http://schemas.openxmlformats.org/drawingml/2006/main">
            <a:off x="4095750" y="1714500"/>
            <a:ext cx="7048500" cy="419100"/>
          </a:xfrm>
          <a:prstGeom xmlns:a="http://schemas.openxmlformats.org/drawingml/2006/main" prst="rect">
            <a:avLst/>
          </a:prstGeom>
          <a:solidFill xmlns:a="http://schemas.openxmlformats.org/drawingml/2006/main">
            <a:srgbClr val="1B2435"/>
          </a:solidFill>
          <a:ln xmlns:a="http://schemas.openxmlformats.org/drawingml/2006/main" w="0">
            <a:solidFill>
              <a:srgbClr val="000000">
                <a:alpha val="0"/>
              </a:srgbClr>
            </a:solidFill>
            <a:prstDash val="solid"/>
          </a:ln>
        </p:spPr>
      </p:sp>
      <p:sp>
        <p:nvSpPr>
          <p:cNvPr id="18" name="SmallText">
            <a:extLst xmlns:a="http://schemas.openxmlformats.org/drawingml/2006/main">
              <a:ext uri="{FF2B5EF4-FFF2-40B4-BE49-F238E27FC236}">
                <a16:creationId xmlns:a16="http://schemas.microsoft.com/office/drawing/2014/main" id="{BCA6F3EE-8DAE-44EE-BB22-3C9DC0679504}"/>
              </a:ext>
            </a:extLst>
          </p:cNvPr>
          <p:cNvSpPr>
            <a:spLocks xmlns:a="http://schemas.openxmlformats.org/drawingml/2006/main" noGrp="1"/>
          </p:cNvSpPr>
          <p:nvPr/>
        </p:nvSpPr>
        <p:spPr>
          <a:xfrm xmlns:a="http://schemas.openxmlformats.org/drawingml/2006/main">
            <a:off x="4343400" y="1847850"/>
            <a:ext cx="304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Representative comparison view powered by the same commune-activity logic</a:t>
            </a:r>
          </a:p>
        </p:txBody>
      </p:sp>
      <p:sp>
        <p:nvSpPr>
          <p:cNvPr id="19" name="MockSidebar">
            <a:extLst xmlns:a="http://schemas.openxmlformats.org/drawingml/2006/main">
              <a:ext uri="{FF2B5EF4-FFF2-40B4-BE49-F238E27FC236}">
                <a16:creationId xmlns:a16="http://schemas.microsoft.com/office/drawing/2014/main" id="{5FB3DFAC-663F-463F-A911-8BBEE3BA04DA}"/>
              </a:ext>
            </a:extLst>
          </p:cNvPr>
          <p:cNvSpPr>
            <a:spLocks xmlns:a="http://schemas.openxmlformats.org/drawingml/2006/main" noGrp="1"/>
          </p:cNvSpPr>
          <p:nvPr/>
        </p:nvSpPr>
        <p:spPr>
          <a:xfrm xmlns:a="http://schemas.openxmlformats.org/drawingml/2006/main">
            <a:off x="4305300" y="2286000"/>
            <a:ext cx="1809750" cy="3695700"/>
          </a:xfrm>
          <a:prstGeom xmlns:a="http://schemas.openxmlformats.org/drawingml/2006/main" prst="rect">
            <a:avLst/>
          </a:prstGeom>
          <a:solidFill xmlns:a="http://schemas.openxmlformats.org/drawingml/2006/main">
            <a:srgbClr val="191F2B"/>
          </a:solidFill>
          <a:ln xmlns:a="http://schemas.openxmlformats.org/drawingml/2006/main" w="9525">
            <a:solidFill>
              <a:srgbClr val="293242"/>
            </a:solidFill>
            <a:prstDash val="solid"/>
          </a:ln>
        </p:spPr>
      </p:sp>
      <p:sp>
        <p:nvSpPr>
          <p:cNvPr id="20" name="SmallText">
            <a:extLst xmlns:a="http://schemas.openxmlformats.org/drawingml/2006/main">
              <a:ext uri="{FF2B5EF4-FFF2-40B4-BE49-F238E27FC236}">
                <a16:creationId xmlns:a16="http://schemas.microsoft.com/office/drawing/2014/main" id="{F032C2AB-8757-4E6B-821B-245FB756C8EA}"/>
              </a:ext>
            </a:extLst>
          </p:cNvPr>
          <p:cNvSpPr>
            <a:spLocks xmlns:a="http://schemas.openxmlformats.org/drawingml/2006/main" noGrp="1"/>
          </p:cNvSpPr>
          <p:nvPr/>
        </p:nvSpPr>
        <p:spPr>
          <a:xfrm xmlns:a="http://schemas.openxmlformats.org/drawingml/2006/main">
            <a:off x="4476750" y="247650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Display mode: Comparison</a:t>
            </a:r>
          </a:p>
        </p:txBody>
      </p:sp>
      <p:sp>
        <p:nvSpPr>
          <p:cNvPr id="21" name="MockControl1">
            <a:extLst xmlns:a="http://schemas.openxmlformats.org/drawingml/2006/main">
              <a:ext uri="{FF2B5EF4-FFF2-40B4-BE49-F238E27FC236}">
                <a16:creationId xmlns:a16="http://schemas.microsoft.com/office/drawing/2014/main" id="{E6B388BF-6B05-4354-8E11-54E2C728F42D}"/>
              </a:ext>
            </a:extLst>
          </p:cNvPr>
          <p:cNvSpPr>
            <a:spLocks xmlns:a="http://schemas.openxmlformats.org/drawingml/2006/main" noGrp="1"/>
          </p:cNvSpPr>
          <p:nvPr/>
        </p:nvSpPr>
        <p:spPr>
          <a:xfrm xmlns:a="http://schemas.openxmlformats.org/drawingml/2006/main">
            <a:off x="4476750" y="2686050"/>
            <a:ext cx="1466850" cy="152400"/>
          </a:xfrm>
          <a:prstGeom xmlns:a="http://schemas.openxmlformats.org/drawingml/2006/main" prst="rect">
            <a:avLst/>
          </a:prstGeom>
          <a:solidFill xmlns:a="http://schemas.openxmlformats.org/drawingml/2006/main">
            <a:srgbClr val="243147"/>
          </a:solidFill>
          <a:ln xmlns:a="http://schemas.openxmlformats.org/drawingml/2006/main" w="9525">
            <a:solidFill>
              <a:srgbClr val="344154"/>
            </a:solidFill>
            <a:prstDash val="solid"/>
          </a:ln>
        </p:spPr>
      </p:sp>
      <p:sp>
        <p:nvSpPr>
          <p:cNvPr id="22" name="SmallText">
            <a:extLst xmlns:a="http://schemas.openxmlformats.org/drawingml/2006/main">
              <a:ext uri="{FF2B5EF4-FFF2-40B4-BE49-F238E27FC236}">
                <a16:creationId xmlns:a16="http://schemas.microsoft.com/office/drawing/2014/main" id="{34B42B3C-0954-4D22-B892-2F57CFF81E4D}"/>
              </a:ext>
            </a:extLst>
          </p:cNvPr>
          <p:cNvSpPr>
            <a:spLocks xmlns:a="http://schemas.openxmlformats.org/drawingml/2006/main" noGrp="1"/>
          </p:cNvSpPr>
          <p:nvPr/>
        </p:nvSpPr>
        <p:spPr>
          <a:xfrm xmlns:a="http://schemas.openxmlformats.org/drawingml/2006/main">
            <a:off x="4476750" y="293370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Period mode: Month</a:t>
            </a:r>
          </a:p>
        </p:txBody>
      </p:sp>
      <p:sp>
        <p:nvSpPr>
          <p:cNvPr id="23" name="MockControl2">
            <a:extLst xmlns:a="http://schemas.openxmlformats.org/drawingml/2006/main">
              <a:ext uri="{FF2B5EF4-FFF2-40B4-BE49-F238E27FC236}">
                <a16:creationId xmlns:a16="http://schemas.microsoft.com/office/drawing/2014/main" id="{D685C557-021F-496E-BD4D-54671994D3D1}"/>
              </a:ext>
            </a:extLst>
          </p:cNvPr>
          <p:cNvSpPr>
            <a:spLocks xmlns:a="http://schemas.openxmlformats.org/drawingml/2006/main" noGrp="1"/>
          </p:cNvSpPr>
          <p:nvPr/>
        </p:nvSpPr>
        <p:spPr>
          <a:xfrm xmlns:a="http://schemas.openxmlformats.org/drawingml/2006/main">
            <a:off x="4476750" y="3143250"/>
            <a:ext cx="1466850" cy="152400"/>
          </a:xfrm>
          <a:prstGeom xmlns:a="http://schemas.openxmlformats.org/drawingml/2006/main" prst="rect">
            <a:avLst/>
          </a:prstGeom>
          <a:solidFill xmlns:a="http://schemas.openxmlformats.org/drawingml/2006/main">
            <a:srgbClr val="111827"/>
          </a:solidFill>
          <a:ln xmlns:a="http://schemas.openxmlformats.org/drawingml/2006/main" w="9525">
            <a:solidFill>
              <a:srgbClr val="344154"/>
            </a:solidFill>
            <a:prstDash val="solid"/>
          </a:ln>
        </p:spPr>
      </p:sp>
      <p:sp>
        <p:nvSpPr>
          <p:cNvPr id="24" name="SmallText">
            <a:extLst xmlns:a="http://schemas.openxmlformats.org/drawingml/2006/main">
              <a:ext uri="{FF2B5EF4-FFF2-40B4-BE49-F238E27FC236}">
                <a16:creationId xmlns:a16="http://schemas.microsoft.com/office/drawing/2014/main" id="{205EB624-A32A-41B7-B624-79C9B9FE80E6}"/>
              </a:ext>
            </a:extLst>
          </p:cNvPr>
          <p:cNvSpPr>
            <a:spLocks xmlns:a="http://schemas.openxmlformats.org/drawingml/2006/main" noGrp="1"/>
          </p:cNvSpPr>
          <p:nvPr/>
        </p:nvSpPr>
        <p:spPr>
          <a:xfrm xmlns:a="http://schemas.openxmlformats.org/drawingml/2006/main">
            <a:off x="4476750" y="339090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Year: 2021</a:t>
            </a:r>
          </a:p>
        </p:txBody>
      </p:sp>
      <p:sp>
        <p:nvSpPr>
          <p:cNvPr id="25" name="MockControl3">
            <a:extLst xmlns:a="http://schemas.openxmlformats.org/drawingml/2006/main">
              <a:ext uri="{FF2B5EF4-FFF2-40B4-BE49-F238E27FC236}">
                <a16:creationId xmlns:a16="http://schemas.microsoft.com/office/drawing/2014/main" id="{F27572DB-CBCF-4FC8-B158-41B19BACD15C}"/>
              </a:ext>
            </a:extLst>
          </p:cNvPr>
          <p:cNvSpPr>
            <a:spLocks xmlns:a="http://schemas.openxmlformats.org/drawingml/2006/main" noGrp="1"/>
          </p:cNvSpPr>
          <p:nvPr/>
        </p:nvSpPr>
        <p:spPr>
          <a:xfrm xmlns:a="http://schemas.openxmlformats.org/drawingml/2006/main">
            <a:off x="4476750" y="3600450"/>
            <a:ext cx="1466850" cy="152400"/>
          </a:xfrm>
          <a:prstGeom xmlns:a="http://schemas.openxmlformats.org/drawingml/2006/main" prst="rect">
            <a:avLst/>
          </a:prstGeom>
          <a:solidFill xmlns:a="http://schemas.openxmlformats.org/drawingml/2006/main">
            <a:srgbClr val="111827"/>
          </a:solidFill>
          <a:ln xmlns:a="http://schemas.openxmlformats.org/drawingml/2006/main" w="9525">
            <a:solidFill>
              <a:srgbClr val="344154"/>
            </a:solidFill>
            <a:prstDash val="solid"/>
          </a:ln>
        </p:spPr>
      </p:sp>
      <p:sp>
        <p:nvSpPr>
          <p:cNvPr id="26" name="SmallText">
            <a:extLst xmlns:a="http://schemas.openxmlformats.org/drawingml/2006/main">
              <a:ext uri="{FF2B5EF4-FFF2-40B4-BE49-F238E27FC236}">
                <a16:creationId xmlns:a16="http://schemas.microsoft.com/office/drawing/2014/main" id="{39BBC029-5589-4225-93E4-21703BC5A675}"/>
              </a:ext>
            </a:extLst>
          </p:cNvPr>
          <p:cNvSpPr>
            <a:spLocks xmlns:a="http://schemas.openxmlformats.org/drawingml/2006/main" noGrp="1"/>
          </p:cNvSpPr>
          <p:nvPr/>
        </p:nvSpPr>
        <p:spPr>
          <a:xfrm xmlns:a="http://schemas.openxmlformats.org/drawingml/2006/main">
            <a:off x="4476750" y="384810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Month: 07</a:t>
            </a:r>
          </a:p>
        </p:txBody>
      </p:sp>
      <p:sp>
        <p:nvSpPr>
          <p:cNvPr id="27" name="MockControl4">
            <a:extLst xmlns:a="http://schemas.openxmlformats.org/drawingml/2006/main">
              <a:ext uri="{FF2B5EF4-FFF2-40B4-BE49-F238E27FC236}">
                <a16:creationId xmlns:a16="http://schemas.microsoft.com/office/drawing/2014/main" id="{7C4A3A54-459E-4C74-AE2E-23FBEBF84FB5}"/>
              </a:ext>
            </a:extLst>
          </p:cNvPr>
          <p:cNvSpPr>
            <a:spLocks xmlns:a="http://schemas.openxmlformats.org/drawingml/2006/main" noGrp="1"/>
          </p:cNvSpPr>
          <p:nvPr/>
        </p:nvSpPr>
        <p:spPr>
          <a:xfrm xmlns:a="http://schemas.openxmlformats.org/drawingml/2006/main">
            <a:off x="4476750" y="4057650"/>
            <a:ext cx="1466850" cy="152400"/>
          </a:xfrm>
          <a:prstGeom xmlns:a="http://schemas.openxmlformats.org/drawingml/2006/main" prst="rect">
            <a:avLst/>
          </a:prstGeom>
          <a:solidFill xmlns:a="http://schemas.openxmlformats.org/drawingml/2006/main">
            <a:srgbClr val="111827"/>
          </a:solidFill>
          <a:ln xmlns:a="http://schemas.openxmlformats.org/drawingml/2006/main" w="9525">
            <a:solidFill>
              <a:srgbClr val="344154"/>
            </a:solidFill>
            <a:prstDash val="solid"/>
          </a:ln>
        </p:spPr>
      </p:sp>
      <p:sp>
        <p:nvSpPr>
          <p:cNvPr id="28" name="SmallText">
            <a:extLst xmlns:a="http://schemas.openxmlformats.org/drawingml/2006/main">
              <a:ext uri="{FF2B5EF4-FFF2-40B4-BE49-F238E27FC236}">
                <a16:creationId xmlns:a16="http://schemas.microsoft.com/office/drawing/2014/main" id="{57D9ABCC-E1C7-4F8D-80B4-CBD4FDC98727}"/>
              </a:ext>
            </a:extLst>
          </p:cNvPr>
          <p:cNvSpPr>
            <a:spLocks xmlns:a="http://schemas.openxmlformats.org/drawingml/2006/main" noGrp="1"/>
          </p:cNvSpPr>
          <p:nvPr/>
        </p:nvSpPr>
        <p:spPr>
          <a:xfrm xmlns:a="http://schemas.openxmlformats.org/drawingml/2006/main">
            <a:off x="4476750" y="430530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Basemap: CartoDB Positron</a:t>
            </a:r>
          </a:p>
        </p:txBody>
      </p:sp>
      <p:sp>
        <p:nvSpPr>
          <p:cNvPr id="29" name="MockControl5">
            <a:extLst xmlns:a="http://schemas.openxmlformats.org/drawingml/2006/main">
              <a:ext uri="{FF2B5EF4-FFF2-40B4-BE49-F238E27FC236}">
                <a16:creationId xmlns:a16="http://schemas.microsoft.com/office/drawing/2014/main" id="{524A7FA6-E233-4DDB-8494-018B77B23100}"/>
              </a:ext>
            </a:extLst>
          </p:cNvPr>
          <p:cNvSpPr>
            <a:spLocks xmlns:a="http://schemas.openxmlformats.org/drawingml/2006/main" noGrp="1"/>
          </p:cNvSpPr>
          <p:nvPr/>
        </p:nvSpPr>
        <p:spPr>
          <a:xfrm xmlns:a="http://schemas.openxmlformats.org/drawingml/2006/main">
            <a:off x="4476750" y="4514850"/>
            <a:ext cx="1466850" cy="152400"/>
          </a:xfrm>
          <a:prstGeom xmlns:a="http://schemas.openxmlformats.org/drawingml/2006/main" prst="rect">
            <a:avLst/>
          </a:prstGeom>
          <a:solidFill xmlns:a="http://schemas.openxmlformats.org/drawingml/2006/main">
            <a:srgbClr val="111827"/>
          </a:solidFill>
          <a:ln xmlns:a="http://schemas.openxmlformats.org/drawingml/2006/main" w="9525">
            <a:solidFill>
              <a:srgbClr val="344154"/>
            </a:solidFill>
            <a:prstDash val="solid"/>
          </a:ln>
        </p:spPr>
      </p:sp>
      <p:sp>
        <p:nvSpPr>
          <p:cNvPr id="30" name="SmallText">
            <a:extLst xmlns:a="http://schemas.openxmlformats.org/drawingml/2006/main">
              <a:ext uri="{FF2B5EF4-FFF2-40B4-BE49-F238E27FC236}">
                <a16:creationId xmlns:a16="http://schemas.microsoft.com/office/drawing/2014/main" id="{096BBC16-970D-4B4A-B404-83C7BBC74E0D}"/>
              </a:ext>
            </a:extLst>
          </p:cNvPr>
          <p:cNvSpPr>
            <a:spLocks xmlns:a="http://schemas.openxmlformats.org/drawingml/2006/main" noGrp="1"/>
          </p:cNvSpPr>
          <p:nvPr/>
        </p:nvSpPr>
        <p:spPr>
          <a:xfrm xmlns:a="http://schemas.openxmlformats.org/drawingml/2006/main">
            <a:off x="4476750" y="476250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Departments: on</a:t>
            </a:r>
          </a:p>
        </p:txBody>
      </p:sp>
      <p:sp>
        <p:nvSpPr>
          <p:cNvPr id="31" name="MockControl6">
            <a:extLst xmlns:a="http://schemas.openxmlformats.org/drawingml/2006/main">
              <a:ext uri="{FF2B5EF4-FFF2-40B4-BE49-F238E27FC236}">
                <a16:creationId xmlns:a16="http://schemas.microsoft.com/office/drawing/2014/main" id="{07BFB233-BAE9-4D99-9964-FF101CCAF81F}"/>
              </a:ext>
            </a:extLst>
          </p:cNvPr>
          <p:cNvSpPr>
            <a:spLocks xmlns:a="http://schemas.openxmlformats.org/drawingml/2006/main" noGrp="1"/>
          </p:cNvSpPr>
          <p:nvPr/>
        </p:nvSpPr>
        <p:spPr>
          <a:xfrm xmlns:a="http://schemas.openxmlformats.org/drawingml/2006/main">
            <a:off x="4476750" y="4972050"/>
            <a:ext cx="1466850" cy="152400"/>
          </a:xfrm>
          <a:prstGeom xmlns:a="http://schemas.openxmlformats.org/drawingml/2006/main" prst="rect">
            <a:avLst/>
          </a:prstGeom>
          <a:solidFill xmlns:a="http://schemas.openxmlformats.org/drawingml/2006/main">
            <a:srgbClr val="111827"/>
          </a:solidFill>
          <a:ln xmlns:a="http://schemas.openxmlformats.org/drawingml/2006/main" w="9525">
            <a:solidFill>
              <a:srgbClr val="344154"/>
            </a:solidFill>
            <a:prstDash val="solid"/>
          </a:ln>
        </p:spPr>
      </p:sp>
      <p:sp>
        <p:nvSpPr>
          <p:cNvPr id="32" name="SmallText">
            <a:extLst xmlns:a="http://schemas.openxmlformats.org/drawingml/2006/main">
              <a:ext uri="{FF2B5EF4-FFF2-40B4-BE49-F238E27FC236}">
                <a16:creationId xmlns:a16="http://schemas.microsoft.com/office/drawing/2014/main" id="{2F2BDB1D-73E1-4801-A613-37CE6423D1B8}"/>
              </a:ext>
            </a:extLst>
          </p:cNvPr>
          <p:cNvSpPr>
            <a:spLocks xmlns:a="http://schemas.openxmlformats.org/drawingml/2006/main" noGrp="1"/>
          </p:cNvSpPr>
          <p:nvPr/>
        </p:nvSpPr>
        <p:spPr>
          <a:xfrm xmlns:a="http://schemas.openxmlformats.org/drawingml/2006/main">
            <a:off x="4476750" y="521970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Diagnostics tab</a:t>
            </a:r>
          </a:p>
        </p:txBody>
      </p:sp>
      <p:sp>
        <p:nvSpPr>
          <p:cNvPr id="33" name="MockControl7">
            <a:extLst xmlns:a="http://schemas.openxmlformats.org/drawingml/2006/main">
              <a:ext uri="{FF2B5EF4-FFF2-40B4-BE49-F238E27FC236}">
                <a16:creationId xmlns:a16="http://schemas.microsoft.com/office/drawing/2014/main" id="{98A324DC-3CEA-48FB-A643-82F04EDD76E3}"/>
              </a:ext>
            </a:extLst>
          </p:cNvPr>
          <p:cNvSpPr>
            <a:spLocks xmlns:a="http://schemas.openxmlformats.org/drawingml/2006/main" noGrp="1"/>
          </p:cNvSpPr>
          <p:nvPr/>
        </p:nvSpPr>
        <p:spPr>
          <a:xfrm xmlns:a="http://schemas.openxmlformats.org/drawingml/2006/main">
            <a:off x="4476750" y="5429250"/>
            <a:ext cx="1466850" cy="152400"/>
          </a:xfrm>
          <a:prstGeom xmlns:a="http://schemas.openxmlformats.org/drawingml/2006/main" prst="rect">
            <a:avLst/>
          </a:prstGeom>
          <a:solidFill xmlns:a="http://schemas.openxmlformats.org/drawingml/2006/main">
            <a:srgbClr val="111827"/>
          </a:solidFill>
          <a:ln xmlns:a="http://schemas.openxmlformats.org/drawingml/2006/main" w="9525">
            <a:solidFill>
              <a:srgbClr val="344154"/>
            </a:solidFill>
            <a:prstDash val="solid"/>
          </a:ln>
        </p:spPr>
      </p:sp>
      <p:sp>
        <p:nvSpPr>
          <p:cNvPr id="34" name="ImageFrame">
            <a:extLst xmlns:a="http://schemas.openxmlformats.org/drawingml/2006/main">
              <a:ext uri="{FF2B5EF4-FFF2-40B4-BE49-F238E27FC236}">
                <a16:creationId xmlns:a16="http://schemas.microsoft.com/office/drawing/2014/main" id="{85F51657-D966-4716-9A48-64971FBEE3BB}"/>
              </a:ext>
            </a:extLst>
          </p:cNvPr>
          <p:cNvSpPr>
            <a:spLocks xmlns:a="http://schemas.openxmlformats.org/drawingml/2006/main" noGrp="1"/>
          </p:cNvSpPr>
          <p:nvPr/>
        </p:nvSpPr>
        <p:spPr>
          <a:xfrm xmlns:a="http://schemas.openxmlformats.org/drawingml/2006/main">
            <a:off x="6343650" y="2286000"/>
            <a:ext cx="4572000" cy="3352800"/>
          </a:xfrm>
          <a:prstGeom xmlns:a="http://schemas.openxmlformats.org/drawingml/2006/main" prst="rect">
            <a:avLst/>
          </a:prstGeom>
          <a:solidFill xmlns:a="http://schemas.openxmlformats.org/drawingml/2006/main">
            <a:srgbClr val="FBFBFB"/>
          </a:solidFill>
          <a:ln xmlns:a="http://schemas.openxmlformats.org/drawingml/2006/main" w="9525">
            <a:solidFill>
              <a:srgbClr val="D7CEC0"/>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c6ba726691d4224"/>
          <a:stretch xmlns:a="http://schemas.openxmlformats.org/drawingml/2006/main"/>
        </p:blipFill>
        <p:spPr>
          <a:xfrm xmlns:a="http://schemas.openxmlformats.org/drawingml/2006/main">
            <a:off x="6419850" y="3211397"/>
            <a:ext cx="4419600" cy="1502006"/>
          </a:xfrm>
          <a:prstGeom xmlns:a="http://schemas.openxmlformats.org/drawingml/2006/main" prst="rect">
            <a:avLst/>
          </a:prstGeom>
        </p:spPr>
      </p:pic>
      <p:sp>
        <p:nvSpPr>
          <p:cNvPr id="36" name="BrowserBottomBar">
            <a:extLst xmlns:a="http://schemas.openxmlformats.org/drawingml/2006/main">
              <a:ext uri="{FF2B5EF4-FFF2-40B4-BE49-F238E27FC236}">
                <a16:creationId xmlns:a16="http://schemas.microsoft.com/office/drawing/2014/main" id="{9AFAD932-7992-4B9E-AD3D-E1C79D59D034}"/>
              </a:ext>
            </a:extLst>
          </p:cNvPr>
          <p:cNvSpPr>
            <a:spLocks xmlns:a="http://schemas.openxmlformats.org/drawingml/2006/main" noGrp="1"/>
          </p:cNvSpPr>
          <p:nvPr/>
        </p:nvSpPr>
        <p:spPr>
          <a:xfrm xmlns:a="http://schemas.openxmlformats.org/drawingml/2006/main">
            <a:off x="6343650" y="5753100"/>
            <a:ext cx="4572000" cy="228600"/>
          </a:xfrm>
          <a:prstGeom xmlns:a="http://schemas.openxmlformats.org/drawingml/2006/main" prst="rect">
            <a:avLst/>
          </a:prstGeom>
          <a:solidFill xmlns:a="http://schemas.openxmlformats.org/drawingml/2006/main">
            <a:srgbClr val="161F2D"/>
          </a:solidFill>
          <a:ln xmlns:a="http://schemas.openxmlformats.org/drawingml/2006/main" w="0">
            <a:solidFill>
              <a:srgbClr val="000000">
                <a:alpha val="0"/>
              </a:srgbClr>
            </a:solidFill>
            <a:prstDash val="solid"/>
          </a:ln>
        </p:spPr>
      </p:sp>
      <p:sp>
        <p:nvSpPr>
          <p:cNvPr id="37" name="SmallText">
            <a:extLst xmlns:a="http://schemas.openxmlformats.org/drawingml/2006/main">
              <a:ext uri="{FF2B5EF4-FFF2-40B4-BE49-F238E27FC236}">
                <a16:creationId xmlns:a16="http://schemas.microsoft.com/office/drawing/2014/main" id="{B693A509-E26F-40EE-A7D7-E8B8D3A74EF8}"/>
              </a:ext>
            </a:extLst>
          </p:cNvPr>
          <p:cNvSpPr>
            <a:spLocks xmlns:a="http://schemas.openxmlformats.org/drawingml/2006/main" noGrp="1"/>
          </p:cNvSpPr>
          <p:nvPr/>
        </p:nvSpPr>
        <p:spPr>
          <a:xfrm xmlns:a="http://schemas.openxmlformats.org/drawingml/2006/main">
            <a:off x="6496050" y="5791200"/>
            <a:ext cx="4191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Comparison classes, filters, aggregated table, filtered rows, and unresolved-row diagnostics are all exposed in the app.</a:t>
            </a:r>
          </a:p>
        </p:txBody>
      </p:sp>
      <p:sp>
        <p:nvSpPr>
          <p:cNvPr id="38" name="Rule">
            <a:extLst xmlns:a="http://schemas.openxmlformats.org/drawingml/2006/main">
              <a:ext uri="{FF2B5EF4-FFF2-40B4-BE49-F238E27FC236}">
                <a16:creationId xmlns:a16="http://schemas.microsoft.com/office/drawing/2014/main" id="{940B93CB-26E8-484F-80B4-221EFD642A5D}"/>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D7CEC0"/>
          </a:solidFill>
          <a:ln xmlns:a="http://schemas.openxmlformats.org/drawingml/2006/main" w="0">
            <a:solidFill>
              <a:srgbClr val="000000">
                <a:alpha val="0"/>
              </a:srgbClr>
            </a:solidFill>
            <a:prstDash val="solid"/>
          </a:ln>
        </p:spPr>
      </p:sp>
      <p:sp>
        <p:nvSpPr>
          <p:cNvPr id="39" name="SmallText">
            <a:extLst xmlns:a="http://schemas.openxmlformats.org/drawingml/2006/main">
              <a:ext uri="{FF2B5EF4-FFF2-40B4-BE49-F238E27FC236}">
                <a16:creationId xmlns:a16="http://schemas.microsoft.com/office/drawing/2014/main" id="{E4F339DB-AFE6-4842-9486-910DA9E335EC}"/>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Raw and processed Gaspar inputs are both supported. | Comparison mode separates both-active, Gaspar-only, and JRC-only communes. | Core sources: src/france_commune_activity.py and src/gaspar_jrc_france_map_app.py.</a:t>
            </a:r>
          </a:p>
        </p:txBody>
      </p:sp>
    </p:spTree>
    <p:extLst>
      <p:ext uri="{BB962C8B-B14F-4D97-AF65-F5344CB8AC3E}">
        <p14:creationId xmlns:p14="http://schemas.microsoft.com/office/powerpoint/2010/main" val="10856480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F2262ECD-7C82-4F55-8D70-2725E6F24B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1E8"/>
          </a:solidFill>
          <a:ln xmlns:a="http://schemas.openxmlformats.org/drawingml/2006/main" w="0">
            <a:solidFill>
              <a:srgbClr val="000000">
                <a:alpha val="0"/>
              </a:srgbClr>
            </a:solidFill>
            <a:prstDash val="solid"/>
          </a:ln>
        </p:spPr>
      </p:sp>
      <p:sp>
        <p:nvSpPr>
          <p:cNvPr id="2" name="Label">
            <a:extLst xmlns:a="http://schemas.openxmlformats.org/drawingml/2006/main">
              <a:ext uri="{FF2B5EF4-FFF2-40B4-BE49-F238E27FC236}">
                <a16:creationId xmlns:a16="http://schemas.microsoft.com/office/drawing/2014/main" id="{00318B3A-E28F-4DD9-8799-8BD6C569F9A1}"/>
              </a:ext>
            </a:extLst>
          </p:cNvPr>
          <p:cNvSpPr>
            <a:spLocks xmlns:a="http://schemas.openxmlformats.org/drawingml/2006/main" noGrp="1"/>
          </p:cNvSpPr>
          <p:nvPr/>
        </p:nvSpPr>
        <p:spPr>
          <a:xfrm xmlns:a="http://schemas.openxmlformats.org/drawingml/2006/main">
            <a:off x="514350" y="40005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45A3C"/>
                </a:solidFill>
                <a:latin typeface="Aptos"/>
                <a:ea typeface="Aptos"/>
                <a:cs typeface="Aptos"/>
              </a:defRPr>
            </a:pPr>
            <a:r>
              <a:rPr sz="1350" b="1">
                <a:solidFill>
                  <a:srgbClr val="E45A3C"/>
                </a:solidFill>
                <a:latin typeface="Aptos"/>
                <a:ea typeface="Aptos"/>
                <a:cs typeface="Aptos"/>
              </a:rPr>
              <a:t>NATIONAL AUDIT</a:t>
            </a:r>
          </a:p>
        </p:txBody>
      </p:sp>
      <p:sp>
        <p:nvSpPr>
          <p:cNvPr id="3" name="Title">
            <a:extLst xmlns:a="http://schemas.openxmlformats.org/drawingml/2006/main">
              <a:ext uri="{FF2B5EF4-FFF2-40B4-BE49-F238E27FC236}">
                <a16:creationId xmlns:a16="http://schemas.microsoft.com/office/drawing/2014/main" id="{DCC398E3-642B-4A06-9F20-0F1EE73EB985}"/>
              </a:ext>
            </a:extLst>
          </p:cNvPr>
          <p:cNvSpPr>
            <a:spLocks xmlns:a="http://schemas.openxmlformats.org/drawingml/2006/main" noGrp="1"/>
          </p:cNvSpPr>
          <p:nvPr/>
        </p:nvSpPr>
        <p:spPr>
          <a:xfrm xmlns:a="http://schemas.openxmlformats.org/drawingml/2006/main">
            <a:off x="514350" y="742950"/>
            <a:ext cx="10668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National commune-level event match remains low even with a wider time window</a:t>
            </a:r>
          </a:p>
        </p:txBody>
      </p:sp>
      <p:sp>
        <p:nvSpPr>
          <p:cNvPr id="4" name="SmallText">
            <a:extLst xmlns:a="http://schemas.openxmlformats.org/drawingml/2006/main">
              <a:ext uri="{FF2B5EF4-FFF2-40B4-BE49-F238E27FC236}">
                <a16:creationId xmlns:a16="http://schemas.microsoft.com/office/drawing/2014/main" id="{5605AE4A-AAF0-49E0-B047-82F9D26C00D3}"/>
              </a:ext>
            </a:extLst>
          </p:cNvPr>
          <p:cNvSpPr>
            <a:spLocks xmlns:a="http://schemas.openxmlformats.org/drawingml/2006/main" noGrp="1"/>
          </p:cNvSpPr>
          <p:nvPr/>
        </p:nvSpPr>
        <p:spPr>
          <a:xfrm xmlns:a="http://schemas.openxmlformats.org/drawingml/2006/main">
            <a:off x="514350" y="1390650"/>
            <a:ext cx="1000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Department-level rates are materially higher than commune-level rates, which points to commune fragmentation and timing differences rather than a total absence of overlap.</a:t>
            </a:r>
          </a:p>
        </p:txBody>
      </p:sp>
      <p:sp>
        <p:nvSpPr>
          <p:cNvPr id="5" name="7-day window">
            <a:extLst xmlns:a="http://schemas.openxmlformats.org/drawingml/2006/main">
              <a:ext uri="{FF2B5EF4-FFF2-40B4-BE49-F238E27FC236}">
                <a16:creationId xmlns:a16="http://schemas.microsoft.com/office/drawing/2014/main" id="{C582D86C-DA73-4F6C-9C52-D0240B61CF75}"/>
              </a:ext>
            </a:extLst>
          </p:cNvPr>
          <p:cNvSpPr>
            <a:spLocks xmlns:a="http://schemas.openxmlformats.org/drawingml/2006/main" noGrp="1"/>
          </p:cNvSpPr>
          <p:nvPr/>
        </p:nvSpPr>
        <p:spPr>
          <a:xfrm xmlns:a="http://schemas.openxmlformats.org/drawingml/2006/main">
            <a:off x="514350" y="1981200"/>
            <a:ext cx="4876800" cy="37719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6" name="7-day windowAccent">
            <a:extLst xmlns:a="http://schemas.openxmlformats.org/drawingml/2006/main">
              <a:ext uri="{FF2B5EF4-FFF2-40B4-BE49-F238E27FC236}">
                <a16:creationId xmlns:a16="http://schemas.microsoft.com/office/drawing/2014/main" id="{71206EF9-7B00-438B-827B-673140DFE812}"/>
              </a:ext>
            </a:extLst>
          </p:cNvPr>
          <p:cNvSpPr>
            <a:spLocks xmlns:a="http://schemas.openxmlformats.org/drawingml/2006/main" noGrp="1"/>
          </p:cNvSpPr>
          <p:nvPr/>
        </p:nvSpPr>
        <p:spPr>
          <a:xfrm xmlns:a="http://schemas.openxmlformats.org/drawingml/2006/main">
            <a:off x="514350" y="1981200"/>
            <a:ext cx="4876800" cy="7620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7" name="BodyText">
            <a:extLst xmlns:a="http://schemas.openxmlformats.org/drawingml/2006/main">
              <a:ext uri="{FF2B5EF4-FFF2-40B4-BE49-F238E27FC236}">
                <a16:creationId xmlns:a16="http://schemas.microsoft.com/office/drawing/2014/main" id="{949E3BE1-C909-4A5A-9693-4F16F90B1EAE}"/>
              </a:ext>
            </a:extLst>
          </p:cNvPr>
          <p:cNvSpPr>
            <a:spLocks xmlns:a="http://schemas.openxmlformats.org/drawingml/2006/main" noGrp="1"/>
          </p:cNvSpPr>
          <p:nvPr/>
        </p:nvSpPr>
        <p:spPr>
          <a:xfrm xmlns:a="http://schemas.openxmlformats.org/drawingml/2006/main">
            <a:off x="723900" y="217170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latin typeface="Aptos Display"/>
                <a:ea typeface="Aptos Display"/>
                <a:cs typeface="Aptos Display"/>
              </a:defRPr>
            </a:pPr>
            <a:r>
              <a:rPr sz="1800" b="1">
                <a:solidFill>
                  <a:srgbClr val="0F172A"/>
                </a:solidFill>
                <a:latin typeface="Aptos Display"/>
                <a:ea typeface="Aptos Display"/>
                <a:cs typeface="Aptos Display"/>
              </a:rPr>
              <a:t>7-day window</a:t>
            </a:r>
          </a:p>
        </p:txBody>
      </p:sp>
      <p:sp>
        <p:nvSpPr>
          <p:cNvPr id="8" name="SmallText">
            <a:extLst xmlns:a="http://schemas.openxmlformats.org/drawingml/2006/main">
              <a:ext uri="{FF2B5EF4-FFF2-40B4-BE49-F238E27FC236}">
                <a16:creationId xmlns:a16="http://schemas.microsoft.com/office/drawing/2014/main" id="{7908D66A-3117-4C32-B6A4-A084D5007F42}"/>
              </a:ext>
            </a:extLst>
          </p:cNvPr>
          <p:cNvSpPr>
            <a:spLocks xmlns:a="http://schemas.openxmlformats.org/drawingml/2006/main" noGrp="1"/>
          </p:cNvSpPr>
          <p:nvPr/>
        </p:nvSpPr>
        <p:spPr>
          <a:xfrm xmlns:a="http://schemas.openxmlformats.org/drawingml/2006/main">
            <a:off x="723900" y="25146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Commune-level event matching</a:t>
            </a:r>
          </a:p>
        </p:txBody>
      </p:sp>
      <p:sp>
        <p:nvSpPr>
          <p:cNvPr id="9" name="SmallText">
            <a:extLst xmlns:a="http://schemas.openxmlformats.org/drawingml/2006/main">
              <a:ext uri="{FF2B5EF4-FFF2-40B4-BE49-F238E27FC236}">
                <a16:creationId xmlns:a16="http://schemas.microsoft.com/office/drawing/2014/main" id="{456B2FC0-3997-4142-8F63-D4173336EB58}"/>
              </a:ext>
            </a:extLst>
          </p:cNvPr>
          <p:cNvSpPr>
            <a:spLocks xmlns:a="http://schemas.openxmlformats.org/drawingml/2006/main" noGrp="1"/>
          </p:cNvSpPr>
          <p:nvPr/>
        </p:nvSpPr>
        <p:spPr>
          <a:xfrm xmlns:a="http://schemas.openxmlformats.org/drawingml/2006/main">
            <a:off x="723900" y="28194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JRC matched (22.9%)</a:t>
            </a:r>
          </a:p>
        </p:txBody>
      </p:sp>
      <p:sp>
        <p:nvSpPr>
          <p:cNvPr id="10" name="SmallText">
            <a:extLst xmlns:a="http://schemas.openxmlformats.org/drawingml/2006/main">
              <a:ext uri="{FF2B5EF4-FFF2-40B4-BE49-F238E27FC236}">
                <a16:creationId xmlns:a16="http://schemas.microsoft.com/office/drawing/2014/main" id="{3ECF8AF8-802C-41B2-A56A-F461BAD57D01}"/>
              </a:ext>
            </a:extLst>
          </p:cNvPr>
          <p:cNvSpPr>
            <a:spLocks xmlns:a="http://schemas.openxmlformats.org/drawingml/2006/main" noGrp="1"/>
          </p:cNvSpPr>
          <p:nvPr/>
        </p:nvSpPr>
        <p:spPr>
          <a:xfrm xmlns:a="http://schemas.openxmlformats.org/drawingml/2006/main">
            <a:off x="4229100" y="28194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66/288</a:t>
            </a:r>
          </a:p>
        </p:txBody>
      </p:sp>
      <p:sp>
        <p:nvSpPr>
          <p:cNvPr id="11" name="ProgressTrack">
            <a:extLst xmlns:a="http://schemas.openxmlformats.org/drawingml/2006/main">
              <a:ext uri="{FF2B5EF4-FFF2-40B4-BE49-F238E27FC236}">
                <a16:creationId xmlns:a16="http://schemas.microsoft.com/office/drawing/2014/main" id="{5F977587-4282-4422-B377-F374DDFC32EE}"/>
              </a:ext>
            </a:extLst>
          </p:cNvPr>
          <p:cNvSpPr>
            <a:spLocks xmlns:a="http://schemas.openxmlformats.org/drawingml/2006/main" noGrp="1"/>
          </p:cNvSpPr>
          <p:nvPr/>
        </p:nvSpPr>
        <p:spPr>
          <a:xfrm xmlns:a="http://schemas.openxmlformats.org/drawingml/2006/main">
            <a:off x="723900" y="308610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12" name="ProgressFill">
            <a:extLst xmlns:a="http://schemas.openxmlformats.org/drawingml/2006/main">
              <a:ext uri="{FF2B5EF4-FFF2-40B4-BE49-F238E27FC236}">
                <a16:creationId xmlns:a16="http://schemas.microsoft.com/office/drawing/2014/main" id="{C0BA5278-3881-41E1-9B73-B6A7B5159F96}"/>
              </a:ext>
            </a:extLst>
          </p:cNvPr>
          <p:cNvSpPr>
            <a:spLocks xmlns:a="http://schemas.openxmlformats.org/drawingml/2006/main" noGrp="1"/>
          </p:cNvSpPr>
          <p:nvPr/>
        </p:nvSpPr>
        <p:spPr>
          <a:xfrm xmlns:a="http://schemas.openxmlformats.org/drawingml/2006/main">
            <a:off x="723900" y="3086100"/>
            <a:ext cx="1019175" cy="1333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13" name="SmallText">
            <a:extLst xmlns:a="http://schemas.openxmlformats.org/drawingml/2006/main">
              <a:ext uri="{FF2B5EF4-FFF2-40B4-BE49-F238E27FC236}">
                <a16:creationId xmlns:a16="http://schemas.microsoft.com/office/drawing/2014/main" id="{51CF3973-5D62-4D3B-A161-3DB38EAF1232}"/>
              </a:ext>
            </a:extLst>
          </p:cNvPr>
          <p:cNvSpPr>
            <a:spLocks xmlns:a="http://schemas.openxmlformats.org/drawingml/2006/main" noGrp="1"/>
          </p:cNvSpPr>
          <p:nvPr/>
        </p:nvSpPr>
        <p:spPr>
          <a:xfrm xmlns:a="http://schemas.openxmlformats.org/drawingml/2006/main">
            <a:off x="723900" y="3276600"/>
            <a:ext cx="445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222 JRC events remain exclusive under this window.</a:t>
            </a:r>
          </a:p>
        </p:txBody>
      </p:sp>
      <p:sp>
        <p:nvSpPr>
          <p:cNvPr id="14" name="SmallText">
            <a:extLst xmlns:a="http://schemas.openxmlformats.org/drawingml/2006/main">
              <a:ext uri="{FF2B5EF4-FFF2-40B4-BE49-F238E27FC236}">
                <a16:creationId xmlns:a16="http://schemas.microsoft.com/office/drawing/2014/main" id="{00C2E66A-EA76-4B78-9050-C70B839DE84E}"/>
              </a:ext>
            </a:extLst>
          </p:cNvPr>
          <p:cNvSpPr>
            <a:spLocks xmlns:a="http://schemas.openxmlformats.org/drawingml/2006/main" noGrp="1"/>
          </p:cNvSpPr>
          <p:nvPr/>
        </p:nvSpPr>
        <p:spPr>
          <a:xfrm xmlns:a="http://schemas.openxmlformats.org/drawingml/2006/main">
            <a:off x="723900" y="37338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Gaspar matched (14.2%)</a:t>
            </a:r>
          </a:p>
        </p:txBody>
      </p:sp>
      <p:sp>
        <p:nvSpPr>
          <p:cNvPr id="15" name="SmallText">
            <a:extLst xmlns:a="http://schemas.openxmlformats.org/drawingml/2006/main">
              <a:ext uri="{FF2B5EF4-FFF2-40B4-BE49-F238E27FC236}">
                <a16:creationId xmlns:a16="http://schemas.microsoft.com/office/drawing/2014/main" id="{5889B762-E46F-48AC-BA31-0C47C23CEDB3}"/>
              </a:ext>
            </a:extLst>
          </p:cNvPr>
          <p:cNvSpPr>
            <a:spLocks xmlns:a="http://schemas.openxmlformats.org/drawingml/2006/main" noGrp="1"/>
          </p:cNvSpPr>
          <p:nvPr/>
        </p:nvSpPr>
        <p:spPr>
          <a:xfrm xmlns:a="http://schemas.openxmlformats.org/drawingml/2006/main">
            <a:off x="4229100" y="37338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499/3505</a:t>
            </a:r>
          </a:p>
        </p:txBody>
      </p:sp>
      <p:sp>
        <p:nvSpPr>
          <p:cNvPr id="16" name="ProgressTrack">
            <a:extLst xmlns:a="http://schemas.openxmlformats.org/drawingml/2006/main">
              <a:ext uri="{FF2B5EF4-FFF2-40B4-BE49-F238E27FC236}">
                <a16:creationId xmlns:a16="http://schemas.microsoft.com/office/drawing/2014/main" id="{F4730097-FAA0-472A-AB89-F7BE1DBF22C4}"/>
              </a:ext>
            </a:extLst>
          </p:cNvPr>
          <p:cNvSpPr>
            <a:spLocks xmlns:a="http://schemas.openxmlformats.org/drawingml/2006/main" noGrp="1"/>
          </p:cNvSpPr>
          <p:nvPr/>
        </p:nvSpPr>
        <p:spPr>
          <a:xfrm xmlns:a="http://schemas.openxmlformats.org/drawingml/2006/main">
            <a:off x="723900" y="400050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17" name="ProgressFill">
            <a:extLst xmlns:a="http://schemas.openxmlformats.org/drawingml/2006/main">
              <a:ext uri="{FF2B5EF4-FFF2-40B4-BE49-F238E27FC236}">
                <a16:creationId xmlns:a16="http://schemas.microsoft.com/office/drawing/2014/main" id="{D97E56D8-680D-45BB-8CE3-4DB7E62D586F}"/>
              </a:ext>
            </a:extLst>
          </p:cNvPr>
          <p:cNvSpPr>
            <a:spLocks xmlns:a="http://schemas.openxmlformats.org/drawingml/2006/main" noGrp="1"/>
          </p:cNvSpPr>
          <p:nvPr/>
        </p:nvSpPr>
        <p:spPr>
          <a:xfrm xmlns:a="http://schemas.openxmlformats.org/drawingml/2006/main">
            <a:off x="723900" y="4000500"/>
            <a:ext cx="638175" cy="1333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8" name="SmallText">
            <a:extLst xmlns:a="http://schemas.openxmlformats.org/drawingml/2006/main">
              <a:ext uri="{FF2B5EF4-FFF2-40B4-BE49-F238E27FC236}">
                <a16:creationId xmlns:a16="http://schemas.microsoft.com/office/drawing/2014/main" id="{BB38568E-36FA-4E1D-877C-A002CB44D789}"/>
              </a:ext>
            </a:extLst>
          </p:cNvPr>
          <p:cNvSpPr>
            <a:spLocks xmlns:a="http://schemas.openxmlformats.org/drawingml/2006/main" noGrp="1"/>
          </p:cNvSpPr>
          <p:nvPr/>
        </p:nvSpPr>
        <p:spPr>
          <a:xfrm xmlns:a="http://schemas.openxmlformats.org/drawingml/2006/main">
            <a:off x="723900" y="4191000"/>
            <a:ext cx="445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3,006 Gaspar event groups remain exclusive under this window.</a:t>
            </a:r>
          </a:p>
        </p:txBody>
      </p:sp>
      <p:sp>
        <p:nvSpPr>
          <p:cNvPr id="19" name="30-day window">
            <a:extLst xmlns:a="http://schemas.openxmlformats.org/drawingml/2006/main">
              <a:ext uri="{FF2B5EF4-FFF2-40B4-BE49-F238E27FC236}">
                <a16:creationId xmlns:a16="http://schemas.microsoft.com/office/drawing/2014/main" id="{A2B026DF-034D-4AF4-A575-1890DD5E4406}"/>
              </a:ext>
            </a:extLst>
          </p:cNvPr>
          <p:cNvSpPr>
            <a:spLocks xmlns:a="http://schemas.openxmlformats.org/drawingml/2006/main" noGrp="1"/>
          </p:cNvSpPr>
          <p:nvPr/>
        </p:nvSpPr>
        <p:spPr>
          <a:xfrm xmlns:a="http://schemas.openxmlformats.org/drawingml/2006/main">
            <a:off x="5772150" y="1981200"/>
            <a:ext cx="4876800" cy="3771900"/>
          </a:xfrm>
          <a:prstGeom xmlns:a="http://schemas.openxmlformats.org/drawingml/2006/main" prst="rect">
            <a:avLst/>
          </a:prstGeom>
          <a:solidFill xmlns:a="http://schemas.openxmlformats.org/drawingml/2006/main">
            <a:srgbClr val="F8FBFF"/>
          </a:solidFill>
          <a:ln xmlns:a="http://schemas.openxmlformats.org/drawingml/2006/main" w="9525">
            <a:solidFill>
              <a:srgbClr val="D7CEC0"/>
            </a:solidFill>
            <a:prstDash val="solid"/>
          </a:ln>
        </p:spPr>
      </p:sp>
      <p:sp>
        <p:nvSpPr>
          <p:cNvPr id="20" name="30-day windowAccent">
            <a:extLst xmlns:a="http://schemas.openxmlformats.org/drawingml/2006/main">
              <a:ext uri="{FF2B5EF4-FFF2-40B4-BE49-F238E27FC236}">
                <a16:creationId xmlns:a16="http://schemas.microsoft.com/office/drawing/2014/main" id="{CF4BCB6F-6853-4EAC-B3B9-50C637FA4004}"/>
              </a:ext>
            </a:extLst>
          </p:cNvPr>
          <p:cNvSpPr>
            <a:spLocks xmlns:a="http://schemas.openxmlformats.org/drawingml/2006/main" noGrp="1"/>
          </p:cNvSpPr>
          <p:nvPr/>
        </p:nvSpPr>
        <p:spPr>
          <a:xfrm xmlns:a="http://schemas.openxmlformats.org/drawingml/2006/main">
            <a:off x="5772150" y="1981200"/>
            <a:ext cx="4876800" cy="7620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21" name="BodyText">
            <a:extLst xmlns:a="http://schemas.openxmlformats.org/drawingml/2006/main">
              <a:ext uri="{FF2B5EF4-FFF2-40B4-BE49-F238E27FC236}">
                <a16:creationId xmlns:a16="http://schemas.microsoft.com/office/drawing/2014/main" id="{884DDAB8-D565-4126-81CF-95C72965FED6}"/>
              </a:ext>
            </a:extLst>
          </p:cNvPr>
          <p:cNvSpPr>
            <a:spLocks xmlns:a="http://schemas.openxmlformats.org/drawingml/2006/main" noGrp="1"/>
          </p:cNvSpPr>
          <p:nvPr/>
        </p:nvSpPr>
        <p:spPr>
          <a:xfrm xmlns:a="http://schemas.openxmlformats.org/drawingml/2006/main">
            <a:off x="5981700" y="217170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latin typeface="Aptos Display"/>
                <a:ea typeface="Aptos Display"/>
                <a:cs typeface="Aptos Display"/>
              </a:defRPr>
            </a:pPr>
            <a:r>
              <a:rPr sz="1800" b="1">
                <a:solidFill>
                  <a:srgbClr val="0F172A"/>
                </a:solidFill>
                <a:latin typeface="Aptos Display"/>
                <a:ea typeface="Aptos Display"/>
                <a:cs typeface="Aptos Display"/>
              </a:rPr>
              <a:t>30-day window</a:t>
            </a:r>
          </a:p>
        </p:txBody>
      </p:sp>
      <p:sp>
        <p:nvSpPr>
          <p:cNvPr id="22" name="SmallText">
            <a:extLst xmlns:a="http://schemas.openxmlformats.org/drawingml/2006/main">
              <a:ext uri="{FF2B5EF4-FFF2-40B4-BE49-F238E27FC236}">
                <a16:creationId xmlns:a16="http://schemas.microsoft.com/office/drawing/2014/main" id="{4F9D3D7E-15E8-4F73-B6FB-E4D2993226FC}"/>
              </a:ext>
            </a:extLst>
          </p:cNvPr>
          <p:cNvSpPr>
            <a:spLocks xmlns:a="http://schemas.openxmlformats.org/drawingml/2006/main" noGrp="1"/>
          </p:cNvSpPr>
          <p:nvPr/>
        </p:nvSpPr>
        <p:spPr>
          <a:xfrm xmlns:a="http://schemas.openxmlformats.org/drawingml/2006/main">
            <a:off x="5981700" y="25146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Commune-level event matching</a:t>
            </a:r>
          </a:p>
        </p:txBody>
      </p:sp>
      <p:sp>
        <p:nvSpPr>
          <p:cNvPr id="23" name="SmallText">
            <a:extLst xmlns:a="http://schemas.openxmlformats.org/drawingml/2006/main">
              <a:ext uri="{FF2B5EF4-FFF2-40B4-BE49-F238E27FC236}">
                <a16:creationId xmlns:a16="http://schemas.microsoft.com/office/drawing/2014/main" id="{CA67DBDB-4222-40A8-A823-A39D5FED374E}"/>
              </a:ext>
            </a:extLst>
          </p:cNvPr>
          <p:cNvSpPr>
            <a:spLocks xmlns:a="http://schemas.openxmlformats.org/drawingml/2006/main" noGrp="1"/>
          </p:cNvSpPr>
          <p:nvPr/>
        </p:nvSpPr>
        <p:spPr>
          <a:xfrm xmlns:a="http://schemas.openxmlformats.org/drawingml/2006/main">
            <a:off x="5981700" y="28194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JRC matched (27.8%)</a:t>
            </a:r>
          </a:p>
        </p:txBody>
      </p:sp>
      <p:sp>
        <p:nvSpPr>
          <p:cNvPr id="24" name="SmallText">
            <a:extLst xmlns:a="http://schemas.openxmlformats.org/drawingml/2006/main">
              <a:ext uri="{FF2B5EF4-FFF2-40B4-BE49-F238E27FC236}">
                <a16:creationId xmlns:a16="http://schemas.microsoft.com/office/drawing/2014/main" id="{3037F0B2-EFB4-4F0E-A9F9-E296D702F641}"/>
              </a:ext>
            </a:extLst>
          </p:cNvPr>
          <p:cNvSpPr>
            <a:spLocks xmlns:a="http://schemas.openxmlformats.org/drawingml/2006/main" noGrp="1"/>
          </p:cNvSpPr>
          <p:nvPr/>
        </p:nvSpPr>
        <p:spPr>
          <a:xfrm xmlns:a="http://schemas.openxmlformats.org/drawingml/2006/main">
            <a:off x="9486900" y="28194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80/288</a:t>
            </a:r>
          </a:p>
        </p:txBody>
      </p:sp>
      <p:sp>
        <p:nvSpPr>
          <p:cNvPr id="25" name="ProgressTrack">
            <a:extLst xmlns:a="http://schemas.openxmlformats.org/drawingml/2006/main">
              <a:ext uri="{FF2B5EF4-FFF2-40B4-BE49-F238E27FC236}">
                <a16:creationId xmlns:a16="http://schemas.microsoft.com/office/drawing/2014/main" id="{5568F6B6-787E-4CE3-883E-C84D084B5CEB}"/>
              </a:ext>
            </a:extLst>
          </p:cNvPr>
          <p:cNvSpPr>
            <a:spLocks xmlns:a="http://schemas.openxmlformats.org/drawingml/2006/main" noGrp="1"/>
          </p:cNvSpPr>
          <p:nvPr/>
        </p:nvSpPr>
        <p:spPr>
          <a:xfrm xmlns:a="http://schemas.openxmlformats.org/drawingml/2006/main">
            <a:off x="5981700" y="308610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26" name="ProgressFill">
            <a:extLst xmlns:a="http://schemas.openxmlformats.org/drawingml/2006/main">
              <a:ext uri="{FF2B5EF4-FFF2-40B4-BE49-F238E27FC236}">
                <a16:creationId xmlns:a16="http://schemas.microsoft.com/office/drawing/2014/main" id="{82B0B0E3-770A-4DA8-8C0E-38A6951B6F58}"/>
              </a:ext>
            </a:extLst>
          </p:cNvPr>
          <p:cNvSpPr>
            <a:spLocks xmlns:a="http://schemas.openxmlformats.org/drawingml/2006/main" noGrp="1"/>
          </p:cNvSpPr>
          <p:nvPr/>
        </p:nvSpPr>
        <p:spPr>
          <a:xfrm xmlns:a="http://schemas.openxmlformats.org/drawingml/2006/main">
            <a:off x="5981700" y="3086100"/>
            <a:ext cx="1238250" cy="1333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27" name="SmallText">
            <a:extLst xmlns:a="http://schemas.openxmlformats.org/drawingml/2006/main">
              <a:ext uri="{FF2B5EF4-FFF2-40B4-BE49-F238E27FC236}">
                <a16:creationId xmlns:a16="http://schemas.microsoft.com/office/drawing/2014/main" id="{41B57665-3809-43EE-A491-981D3EC6F272}"/>
              </a:ext>
            </a:extLst>
          </p:cNvPr>
          <p:cNvSpPr>
            <a:spLocks xmlns:a="http://schemas.openxmlformats.org/drawingml/2006/main" noGrp="1"/>
          </p:cNvSpPr>
          <p:nvPr/>
        </p:nvSpPr>
        <p:spPr>
          <a:xfrm xmlns:a="http://schemas.openxmlformats.org/drawingml/2006/main">
            <a:off x="5981700" y="3276600"/>
            <a:ext cx="445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208 JRC events remain exclusive under this window.</a:t>
            </a:r>
          </a:p>
        </p:txBody>
      </p:sp>
      <p:sp>
        <p:nvSpPr>
          <p:cNvPr id="28" name="SmallText">
            <a:extLst xmlns:a="http://schemas.openxmlformats.org/drawingml/2006/main">
              <a:ext uri="{FF2B5EF4-FFF2-40B4-BE49-F238E27FC236}">
                <a16:creationId xmlns:a16="http://schemas.microsoft.com/office/drawing/2014/main" id="{683EBC9E-282F-45A2-A9D1-07E41CFF53B7}"/>
              </a:ext>
            </a:extLst>
          </p:cNvPr>
          <p:cNvSpPr>
            <a:spLocks xmlns:a="http://schemas.openxmlformats.org/drawingml/2006/main" noGrp="1"/>
          </p:cNvSpPr>
          <p:nvPr/>
        </p:nvSpPr>
        <p:spPr>
          <a:xfrm xmlns:a="http://schemas.openxmlformats.org/drawingml/2006/main">
            <a:off x="5981700" y="37338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Gaspar matched (16.7%)</a:t>
            </a:r>
          </a:p>
        </p:txBody>
      </p:sp>
      <p:sp>
        <p:nvSpPr>
          <p:cNvPr id="29" name="SmallText">
            <a:extLst xmlns:a="http://schemas.openxmlformats.org/drawingml/2006/main">
              <a:ext uri="{FF2B5EF4-FFF2-40B4-BE49-F238E27FC236}">
                <a16:creationId xmlns:a16="http://schemas.microsoft.com/office/drawing/2014/main" id="{255E3609-E516-449A-8883-796898007628}"/>
              </a:ext>
            </a:extLst>
          </p:cNvPr>
          <p:cNvSpPr>
            <a:spLocks xmlns:a="http://schemas.openxmlformats.org/drawingml/2006/main" noGrp="1"/>
          </p:cNvSpPr>
          <p:nvPr/>
        </p:nvSpPr>
        <p:spPr>
          <a:xfrm xmlns:a="http://schemas.openxmlformats.org/drawingml/2006/main">
            <a:off x="9486900" y="37338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587/3505</a:t>
            </a:r>
          </a:p>
        </p:txBody>
      </p:sp>
      <p:sp>
        <p:nvSpPr>
          <p:cNvPr id="30" name="ProgressTrack">
            <a:extLst xmlns:a="http://schemas.openxmlformats.org/drawingml/2006/main">
              <a:ext uri="{FF2B5EF4-FFF2-40B4-BE49-F238E27FC236}">
                <a16:creationId xmlns:a16="http://schemas.microsoft.com/office/drawing/2014/main" id="{F94DA0BE-9258-4DFB-9C66-0DB6D82E82C1}"/>
              </a:ext>
            </a:extLst>
          </p:cNvPr>
          <p:cNvSpPr>
            <a:spLocks xmlns:a="http://schemas.openxmlformats.org/drawingml/2006/main" noGrp="1"/>
          </p:cNvSpPr>
          <p:nvPr/>
        </p:nvSpPr>
        <p:spPr>
          <a:xfrm xmlns:a="http://schemas.openxmlformats.org/drawingml/2006/main">
            <a:off x="5981700" y="400050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31" name="ProgressFill">
            <a:extLst xmlns:a="http://schemas.openxmlformats.org/drawingml/2006/main">
              <a:ext uri="{FF2B5EF4-FFF2-40B4-BE49-F238E27FC236}">
                <a16:creationId xmlns:a16="http://schemas.microsoft.com/office/drawing/2014/main" id="{108ED490-9BE3-4241-9ABD-4EF18624B62E}"/>
              </a:ext>
            </a:extLst>
          </p:cNvPr>
          <p:cNvSpPr>
            <a:spLocks xmlns:a="http://schemas.openxmlformats.org/drawingml/2006/main" noGrp="1"/>
          </p:cNvSpPr>
          <p:nvPr/>
        </p:nvSpPr>
        <p:spPr>
          <a:xfrm xmlns:a="http://schemas.openxmlformats.org/drawingml/2006/main">
            <a:off x="5981700" y="4000500"/>
            <a:ext cx="742950" cy="1333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32" name="SmallText">
            <a:extLst xmlns:a="http://schemas.openxmlformats.org/drawingml/2006/main">
              <a:ext uri="{FF2B5EF4-FFF2-40B4-BE49-F238E27FC236}">
                <a16:creationId xmlns:a16="http://schemas.microsoft.com/office/drawing/2014/main" id="{DC307EDB-4182-40F8-B098-EADE33D7C57E}"/>
              </a:ext>
            </a:extLst>
          </p:cNvPr>
          <p:cNvSpPr>
            <a:spLocks xmlns:a="http://schemas.openxmlformats.org/drawingml/2006/main" noGrp="1"/>
          </p:cNvSpPr>
          <p:nvPr/>
        </p:nvSpPr>
        <p:spPr>
          <a:xfrm xmlns:a="http://schemas.openxmlformats.org/drawingml/2006/main">
            <a:off x="5981700" y="4191000"/>
            <a:ext cx="445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2,918 Gaspar event groups remain exclusive under this window.</a:t>
            </a:r>
          </a:p>
        </p:txBody>
      </p:sp>
      <p:sp>
        <p:nvSpPr>
          <p:cNvPr id="33" name="BottomNote">
            <a:extLst xmlns:a="http://schemas.openxmlformats.org/drawingml/2006/main">
              <a:ext uri="{FF2B5EF4-FFF2-40B4-BE49-F238E27FC236}">
                <a16:creationId xmlns:a16="http://schemas.microsoft.com/office/drawing/2014/main" id="{54AA3642-A0B5-43AD-9528-0BBA9E6E8567}"/>
              </a:ext>
            </a:extLst>
          </p:cNvPr>
          <p:cNvSpPr>
            <a:spLocks xmlns:a="http://schemas.openxmlformats.org/drawingml/2006/main" noGrp="1"/>
          </p:cNvSpPr>
          <p:nvPr/>
        </p:nvSpPr>
        <p:spPr>
          <a:xfrm xmlns:a="http://schemas.openxmlformats.org/drawingml/2006/main">
            <a:off x="514350" y="5905500"/>
            <a:ext cx="10629900" cy="647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34" name="BodyText">
            <a:extLst xmlns:a="http://schemas.openxmlformats.org/drawingml/2006/main">
              <a:ext uri="{FF2B5EF4-FFF2-40B4-BE49-F238E27FC236}">
                <a16:creationId xmlns:a16="http://schemas.microsoft.com/office/drawing/2014/main" id="{7DA3DCE9-F31D-4201-96A3-D7B65A8C2289}"/>
              </a:ext>
            </a:extLst>
          </p:cNvPr>
          <p:cNvSpPr>
            <a:spLocks xmlns:a="http://schemas.openxmlformats.org/drawingml/2006/main" noGrp="1"/>
          </p:cNvSpPr>
          <p:nvPr/>
        </p:nvSpPr>
        <p:spPr>
          <a:xfrm xmlns:a="http://schemas.openxmlformats.org/drawingml/2006/main">
            <a:off x="742950" y="6038850"/>
            <a:ext cx="10172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0F172A"/>
                </a:solidFill>
                <a:latin typeface="Aptos"/>
                <a:ea typeface="Aptos"/>
                <a:cs typeface="Aptos"/>
              </a:defRPr>
            </a:pPr>
            <a:r>
              <a:rPr sz="1425" b="0">
                <a:solidFill>
                  <a:srgbClr val="0F172A"/>
                </a:solidFill>
                <a:latin typeface="Aptos"/>
                <a:ea typeface="Aptos"/>
                <a:cs typeface="Aptos"/>
              </a:rPr>
              <a:t>Department-level rates: 7-day JRC 43.4% / Gaspar 42.5%; 30-day JRC 59.4% / Gaspar 53.8%.</a:t>
            </a:r>
          </a:p>
        </p:txBody>
      </p:sp>
      <p:sp>
        <p:nvSpPr>
          <p:cNvPr id="35" name="SmallText">
            <a:extLst xmlns:a="http://schemas.openxmlformats.org/drawingml/2006/main">
              <a:ext uri="{FF2B5EF4-FFF2-40B4-BE49-F238E27FC236}">
                <a16:creationId xmlns:a16="http://schemas.microsoft.com/office/drawing/2014/main" id="{5CAC8F9F-8DB3-4C22-B380-351A93A25555}"/>
              </a:ext>
            </a:extLst>
          </p:cNvPr>
          <p:cNvSpPr>
            <a:spLocks xmlns:a="http://schemas.openxmlformats.org/drawingml/2006/main" noGrp="1"/>
          </p:cNvSpPr>
          <p:nvPr/>
        </p:nvSpPr>
        <p:spPr>
          <a:xfrm xmlns:a="http://schemas.openxmlformats.org/drawingml/2006/main">
            <a:off x="742950" y="6267450"/>
            <a:ext cx="10172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Row coverage: JRC 2,501 / 64,327 rows = 3.9% then 3,080 / 64,327 rows = 4.8%; Gaspar 1,983 / 19,217 rows = 10.3% then 2,204 / 19,217 rows = 11.5%.</a:t>
            </a:r>
          </a:p>
        </p:txBody>
      </p:sp>
      <p:sp>
        <p:nvSpPr>
          <p:cNvPr id="36" name="Rule">
            <a:extLst xmlns:a="http://schemas.openxmlformats.org/drawingml/2006/main">
              <a:ext uri="{FF2B5EF4-FFF2-40B4-BE49-F238E27FC236}">
                <a16:creationId xmlns:a16="http://schemas.microsoft.com/office/drawing/2014/main" id="{8B385E56-6FAC-47E2-A067-EF7FC67B3A34}"/>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D7CEC0"/>
          </a:solidFill>
          <a:ln xmlns:a="http://schemas.openxmlformats.org/drawingml/2006/main" w="0">
            <a:solidFill>
              <a:srgbClr val="000000">
                <a:alpha val="0"/>
              </a:srgbClr>
            </a:solidFill>
            <a:prstDash val="solid"/>
          </a:ln>
        </p:spPr>
      </p:sp>
      <p:sp>
        <p:nvSpPr>
          <p:cNvPr id="37" name="SmallText">
            <a:extLst xmlns:a="http://schemas.openxmlformats.org/drawingml/2006/main">
              <a:ext uri="{FF2B5EF4-FFF2-40B4-BE49-F238E27FC236}">
                <a16:creationId xmlns:a16="http://schemas.microsoft.com/office/drawing/2014/main" id="{3FFB2659-0F3A-4A9B-8FAA-84B838FF5E0E}"/>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Numbers pulled from data/processed/jrc_gaspar_comparison_flexible_7d and ..._30d using the existing France comparison logic.</a:t>
            </a:r>
          </a:p>
        </p:txBody>
      </p:sp>
    </p:spTree>
    <p:extLst>
      <p:ext uri="{BB962C8B-B14F-4D97-AF65-F5344CB8AC3E}">
        <p14:creationId xmlns:p14="http://schemas.microsoft.com/office/powerpoint/2010/main" val="12732372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3FDD8011-6022-46F5-B8D2-46B979FA7C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EEF3FB"/>
              </a:gs>
              <a:gs pos="100000">
                <a:srgbClr val="F5F1E8"/>
              </a:gs>
            </a:gsLst>
            <a:lin ang="10800000"/>
          </a:gradFill>
          <a:ln xmlns:a="http://schemas.openxmlformats.org/drawingml/2006/main" w="0">
            <a:solidFill>
              <a:srgbClr val="000000">
                <a:alpha val="0"/>
              </a:srgbClr>
            </a:solidFill>
            <a:prstDash val="solid"/>
          </a:ln>
        </p:spPr>
      </p:sp>
      <p:sp>
        <p:nvSpPr>
          <p:cNvPr id="2" name="Label">
            <a:extLst xmlns:a="http://schemas.openxmlformats.org/drawingml/2006/main">
              <a:ext uri="{FF2B5EF4-FFF2-40B4-BE49-F238E27FC236}">
                <a16:creationId xmlns:a16="http://schemas.microsoft.com/office/drawing/2014/main" id="{97300726-0041-4E99-B202-F6CC43E2025A}"/>
              </a:ext>
            </a:extLst>
          </p:cNvPr>
          <p:cNvSpPr>
            <a:spLocks xmlns:a="http://schemas.openxmlformats.org/drawingml/2006/main" noGrp="1"/>
          </p:cNvSpPr>
          <p:nvPr/>
        </p:nvSpPr>
        <p:spPr>
          <a:xfrm xmlns:a="http://schemas.openxmlformats.org/drawingml/2006/main">
            <a:off x="514350" y="4000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45A3C"/>
                </a:solidFill>
                <a:latin typeface="Aptos"/>
                <a:ea typeface="Aptos"/>
                <a:cs typeface="Aptos"/>
              </a:defRPr>
            </a:pPr>
            <a:r>
              <a:rPr sz="1350" b="1">
                <a:solidFill>
                  <a:srgbClr val="E45A3C"/>
                </a:solidFill>
                <a:latin typeface="Aptos"/>
                <a:ea typeface="Aptos"/>
                <a:cs typeface="Aptos"/>
              </a:rPr>
              <a:t>DEPARTMENT VIEW</a:t>
            </a:r>
          </a:p>
        </p:txBody>
      </p:sp>
      <p:sp>
        <p:nvSpPr>
          <p:cNvPr id="3" name="Title">
            <a:extLst xmlns:a="http://schemas.openxmlformats.org/drawingml/2006/main">
              <a:ext uri="{FF2B5EF4-FFF2-40B4-BE49-F238E27FC236}">
                <a16:creationId xmlns:a16="http://schemas.microsoft.com/office/drawing/2014/main" id="{063EA69D-3575-48BA-93A3-B717FB00EE9B}"/>
              </a:ext>
            </a:extLst>
          </p:cNvPr>
          <p:cNvSpPr>
            <a:spLocks xmlns:a="http://schemas.openxmlformats.org/drawingml/2006/main" noGrp="1"/>
          </p:cNvSpPr>
          <p:nvPr/>
        </p:nvSpPr>
        <p:spPr>
          <a:xfrm xmlns:a="http://schemas.openxmlformats.org/drawingml/2006/main">
            <a:off x="514350" y="742950"/>
            <a:ext cx="10668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At department level, Gaspar and JRC align much more often than they do by commune</a:t>
            </a:r>
          </a:p>
        </p:txBody>
      </p:sp>
      <p:sp>
        <p:nvSpPr>
          <p:cNvPr id="4" name="SmallText">
            <a:extLst xmlns:a="http://schemas.openxmlformats.org/drawingml/2006/main">
              <a:ext uri="{FF2B5EF4-FFF2-40B4-BE49-F238E27FC236}">
                <a16:creationId xmlns:a16="http://schemas.microsoft.com/office/drawing/2014/main" id="{8976E306-611D-4A5D-B04A-2DC9087F08E0}"/>
              </a:ext>
            </a:extLst>
          </p:cNvPr>
          <p:cNvSpPr>
            <a:spLocks xmlns:a="http://schemas.openxmlformats.org/drawingml/2006/main" noGrp="1"/>
          </p:cNvSpPr>
          <p:nvPr/>
        </p:nvSpPr>
        <p:spPr>
          <a:xfrm xmlns:a="http://schemas.openxmlformats.org/drawingml/2006/main">
            <a:off x="514350" y="1390650"/>
            <a:ext cx="1019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The gap between commune-level and department-level matching is large in both windows, which suggests that much of the disagreement comes from fine-grained commune allocation and event timing segmentation.</a:t>
            </a:r>
          </a:p>
        </p:txBody>
      </p:sp>
      <p:sp>
        <p:nvSpPr>
          <p:cNvPr id="5" name="SmallText">
            <a:extLst xmlns:a="http://schemas.openxmlformats.org/drawingml/2006/main">
              <a:ext uri="{FF2B5EF4-FFF2-40B4-BE49-F238E27FC236}">
                <a16:creationId xmlns:a16="http://schemas.microsoft.com/office/drawing/2014/main" id="{977FC8DF-2A12-49B2-A07A-FAD69C1B1133}"/>
              </a:ext>
            </a:extLst>
          </p:cNvPr>
          <p:cNvSpPr>
            <a:spLocks xmlns:a="http://schemas.openxmlformats.org/drawingml/2006/main" noGrp="1"/>
          </p:cNvSpPr>
          <p:nvPr/>
        </p:nvSpPr>
        <p:spPr>
          <a:xfrm xmlns:a="http://schemas.openxmlformats.org/drawingml/2006/main">
            <a:off x="514350" y="1733550"/>
            <a:ext cx="10629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Uplift versus commune level: 7-day JRC +20.5 pp, Gaspar +28.3 pp | 30-day JRC +31.6 pp, Gaspar +37.1 pp.</a:t>
            </a:r>
          </a:p>
        </p:txBody>
      </p:sp>
      <p:sp>
        <p:nvSpPr>
          <p:cNvPr id="6" name="7-day window">
            <a:extLst xmlns:a="http://schemas.openxmlformats.org/drawingml/2006/main">
              <a:ext uri="{FF2B5EF4-FFF2-40B4-BE49-F238E27FC236}">
                <a16:creationId xmlns:a16="http://schemas.microsoft.com/office/drawing/2014/main" id="{C3E577E8-BAF0-41A9-BAC4-8A32105FAD74}"/>
              </a:ext>
            </a:extLst>
          </p:cNvPr>
          <p:cNvSpPr>
            <a:spLocks xmlns:a="http://schemas.openxmlformats.org/drawingml/2006/main" noGrp="1"/>
          </p:cNvSpPr>
          <p:nvPr/>
        </p:nvSpPr>
        <p:spPr>
          <a:xfrm xmlns:a="http://schemas.openxmlformats.org/drawingml/2006/main">
            <a:off x="514350" y="2152650"/>
            <a:ext cx="4876800" cy="32766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7" name="7-day windowAccent">
            <a:extLst xmlns:a="http://schemas.openxmlformats.org/drawingml/2006/main">
              <a:ext uri="{FF2B5EF4-FFF2-40B4-BE49-F238E27FC236}">
                <a16:creationId xmlns:a16="http://schemas.microsoft.com/office/drawing/2014/main" id="{3E5C33A4-720F-4546-8AEA-F99C59167271}"/>
              </a:ext>
            </a:extLst>
          </p:cNvPr>
          <p:cNvSpPr>
            <a:spLocks xmlns:a="http://schemas.openxmlformats.org/drawingml/2006/main" noGrp="1"/>
          </p:cNvSpPr>
          <p:nvPr/>
        </p:nvSpPr>
        <p:spPr>
          <a:xfrm xmlns:a="http://schemas.openxmlformats.org/drawingml/2006/main">
            <a:off x="514350" y="2152650"/>
            <a:ext cx="4876800" cy="7620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8" name="BodyText">
            <a:extLst xmlns:a="http://schemas.openxmlformats.org/drawingml/2006/main">
              <a:ext uri="{FF2B5EF4-FFF2-40B4-BE49-F238E27FC236}">
                <a16:creationId xmlns:a16="http://schemas.microsoft.com/office/drawing/2014/main" id="{1445184A-1B8B-45AD-9E88-8629D1FAC04F}"/>
              </a:ext>
            </a:extLst>
          </p:cNvPr>
          <p:cNvSpPr>
            <a:spLocks xmlns:a="http://schemas.openxmlformats.org/drawingml/2006/main" noGrp="1"/>
          </p:cNvSpPr>
          <p:nvPr/>
        </p:nvSpPr>
        <p:spPr>
          <a:xfrm xmlns:a="http://schemas.openxmlformats.org/drawingml/2006/main">
            <a:off x="723900" y="23431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latin typeface="Aptos Display"/>
                <a:ea typeface="Aptos Display"/>
                <a:cs typeface="Aptos Display"/>
              </a:defRPr>
            </a:pPr>
            <a:r>
              <a:rPr sz="1800" b="1">
                <a:solidFill>
                  <a:srgbClr val="0F172A"/>
                </a:solidFill>
                <a:latin typeface="Aptos Display"/>
                <a:ea typeface="Aptos Display"/>
                <a:cs typeface="Aptos Display"/>
              </a:rPr>
              <a:t>7-day window</a:t>
            </a:r>
          </a:p>
        </p:txBody>
      </p:sp>
      <p:sp>
        <p:nvSpPr>
          <p:cNvPr id="9" name="SmallText">
            <a:extLst xmlns:a="http://schemas.openxmlformats.org/drawingml/2006/main">
              <a:ext uri="{FF2B5EF4-FFF2-40B4-BE49-F238E27FC236}">
                <a16:creationId xmlns:a16="http://schemas.microsoft.com/office/drawing/2014/main" id="{13283D36-D096-4B88-8BBA-50AB15A1F74C}"/>
              </a:ext>
            </a:extLst>
          </p:cNvPr>
          <p:cNvSpPr>
            <a:spLocks xmlns:a="http://schemas.openxmlformats.org/drawingml/2006/main" noGrp="1"/>
          </p:cNvSpPr>
          <p:nvPr/>
        </p:nvSpPr>
        <p:spPr>
          <a:xfrm xmlns:a="http://schemas.openxmlformats.org/drawingml/2006/main">
            <a:off x="723900" y="2686050"/>
            <a:ext cx="419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Same event tables, but matched at department level instead of commune level.</a:t>
            </a:r>
          </a:p>
        </p:txBody>
      </p:sp>
      <p:sp>
        <p:nvSpPr>
          <p:cNvPr id="10" name="SmallText">
            <a:extLst xmlns:a="http://schemas.openxmlformats.org/drawingml/2006/main">
              <a:ext uri="{FF2B5EF4-FFF2-40B4-BE49-F238E27FC236}">
                <a16:creationId xmlns:a16="http://schemas.microsoft.com/office/drawing/2014/main" id="{F1E61969-3768-4325-ABA2-20A17746A99C}"/>
              </a:ext>
            </a:extLst>
          </p:cNvPr>
          <p:cNvSpPr>
            <a:spLocks xmlns:a="http://schemas.openxmlformats.org/drawingml/2006/main" noGrp="1"/>
          </p:cNvSpPr>
          <p:nvPr/>
        </p:nvSpPr>
        <p:spPr>
          <a:xfrm xmlns:a="http://schemas.openxmlformats.org/drawingml/2006/main">
            <a:off x="723900" y="30480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JRC commune (22.9%)</a:t>
            </a:r>
          </a:p>
        </p:txBody>
      </p:sp>
      <p:sp>
        <p:nvSpPr>
          <p:cNvPr id="11" name="SmallText">
            <a:extLst xmlns:a="http://schemas.openxmlformats.org/drawingml/2006/main">
              <a:ext uri="{FF2B5EF4-FFF2-40B4-BE49-F238E27FC236}">
                <a16:creationId xmlns:a16="http://schemas.microsoft.com/office/drawing/2014/main" id="{049E4961-F5BE-4B10-BAEB-A81853D17255}"/>
              </a:ext>
            </a:extLst>
          </p:cNvPr>
          <p:cNvSpPr>
            <a:spLocks xmlns:a="http://schemas.openxmlformats.org/drawingml/2006/main" noGrp="1"/>
          </p:cNvSpPr>
          <p:nvPr/>
        </p:nvSpPr>
        <p:spPr>
          <a:xfrm xmlns:a="http://schemas.openxmlformats.org/drawingml/2006/main">
            <a:off x="4229100" y="30480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66/288</a:t>
            </a:r>
          </a:p>
        </p:txBody>
      </p:sp>
      <p:sp>
        <p:nvSpPr>
          <p:cNvPr id="12" name="ProgressTrack">
            <a:extLst xmlns:a="http://schemas.openxmlformats.org/drawingml/2006/main">
              <a:ext uri="{FF2B5EF4-FFF2-40B4-BE49-F238E27FC236}">
                <a16:creationId xmlns:a16="http://schemas.microsoft.com/office/drawing/2014/main" id="{E4196801-E812-4C4B-99C7-58C6C624B16A}"/>
              </a:ext>
            </a:extLst>
          </p:cNvPr>
          <p:cNvSpPr>
            <a:spLocks xmlns:a="http://schemas.openxmlformats.org/drawingml/2006/main" noGrp="1"/>
          </p:cNvSpPr>
          <p:nvPr/>
        </p:nvSpPr>
        <p:spPr>
          <a:xfrm xmlns:a="http://schemas.openxmlformats.org/drawingml/2006/main">
            <a:off x="723900" y="331470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13" name="ProgressFill">
            <a:extLst xmlns:a="http://schemas.openxmlformats.org/drawingml/2006/main">
              <a:ext uri="{FF2B5EF4-FFF2-40B4-BE49-F238E27FC236}">
                <a16:creationId xmlns:a16="http://schemas.microsoft.com/office/drawing/2014/main" id="{DE8823DA-221B-4E49-AA2B-89B89BFFE4D1}"/>
              </a:ext>
            </a:extLst>
          </p:cNvPr>
          <p:cNvSpPr>
            <a:spLocks xmlns:a="http://schemas.openxmlformats.org/drawingml/2006/main" noGrp="1"/>
          </p:cNvSpPr>
          <p:nvPr/>
        </p:nvSpPr>
        <p:spPr>
          <a:xfrm xmlns:a="http://schemas.openxmlformats.org/drawingml/2006/main">
            <a:off x="723900" y="3314700"/>
            <a:ext cx="1019175" cy="1333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14" name="SmallText">
            <a:extLst xmlns:a="http://schemas.openxmlformats.org/drawingml/2006/main">
              <a:ext uri="{FF2B5EF4-FFF2-40B4-BE49-F238E27FC236}">
                <a16:creationId xmlns:a16="http://schemas.microsoft.com/office/drawing/2014/main" id="{F4941864-F0BA-458F-86B6-EC26954BD208}"/>
              </a:ext>
            </a:extLst>
          </p:cNvPr>
          <p:cNvSpPr>
            <a:spLocks xmlns:a="http://schemas.openxmlformats.org/drawingml/2006/main" noGrp="1"/>
          </p:cNvSpPr>
          <p:nvPr/>
        </p:nvSpPr>
        <p:spPr>
          <a:xfrm xmlns:a="http://schemas.openxmlformats.org/drawingml/2006/main">
            <a:off x="723900" y="35433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JRC department (43.4%)</a:t>
            </a:r>
          </a:p>
        </p:txBody>
      </p:sp>
      <p:sp>
        <p:nvSpPr>
          <p:cNvPr id="15" name="SmallText">
            <a:extLst xmlns:a="http://schemas.openxmlformats.org/drawingml/2006/main">
              <a:ext uri="{FF2B5EF4-FFF2-40B4-BE49-F238E27FC236}">
                <a16:creationId xmlns:a16="http://schemas.microsoft.com/office/drawing/2014/main" id="{778C74A4-BEB3-47C1-BFEA-7869E29E02FB}"/>
              </a:ext>
            </a:extLst>
          </p:cNvPr>
          <p:cNvSpPr>
            <a:spLocks xmlns:a="http://schemas.openxmlformats.org/drawingml/2006/main" noGrp="1"/>
          </p:cNvSpPr>
          <p:nvPr/>
        </p:nvSpPr>
        <p:spPr>
          <a:xfrm xmlns:a="http://schemas.openxmlformats.org/drawingml/2006/main">
            <a:off x="4229100" y="35433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125/288</a:t>
            </a:r>
          </a:p>
        </p:txBody>
      </p:sp>
      <p:sp>
        <p:nvSpPr>
          <p:cNvPr id="16" name="ProgressTrack">
            <a:extLst xmlns:a="http://schemas.openxmlformats.org/drawingml/2006/main">
              <a:ext uri="{FF2B5EF4-FFF2-40B4-BE49-F238E27FC236}">
                <a16:creationId xmlns:a16="http://schemas.microsoft.com/office/drawing/2014/main" id="{E502EA3E-EEA6-44F2-81D8-3BCCCC873696}"/>
              </a:ext>
            </a:extLst>
          </p:cNvPr>
          <p:cNvSpPr>
            <a:spLocks xmlns:a="http://schemas.openxmlformats.org/drawingml/2006/main" noGrp="1"/>
          </p:cNvSpPr>
          <p:nvPr/>
        </p:nvSpPr>
        <p:spPr>
          <a:xfrm xmlns:a="http://schemas.openxmlformats.org/drawingml/2006/main">
            <a:off x="723900" y="381000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17" name="ProgressFill">
            <a:extLst xmlns:a="http://schemas.openxmlformats.org/drawingml/2006/main">
              <a:ext uri="{FF2B5EF4-FFF2-40B4-BE49-F238E27FC236}">
                <a16:creationId xmlns:a16="http://schemas.microsoft.com/office/drawing/2014/main" id="{7B49A0A8-DBFE-42A6-9D60-F88EBEF18ED6}"/>
              </a:ext>
            </a:extLst>
          </p:cNvPr>
          <p:cNvSpPr>
            <a:spLocks xmlns:a="http://schemas.openxmlformats.org/drawingml/2006/main" noGrp="1"/>
          </p:cNvSpPr>
          <p:nvPr/>
        </p:nvSpPr>
        <p:spPr>
          <a:xfrm xmlns:a="http://schemas.openxmlformats.org/drawingml/2006/main">
            <a:off x="723900" y="3810000"/>
            <a:ext cx="1933575"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18" name="SmallText">
            <a:extLst xmlns:a="http://schemas.openxmlformats.org/drawingml/2006/main">
              <a:ext uri="{FF2B5EF4-FFF2-40B4-BE49-F238E27FC236}">
                <a16:creationId xmlns:a16="http://schemas.microsoft.com/office/drawing/2014/main" id="{262F5819-E111-4759-8297-4AC2904002EF}"/>
              </a:ext>
            </a:extLst>
          </p:cNvPr>
          <p:cNvSpPr>
            <a:spLocks xmlns:a="http://schemas.openxmlformats.org/drawingml/2006/main" noGrp="1"/>
          </p:cNvSpPr>
          <p:nvPr/>
        </p:nvSpPr>
        <p:spPr>
          <a:xfrm xmlns:a="http://schemas.openxmlformats.org/drawingml/2006/main">
            <a:off x="723900" y="4000500"/>
            <a:ext cx="445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Department view adds 20.5 percentage points for JRC.</a:t>
            </a:r>
          </a:p>
        </p:txBody>
      </p:sp>
      <p:sp>
        <p:nvSpPr>
          <p:cNvPr id="19" name="SmallText">
            <a:extLst xmlns:a="http://schemas.openxmlformats.org/drawingml/2006/main">
              <a:ext uri="{FF2B5EF4-FFF2-40B4-BE49-F238E27FC236}">
                <a16:creationId xmlns:a16="http://schemas.microsoft.com/office/drawing/2014/main" id="{CBC5BC8B-9A55-4FD0-83C7-E365224D78B6}"/>
              </a:ext>
            </a:extLst>
          </p:cNvPr>
          <p:cNvSpPr>
            <a:spLocks xmlns:a="http://schemas.openxmlformats.org/drawingml/2006/main" noGrp="1"/>
          </p:cNvSpPr>
          <p:nvPr/>
        </p:nvSpPr>
        <p:spPr>
          <a:xfrm xmlns:a="http://schemas.openxmlformats.org/drawingml/2006/main">
            <a:off x="723900" y="42481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Gaspar commune (14.2%)</a:t>
            </a:r>
          </a:p>
        </p:txBody>
      </p:sp>
      <p:sp>
        <p:nvSpPr>
          <p:cNvPr id="20" name="SmallText">
            <a:extLst xmlns:a="http://schemas.openxmlformats.org/drawingml/2006/main">
              <a:ext uri="{FF2B5EF4-FFF2-40B4-BE49-F238E27FC236}">
                <a16:creationId xmlns:a16="http://schemas.microsoft.com/office/drawing/2014/main" id="{817C2491-35F6-4CEB-A43F-D18BDDD1A7FA}"/>
              </a:ext>
            </a:extLst>
          </p:cNvPr>
          <p:cNvSpPr>
            <a:spLocks xmlns:a="http://schemas.openxmlformats.org/drawingml/2006/main" noGrp="1"/>
          </p:cNvSpPr>
          <p:nvPr/>
        </p:nvSpPr>
        <p:spPr>
          <a:xfrm xmlns:a="http://schemas.openxmlformats.org/drawingml/2006/main">
            <a:off x="4229100" y="42481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499/3505</a:t>
            </a:r>
          </a:p>
        </p:txBody>
      </p:sp>
      <p:sp>
        <p:nvSpPr>
          <p:cNvPr id="21" name="ProgressTrack">
            <a:extLst xmlns:a="http://schemas.openxmlformats.org/drawingml/2006/main">
              <a:ext uri="{FF2B5EF4-FFF2-40B4-BE49-F238E27FC236}">
                <a16:creationId xmlns:a16="http://schemas.microsoft.com/office/drawing/2014/main" id="{D519B4F8-C1CB-4E0C-B4F6-8FDA8D3070CC}"/>
              </a:ext>
            </a:extLst>
          </p:cNvPr>
          <p:cNvSpPr>
            <a:spLocks xmlns:a="http://schemas.openxmlformats.org/drawingml/2006/main" noGrp="1"/>
          </p:cNvSpPr>
          <p:nvPr/>
        </p:nvSpPr>
        <p:spPr>
          <a:xfrm xmlns:a="http://schemas.openxmlformats.org/drawingml/2006/main">
            <a:off x="723900" y="451485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22" name="ProgressFill">
            <a:extLst xmlns:a="http://schemas.openxmlformats.org/drawingml/2006/main">
              <a:ext uri="{FF2B5EF4-FFF2-40B4-BE49-F238E27FC236}">
                <a16:creationId xmlns:a16="http://schemas.microsoft.com/office/drawing/2014/main" id="{BD56AACA-6EFF-4242-973F-B06CF6186644}"/>
              </a:ext>
            </a:extLst>
          </p:cNvPr>
          <p:cNvSpPr>
            <a:spLocks xmlns:a="http://schemas.openxmlformats.org/drawingml/2006/main" noGrp="1"/>
          </p:cNvSpPr>
          <p:nvPr/>
        </p:nvSpPr>
        <p:spPr>
          <a:xfrm xmlns:a="http://schemas.openxmlformats.org/drawingml/2006/main">
            <a:off x="723900" y="4514850"/>
            <a:ext cx="638175" cy="133350"/>
          </a:xfrm>
          <a:prstGeom xmlns:a="http://schemas.openxmlformats.org/drawingml/2006/main" prst="rect">
            <a:avLst/>
          </a:prstGeom>
          <a:solidFill xmlns:a="http://schemas.openxmlformats.org/drawingml/2006/main">
            <a:srgbClr val="C76A53"/>
          </a:solidFill>
          <a:ln xmlns:a="http://schemas.openxmlformats.org/drawingml/2006/main" w="0">
            <a:solidFill>
              <a:srgbClr val="000000">
                <a:alpha val="0"/>
              </a:srgbClr>
            </a:solidFill>
            <a:prstDash val="solid"/>
          </a:ln>
        </p:spPr>
      </p:sp>
      <p:sp>
        <p:nvSpPr>
          <p:cNvPr id="23" name="SmallText">
            <a:extLst xmlns:a="http://schemas.openxmlformats.org/drawingml/2006/main">
              <a:ext uri="{FF2B5EF4-FFF2-40B4-BE49-F238E27FC236}">
                <a16:creationId xmlns:a16="http://schemas.microsoft.com/office/drawing/2014/main" id="{1CF5A31B-13DB-4BEE-BF19-E6E61AF64BBF}"/>
              </a:ext>
            </a:extLst>
          </p:cNvPr>
          <p:cNvSpPr>
            <a:spLocks xmlns:a="http://schemas.openxmlformats.org/drawingml/2006/main" noGrp="1"/>
          </p:cNvSpPr>
          <p:nvPr/>
        </p:nvSpPr>
        <p:spPr>
          <a:xfrm xmlns:a="http://schemas.openxmlformats.org/drawingml/2006/main">
            <a:off x="723900" y="47434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Gaspar department (42.5%)</a:t>
            </a:r>
          </a:p>
        </p:txBody>
      </p:sp>
      <p:sp>
        <p:nvSpPr>
          <p:cNvPr id="24" name="SmallText">
            <a:extLst xmlns:a="http://schemas.openxmlformats.org/drawingml/2006/main">
              <a:ext uri="{FF2B5EF4-FFF2-40B4-BE49-F238E27FC236}">
                <a16:creationId xmlns:a16="http://schemas.microsoft.com/office/drawing/2014/main" id="{F371A510-B066-494B-BA4E-426EFCE533EB}"/>
              </a:ext>
            </a:extLst>
          </p:cNvPr>
          <p:cNvSpPr>
            <a:spLocks xmlns:a="http://schemas.openxmlformats.org/drawingml/2006/main" noGrp="1"/>
          </p:cNvSpPr>
          <p:nvPr/>
        </p:nvSpPr>
        <p:spPr>
          <a:xfrm xmlns:a="http://schemas.openxmlformats.org/drawingml/2006/main">
            <a:off x="4229100" y="47434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1488/3505</a:t>
            </a:r>
          </a:p>
        </p:txBody>
      </p:sp>
      <p:sp>
        <p:nvSpPr>
          <p:cNvPr id="25" name="ProgressTrack">
            <a:extLst xmlns:a="http://schemas.openxmlformats.org/drawingml/2006/main">
              <a:ext uri="{FF2B5EF4-FFF2-40B4-BE49-F238E27FC236}">
                <a16:creationId xmlns:a16="http://schemas.microsoft.com/office/drawing/2014/main" id="{9F4D8DA8-6CDE-4FBF-A1F1-66BDA970326F}"/>
              </a:ext>
            </a:extLst>
          </p:cNvPr>
          <p:cNvSpPr>
            <a:spLocks xmlns:a="http://schemas.openxmlformats.org/drawingml/2006/main" noGrp="1"/>
          </p:cNvSpPr>
          <p:nvPr/>
        </p:nvSpPr>
        <p:spPr>
          <a:xfrm xmlns:a="http://schemas.openxmlformats.org/drawingml/2006/main">
            <a:off x="723900" y="501015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26" name="ProgressFill">
            <a:extLst xmlns:a="http://schemas.openxmlformats.org/drawingml/2006/main">
              <a:ext uri="{FF2B5EF4-FFF2-40B4-BE49-F238E27FC236}">
                <a16:creationId xmlns:a16="http://schemas.microsoft.com/office/drawing/2014/main" id="{82ABBBC5-6E25-47E9-B649-81237328820F}"/>
              </a:ext>
            </a:extLst>
          </p:cNvPr>
          <p:cNvSpPr>
            <a:spLocks xmlns:a="http://schemas.openxmlformats.org/drawingml/2006/main" noGrp="1"/>
          </p:cNvSpPr>
          <p:nvPr/>
        </p:nvSpPr>
        <p:spPr>
          <a:xfrm xmlns:a="http://schemas.openxmlformats.org/drawingml/2006/main">
            <a:off x="723900" y="5010150"/>
            <a:ext cx="1895475" cy="1333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27" name="SmallText">
            <a:extLst xmlns:a="http://schemas.openxmlformats.org/drawingml/2006/main">
              <a:ext uri="{FF2B5EF4-FFF2-40B4-BE49-F238E27FC236}">
                <a16:creationId xmlns:a16="http://schemas.microsoft.com/office/drawing/2014/main" id="{10E762AB-894F-4384-A9AD-ADC05A45BBD0}"/>
              </a:ext>
            </a:extLst>
          </p:cNvPr>
          <p:cNvSpPr>
            <a:spLocks xmlns:a="http://schemas.openxmlformats.org/drawingml/2006/main" noGrp="1"/>
          </p:cNvSpPr>
          <p:nvPr/>
        </p:nvSpPr>
        <p:spPr>
          <a:xfrm xmlns:a="http://schemas.openxmlformats.org/drawingml/2006/main">
            <a:off x="723900" y="5200650"/>
            <a:ext cx="445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Department view adds 28.3 percentage points for Gaspar.</a:t>
            </a:r>
          </a:p>
        </p:txBody>
      </p:sp>
      <p:sp>
        <p:nvSpPr>
          <p:cNvPr id="28" name="30-day window">
            <a:extLst xmlns:a="http://schemas.openxmlformats.org/drawingml/2006/main">
              <a:ext uri="{FF2B5EF4-FFF2-40B4-BE49-F238E27FC236}">
                <a16:creationId xmlns:a16="http://schemas.microsoft.com/office/drawing/2014/main" id="{40184CA5-EE59-44A1-8C84-E38CDFE62006}"/>
              </a:ext>
            </a:extLst>
          </p:cNvPr>
          <p:cNvSpPr>
            <a:spLocks xmlns:a="http://schemas.openxmlformats.org/drawingml/2006/main" noGrp="1"/>
          </p:cNvSpPr>
          <p:nvPr/>
        </p:nvSpPr>
        <p:spPr>
          <a:xfrm xmlns:a="http://schemas.openxmlformats.org/drawingml/2006/main">
            <a:off x="5772150" y="2152650"/>
            <a:ext cx="4876800" cy="3276600"/>
          </a:xfrm>
          <a:prstGeom xmlns:a="http://schemas.openxmlformats.org/drawingml/2006/main" prst="rect">
            <a:avLst/>
          </a:prstGeom>
          <a:solidFill xmlns:a="http://schemas.openxmlformats.org/drawingml/2006/main">
            <a:srgbClr val="F8FBFF"/>
          </a:solidFill>
          <a:ln xmlns:a="http://schemas.openxmlformats.org/drawingml/2006/main" w="9525">
            <a:solidFill>
              <a:srgbClr val="D7CEC0"/>
            </a:solidFill>
            <a:prstDash val="solid"/>
          </a:ln>
        </p:spPr>
      </p:sp>
      <p:sp>
        <p:nvSpPr>
          <p:cNvPr id="29" name="30-day windowAccent">
            <a:extLst xmlns:a="http://schemas.openxmlformats.org/drawingml/2006/main">
              <a:ext uri="{FF2B5EF4-FFF2-40B4-BE49-F238E27FC236}">
                <a16:creationId xmlns:a16="http://schemas.microsoft.com/office/drawing/2014/main" id="{ABA19C4A-C072-40B8-933A-805654099E09}"/>
              </a:ext>
            </a:extLst>
          </p:cNvPr>
          <p:cNvSpPr>
            <a:spLocks xmlns:a="http://schemas.openxmlformats.org/drawingml/2006/main" noGrp="1"/>
          </p:cNvSpPr>
          <p:nvPr/>
        </p:nvSpPr>
        <p:spPr>
          <a:xfrm xmlns:a="http://schemas.openxmlformats.org/drawingml/2006/main">
            <a:off x="5772150" y="2152650"/>
            <a:ext cx="4876800" cy="7620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30" name="BodyText">
            <a:extLst xmlns:a="http://schemas.openxmlformats.org/drawingml/2006/main">
              <a:ext uri="{FF2B5EF4-FFF2-40B4-BE49-F238E27FC236}">
                <a16:creationId xmlns:a16="http://schemas.microsoft.com/office/drawing/2014/main" id="{8A915E6C-875C-4CF5-BD57-EA82F3FAA02D}"/>
              </a:ext>
            </a:extLst>
          </p:cNvPr>
          <p:cNvSpPr>
            <a:spLocks xmlns:a="http://schemas.openxmlformats.org/drawingml/2006/main" noGrp="1"/>
          </p:cNvSpPr>
          <p:nvPr/>
        </p:nvSpPr>
        <p:spPr>
          <a:xfrm xmlns:a="http://schemas.openxmlformats.org/drawingml/2006/main">
            <a:off x="5981700" y="23431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latin typeface="Aptos Display"/>
                <a:ea typeface="Aptos Display"/>
                <a:cs typeface="Aptos Display"/>
              </a:defRPr>
            </a:pPr>
            <a:r>
              <a:rPr sz="1800" b="1">
                <a:solidFill>
                  <a:srgbClr val="0F172A"/>
                </a:solidFill>
                <a:latin typeface="Aptos Display"/>
                <a:ea typeface="Aptos Display"/>
                <a:cs typeface="Aptos Display"/>
              </a:rPr>
              <a:t>30-day window</a:t>
            </a:r>
          </a:p>
        </p:txBody>
      </p:sp>
      <p:sp>
        <p:nvSpPr>
          <p:cNvPr id="31" name="SmallText">
            <a:extLst xmlns:a="http://schemas.openxmlformats.org/drawingml/2006/main">
              <a:ext uri="{FF2B5EF4-FFF2-40B4-BE49-F238E27FC236}">
                <a16:creationId xmlns:a16="http://schemas.microsoft.com/office/drawing/2014/main" id="{78A709ED-E50A-4A73-936C-58A7D83A8E7C}"/>
              </a:ext>
            </a:extLst>
          </p:cNvPr>
          <p:cNvSpPr>
            <a:spLocks xmlns:a="http://schemas.openxmlformats.org/drawingml/2006/main" noGrp="1"/>
          </p:cNvSpPr>
          <p:nvPr/>
        </p:nvSpPr>
        <p:spPr>
          <a:xfrm xmlns:a="http://schemas.openxmlformats.org/drawingml/2006/main">
            <a:off x="5981700" y="2686050"/>
            <a:ext cx="419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Same event tables, but matched at department level instead of commune level.</a:t>
            </a:r>
          </a:p>
        </p:txBody>
      </p:sp>
      <p:sp>
        <p:nvSpPr>
          <p:cNvPr id="32" name="SmallText">
            <a:extLst xmlns:a="http://schemas.openxmlformats.org/drawingml/2006/main">
              <a:ext uri="{FF2B5EF4-FFF2-40B4-BE49-F238E27FC236}">
                <a16:creationId xmlns:a16="http://schemas.microsoft.com/office/drawing/2014/main" id="{575430F1-216F-401B-94EF-BAC7D2F90DDF}"/>
              </a:ext>
            </a:extLst>
          </p:cNvPr>
          <p:cNvSpPr>
            <a:spLocks xmlns:a="http://schemas.openxmlformats.org/drawingml/2006/main" noGrp="1"/>
          </p:cNvSpPr>
          <p:nvPr/>
        </p:nvSpPr>
        <p:spPr>
          <a:xfrm xmlns:a="http://schemas.openxmlformats.org/drawingml/2006/main">
            <a:off x="5981700" y="30480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JRC commune (27.8%)</a:t>
            </a:r>
          </a:p>
        </p:txBody>
      </p:sp>
      <p:sp>
        <p:nvSpPr>
          <p:cNvPr id="33" name="SmallText">
            <a:extLst xmlns:a="http://schemas.openxmlformats.org/drawingml/2006/main">
              <a:ext uri="{FF2B5EF4-FFF2-40B4-BE49-F238E27FC236}">
                <a16:creationId xmlns:a16="http://schemas.microsoft.com/office/drawing/2014/main" id="{89ACC72F-0635-49A1-936D-4E4A629917FE}"/>
              </a:ext>
            </a:extLst>
          </p:cNvPr>
          <p:cNvSpPr>
            <a:spLocks xmlns:a="http://schemas.openxmlformats.org/drawingml/2006/main" noGrp="1"/>
          </p:cNvSpPr>
          <p:nvPr/>
        </p:nvSpPr>
        <p:spPr>
          <a:xfrm xmlns:a="http://schemas.openxmlformats.org/drawingml/2006/main">
            <a:off x="9486900" y="30480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80/288</a:t>
            </a:r>
          </a:p>
        </p:txBody>
      </p:sp>
      <p:sp>
        <p:nvSpPr>
          <p:cNvPr id="34" name="ProgressTrack">
            <a:extLst xmlns:a="http://schemas.openxmlformats.org/drawingml/2006/main">
              <a:ext uri="{FF2B5EF4-FFF2-40B4-BE49-F238E27FC236}">
                <a16:creationId xmlns:a16="http://schemas.microsoft.com/office/drawing/2014/main" id="{7E631085-7970-4E09-9899-B54E2DD6903E}"/>
              </a:ext>
            </a:extLst>
          </p:cNvPr>
          <p:cNvSpPr>
            <a:spLocks xmlns:a="http://schemas.openxmlformats.org/drawingml/2006/main" noGrp="1"/>
          </p:cNvSpPr>
          <p:nvPr/>
        </p:nvSpPr>
        <p:spPr>
          <a:xfrm xmlns:a="http://schemas.openxmlformats.org/drawingml/2006/main">
            <a:off x="5981700" y="331470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35" name="ProgressFill">
            <a:extLst xmlns:a="http://schemas.openxmlformats.org/drawingml/2006/main">
              <a:ext uri="{FF2B5EF4-FFF2-40B4-BE49-F238E27FC236}">
                <a16:creationId xmlns:a16="http://schemas.microsoft.com/office/drawing/2014/main" id="{D269C20F-7F2B-410B-BCE4-A41FE5A2568B}"/>
              </a:ext>
            </a:extLst>
          </p:cNvPr>
          <p:cNvSpPr>
            <a:spLocks xmlns:a="http://schemas.openxmlformats.org/drawingml/2006/main" noGrp="1"/>
          </p:cNvSpPr>
          <p:nvPr/>
        </p:nvSpPr>
        <p:spPr>
          <a:xfrm xmlns:a="http://schemas.openxmlformats.org/drawingml/2006/main">
            <a:off x="5981700" y="3314700"/>
            <a:ext cx="1238250" cy="1333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36" name="SmallText">
            <a:extLst xmlns:a="http://schemas.openxmlformats.org/drawingml/2006/main">
              <a:ext uri="{FF2B5EF4-FFF2-40B4-BE49-F238E27FC236}">
                <a16:creationId xmlns:a16="http://schemas.microsoft.com/office/drawing/2014/main" id="{B5E0D329-A468-4727-A2E6-F4D8100F41C6}"/>
              </a:ext>
            </a:extLst>
          </p:cNvPr>
          <p:cNvSpPr>
            <a:spLocks xmlns:a="http://schemas.openxmlformats.org/drawingml/2006/main" noGrp="1"/>
          </p:cNvSpPr>
          <p:nvPr/>
        </p:nvSpPr>
        <p:spPr>
          <a:xfrm xmlns:a="http://schemas.openxmlformats.org/drawingml/2006/main">
            <a:off x="5981700" y="35433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JRC department (59.4%)</a:t>
            </a:r>
          </a:p>
        </p:txBody>
      </p:sp>
      <p:sp>
        <p:nvSpPr>
          <p:cNvPr id="37" name="SmallText">
            <a:extLst xmlns:a="http://schemas.openxmlformats.org/drawingml/2006/main">
              <a:ext uri="{FF2B5EF4-FFF2-40B4-BE49-F238E27FC236}">
                <a16:creationId xmlns:a16="http://schemas.microsoft.com/office/drawing/2014/main" id="{7A8BAD64-3459-4272-90B1-F7ACE979CD30}"/>
              </a:ext>
            </a:extLst>
          </p:cNvPr>
          <p:cNvSpPr>
            <a:spLocks xmlns:a="http://schemas.openxmlformats.org/drawingml/2006/main" noGrp="1"/>
          </p:cNvSpPr>
          <p:nvPr/>
        </p:nvSpPr>
        <p:spPr>
          <a:xfrm xmlns:a="http://schemas.openxmlformats.org/drawingml/2006/main">
            <a:off x="9486900" y="35433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171/288</a:t>
            </a:r>
          </a:p>
        </p:txBody>
      </p:sp>
      <p:sp>
        <p:nvSpPr>
          <p:cNvPr id="38" name="ProgressTrack">
            <a:extLst xmlns:a="http://schemas.openxmlformats.org/drawingml/2006/main">
              <a:ext uri="{FF2B5EF4-FFF2-40B4-BE49-F238E27FC236}">
                <a16:creationId xmlns:a16="http://schemas.microsoft.com/office/drawing/2014/main" id="{48F51C4D-42A3-47EB-8F6C-19799965F214}"/>
              </a:ext>
            </a:extLst>
          </p:cNvPr>
          <p:cNvSpPr>
            <a:spLocks xmlns:a="http://schemas.openxmlformats.org/drawingml/2006/main" noGrp="1"/>
          </p:cNvSpPr>
          <p:nvPr/>
        </p:nvSpPr>
        <p:spPr>
          <a:xfrm xmlns:a="http://schemas.openxmlformats.org/drawingml/2006/main">
            <a:off x="5981700" y="381000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39" name="ProgressFill">
            <a:extLst xmlns:a="http://schemas.openxmlformats.org/drawingml/2006/main">
              <a:ext uri="{FF2B5EF4-FFF2-40B4-BE49-F238E27FC236}">
                <a16:creationId xmlns:a16="http://schemas.microsoft.com/office/drawing/2014/main" id="{A68F1F59-B001-4E21-A57E-40A42484D57C}"/>
              </a:ext>
            </a:extLst>
          </p:cNvPr>
          <p:cNvSpPr>
            <a:spLocks xmlns:a="http://schemas.openxmlformats.org/drawingml/2006/main" noGrp="1"/>
          </p:cNvSpPr>
          <p:nvPr/>
        </p:nvSpPr>
        <p:spPr>
          <a:xfrm xmlns:a="http://schemas.openxmlformats.org/drawingml/2006/main">
            <a:off x="5981700" y="3810000"/>
            <a:ext cx="264795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40" name="SmallText">
            <a:extLst xmlns:a="http://schemas.openxmlformats.org/drawingml/2006/main">
              <a:ext uri="{FF2B5EF4-FFF2-40B4-BE49-F238E27FC236}">
                <a16:creationId xmlns:a16="http://schemas.microsoft.com/office/drawing/2014/main" id="{3DDCA4A4-7B1C-4392-B9BA-2C08A800A1E5}"/>
              </a:ext>
            </a:extLst>
          </p:cNvPr>
          <p:cNvSpPr>
            <a:spLocks xmlns:a="http://schemas.openxmlformats.org/drawingml/2006/main" noGrp="1"/>
          </p:cNvSpPr>
          <p:nvPr/>
        </p:nvSpPr>
        <p:spPr>
          <a:xfrm xmlns:a="http://schemas.openxmlformats.org/drawingml/2006/main">
            <a:off x="5981700" y="4000500"/>
            <a:ext cx="445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Department view adds 31.6 percentage points for JRC.</a:t>
            </a:r>
          </a:p>
        </p:txBody>
      </p:sp>
      <p:sp>
        <p:nvSpPr>
          <p:cNvPr id="41" name="SmallText">
            <a:extLst xmlns:a="http://schemas.openxmlformats.org/drawingml/2006/main">
              <a:ext uri="{FF2B5EF4-FFF2-40B4-BE49-F238E27FC236}">
                <a16:creationId xmlns:a16="http://schemas.microsoft.com/office/drawing/2014/main" id="{79AB17D7-4E72-44B4-8C5F-FE61A7FD3AEF}"/>
              </a:ext>
            </a:extLst>
          </p:cNvPr>
          <p:cNvSpPr>
            <a:spLocks xmlns:a="http://schemas.openxmlformats.org/drawingml/2006/main" noGrp="1"/>
          </p:cNvSpPr>
          <p:nvPr/>
        </p:nvSpPr>
        <p:spPr>
          <a:xfrm xmlns:a="http://schemas.openxmlformats.org/drawingml/2006/main">
            <a:off x="5981700" y="42481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Gaspar commune (16.7%)</a:t>
            </a:r>
          </a:p>
        </p:txBody>
      </p:sp>
      <p:sp>
        <p:nvSpPr>
          <p:cNvPr id="42" name="SmallText">
            <a:extLst xmlns:a="http://schemas.openxmlformats.org/drawingml/2006/main">
              <a:ext uri="{FF2B5EF4-FFF2-40B4-BE49-F238E27FC236}">
                <a16:creationId xmlns:a16="http://schemas.microsoft.com/office/drawing/2014/main" id="{05BEC142-E97D-4377-988A-808FDDB8542D}"/>
              </a:ext>
            </a:extLst>
          </p:cNvPr>
          <p:cNvSpPr>
            <a:spLocks xmlns:a="http://schemas.openxmlformats.org/drawingml/2006/main" noGrp="1"/>
          </p:cNvSpPr>
          <p:nvPr/>
        </p:nvSpPr>
        <p:spPr>
          <a:xfrm xmlns:a="http://schemas.openxmlformats.org/drawingml/2006/main">
            <a:off x="9486900" y="42481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587/3505</a:t>
            </a:r>
          </a:p>
        </p:txBody>
      </p:sp>
      <p:sp>
        <p:nvSpPr>
          <p:cNvPr id="43" name="ProgressTrack">
            <a:extLst xmlns:a="http://schemas.openxmlformats.org/drawingml/2006/main">
              <a:ext uri="{FF2B5EF4-FFF2-40B4-BE49-F238E27FC236}">
                <a16:creationId xmlns:a16="http://schemas.microsoft.com/office/drawing/2014/main" id="{EE76BEF9-B2A2-4E0D-B2B9-2EEEEE3EA3AE}"/>
              </a:ext>
            </a:extLst>
          </p:cNvPr>
          <p:cNvSpPr>
            <a:spLocks xmlns:a="http://schemas.openxmlformats.org/drawingml/2006/main" noGrp="1"/>
          </p:cNvSpPr>
          <p:nvPr/>
        </p:nvSpPr>
        <p:spPr>
          <a:xfrm xmlns:a="http://schemas.openxmlformats.org/drawingml/2006/main">
            <a:off x="5981700" y="451485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44" name="ProgressFill">
            <a:extLst xmlns:a="http://schemas.openxmlformats.org/drawingml/2006/main">
              <a:ext uri="{FF2B5EF4-FFF2-40B4-BE49-F238E27FC236}">
                <a16:creationId xmlns:a16="http://schemas.microsoft.com/office/drawing/2014/main" id="{3151F0A9-9FAB-45BA-81F2-A6E9A5E39524}"/>
              </a:ext>
            </a:extLst>
          </p:cNvPr>
          <p:cNvSpPr>
            <a:spLocks xmlns:a="http://schemas.openxmlformats.org/drawingml/2006/main" noGrp="1"/>
          </p:cNvSpPr>
          <p:nvPr/>
        </p:nvSpPr>
        <p:spPr>
          <a:xfrm xmlns:a="http://schemas.openxmlformats.org/drawingml/2006/main">
            <a:off x="5981700" y="4514850"/>
            <a:ext cx="742950" cy="133350"/>
          </a:xfrm>
          <a:prstGeom xmlns:a="http://schemas.openxmlformats.org/drawingml/2006/main" prst="rect">
            <a:avLst/>
          </a:prstGeom>
          <a:solidFill xmlns:a="http://schemas.openxmlformats.org/drawingml/2006/main">
            <a:srgbClr val="C76A53"/>
          </a:solidFill>
          <a:ln xmlns:a="http://schemas.openxmlformats.org/drawingml/2006/main" w="0">
            <a:solidFill>
              <a:srgbClr val="000000">
                <a:alpha val="0"/>
              </a:srgbClr>
            </a:solidFill>
            <a:prstDash val="solid"/>
          </a:ln>
        </p:spPr>
      </p:sp>
      <p:sp>
        <p:nvSpPr>
          <p:cNvPr id="45" name="SmallText">
            <a:extLst xmlns:a="http://schemas.openxmlformats.org/drawingml/2006/main">
              <a:ext uri="{FF2B5EF4-FFF2-40B4-BE49-F238E27FC236}">
                <a16:creationId xmlns:a16="http://schemas.microsoft.com/office/drawing/2014/main" id="{1E7F2DC1-C338-46E8-8ED3-58C278D5D9F8}"/>
              </a:ext>
            </a:extLst>
          </p:cNvPr>
          <p:cNvSpPr>
            <a:spLocks xmlns:a="http://schemas.openxmlformats.org/drawingml/2006/main" noGrp="1"/>
          </p:cNvSpPr>
          <p:nvPr/>
        </p:nvSpPr>
        <p:spPr>
          <a:xfrm xmlns:a="http://schemas.openxmlformats.org/drawingml/2006/main">
            <a:off x="5981700" y="47434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Gaspar department (53.8%)</a:t>
            </a:r>
          </a:p>
        </p:txBody>
      </p:sp>
      <p:sp>
        <p:nvSpPr>
          <p:cNvPr id="46" name="SmallText">
            <a:extLst xmlns:a="http://schemas.openxmlformats.org/drawingml/2006/main">
              <a:ext uri="{FF2B5EF4-FFF2-40B4-BE49-F238E27FC236}">
                <a16:creationId xmlns:a16="http://schemas.microsoft.com/office/drawing/2014/main" id="{21971450-A2B2-407A-9240-6436520F1BF4}"/>
              </a:ext>
            </a:extLst>
          </p:cNvPr>
          <p:cNvSpPr>
            <a:spLocks xmlns:a="http://schemas.openxmlformats.org/drawingml/2006/main" noGrp="1"/>
          </p:cNvSpPr>
          <p:nvPr/>
        </p:nvSpPr>
        <p:spPr>
          <a:xfrm xmlns:a="http://schemas.openxmlformats.org/drawingml/2006/main">
            <a:off x="9486900" y="47434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1886/3505</a:t>
            </a:r>
          </a:p>
        </p:txBody>
      </p:sp>
      <p:sp>
        <p:nvSpPr>
          <p:cNvPr id="47" name="ProgressTrack">
            <a:extLst xmlns:a="http://schemas.openxmlformats.org/drawingml/2006/main">
              <a:ext uri="{FF2B5EF4-FFF2-40B4-BE49-F238E27FC236}">
                <a16:creationId xmlns:a16="http://schemas.microsoft.com/office/drawing/2014/main" id="{57335065-6523-4E2E-80FC-8E3F9A0DC4D3}"/>
              </a:ext>
            </a:extLst>
          </p:cNvPr>
          <p:cNvSpPr>
            <a:spLocks xmlns:a="http://schemas.openxmlformats.org/drawingml/2006/main" noGrp="1"/>
          </p:cNvSpPr>
          <p:nvPr/>
        </p:nvSpPr>
        <p:spPr>
          <a:xfrm xmlns:a="http://schemas.openxmlformats.org/drawingml/2006/main">
            <a:off x="5981700" y="5010150"/>
            <a:ext cx="4457700" cy="13335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48" name="ProgressFill">
            <a:extLst xmlns:a="http://schemas.openxmlformats.org/drawingml/2006/main">
              <a:ext uri="{FF2B5EF4-FFF2-40B4-BE49-F238E27FC236}">
                <a16:creationId xmlns:a16="http://schemas.microsoft.com/office/drawing/2014/main" id="{94727D31-9D8E-45FF-AC29-AA9296450B78}"/>
              </a:ext>
            </a:extLst>
          </p:cNvPr>
          <p:cNvSpPr>
            <a:spLocks xmlns:a="http://schemas.openxmlformats.org/drawingml/2006/main" noGrp="1"/>
          </p:cNvSpPr>
          <p:nvPr/>
        </p:nvSpPr>
        <p:spPr>
          <a:xfrm xmlns:a="http://schemas.openxmlformats.org/drawingml/2006/main">
            <a:off x="5981700" y="5010150"/>
            <a:ext cx="2400300" cy="1333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49" name="SmallText">
            <a:extLst xmlns:a="http://schemas.openxmlformats.org/drawingml/2006/main">
              <a:ext uri="{FF2B5EF4-FFF2-40B4-BE49-F238E27FC236}">
                <a16:creationId xmlns:a16="http://schemas.microsoft.com/office/drawing/2014/main" id="{321A5110-9CCD-4F30-B73A-DCA7DAE851A5}"/>
              </a:ext>
            </a:extLst>
          </p:cNvPr>
          <p:cNvSpPr>
            <a:spLocks xmlns:a="http://schemas.openxmlformats.org/drawingml/2006/main" noGrp="1"/>
          </p:cNvSpPr>
          <p:nvPr/>
        </p:nvSpPr>
        <p:spPr>
          <a:xfrm xmlns:a="http://schemas.openxmlformats.org/drawingml/2006/main">
            <a:off x="5981700" y="5200650"/>
            <a:ext cx="445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Department view adds 37.1 percentage points for Gaspar.</a:t>
            </a:r>
          </a:p>
        </p:txBody>
      </p:sp>
      <p:sp>
        <p:nvSpPr>
          <p:cNvPr id="50" name="InterpretationPanel">
            <a:extLst xmlns:a="http://schemas.openxmlformats.org/drawingml/2006/main">
              <a:ext uri="{FF2B5EF4-FFF2-40B4-BE49-F238E27FC236}">
                <a16:creationId xmlns:a16="http://schemas.microsoft.com/office/drawing/2014/main" id="{20E7E71F-85C4-48A2-B068-D75408BA8CF4}"/>
              </a:ext>
            </a:extLst>
          </p:cNvPr>
          <p:cNvSpPr>
            <a:spLocks xmlns:a="http://schemas.openxmlformats.org/drawingml/2006/main" noGrp="1"/>
          </p:cNvSpPr>
          <p:nvPr/>
        </p:nvSpPr>
        <p:spPr>
          <a:xfrm xmlns:a="http://schemas.openxmlformats.org/drawingml/2006/main">
            <a:off x="514350" y="5619750"/>
            <a:ext cx="10629900" cy="6286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51" name="BodyText">
            <a:extLst xmlns:a="http://schemas.openxmlformats.org/drawingml/2006/main">
              <a:ext uri="{FF2B5EF4-FFF2-40B4-BE49-F238E27FC236}">
                <a16:creationId xmlns:a16="http://schemas.microsoft.com/office/drawing/2014/main" id="{C8817423-2C63-4E94-B829-6C3615EFEBB9}"/>
              </a:ext>
            </a:extLst>
          </p:cNvPr>
          <p:cNvSpPr>
            <a:spLocks xmlns:a="http://schemas.openxmlformats.org/drawingml/2006/main" noGrp="1"/>
          </p:cNvSpPr>
          <p:nvPr/>
        </p:nvSpPr>
        <p:spPr>
          <a:xfrm xmlns:a="http://schemas.openxmlformats.org/drawingml/2006/main">
            <a:off x="742950" y="5772150"/>
            <a:ext cx="10172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Interpretation: once the same episodes are allowed to match at department scale, the overlap rises sharply. The strongest explanation is not 'no common floods', but rather different commune allocation and time slicing inside the same broader events.</a:t>
            </a:r>
          </a:p>
        </p:txBody>
      </p:sp>
      <p:sp>
        <p:nvSpPr>
          <p:cNvPr id="52" name="Rule">
            <a:extLst xmlns:a="http://schemas.openxmlformats.org/drawingml/2006/main">
              <a:ext uri="{FF2B5EF4-FFF2-40B4-BE49-F238E27FC236}">
                <a16:creationId xmlns:a16="http://schemas.microsoft.com/office/drawing/2014/main" id="{D937BB0C-3C9C-4F4F-8AAB-E8D7D972F2F9}"/>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D7CEC0"/>
          </a:solidFill>
          <a:ln xmlns:a="http://schemas.openxmlformats.org/drawingml/2006/main" w="0">
            <a:solidFill>
              <a:srgbClr val="000000">
                <a:alpha val="0"/>
              </a:srgbClr>
            </a:solidFill>
            <a:prstDash val="solid"/>
          </a:ln>
        </p:spPr>
      </p:sp>
      <p:sp>
        <p:nvSpPr>
          <p:cNvPr id="53" name="SmallText">
            <a:extLst xmlns:a="http://schemas.openxmlformats.org/drawingml/2006/main">
              <a:ext uri="{FF2B5EF4-FFF2-40B4-BE49-F238E27FC236}">
                <a16:creationId xmlns:a16="http://schemas.microsoft.com/office/drawing/2014/main" id="{6124C71D-E676-4E04-999D-CFFF6B5FD406}"/>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Source: the same 7-day and 30-day comparison outputs used in the national audit, now read as commune-versus-department contrast.</a:t>
            </a:r>
          </a:p>
        </p:txBody>
      </p:sp>
    </p:spTree>
    <p:extLst>
      <p:ext uri="{BB962C8B-B14F-4D97-AF65-F5344CB8AC3E}">
        <p14:creationId xmlns:p14="http://schemas.microsoft.com/office/powerpoint/2010/main" val="4851167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C9CDB26E-B2CC-407A-9835-F37B24BD88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1E8"/>
          </a:solidFill>
          <a:ln xmlns:a="http://schemas.openxmlformats.org/drawingml/2006/main" w="0">
            <a:solidFill>
              <a:srgbClr val="000000">
                <a:alpha val="0"/>
              </a:srgbClr>
            </a:solidFill>
            <a:prstDash val="solid"/>
          </a:ln>
        </p:spPr>
      </p:sp>
      <p:sp>
        <p:nvSpPr>
          <p:cNvPr id="2" name="Label">
            <a:extLst xmlns:a="http://schemas.openxmlformats.org/drawingml/2006/main">
              <a:ext uri="{FF2B5EF4-FFF2-40B4-BE49-F238E27FC236}">
                <a16:creationId xmlns:a16="http://schemas.microsoft.com/office/drawing/2014/main" id="{94DB90FF-576B-406A-A1F5-B55734FB229D}"/>
              </a:ext>
            </a:extLst>
          </p:cNvPr>
          <p:cNvSpPr>
            <a:spLocks xmlns:a="http://schemas.openxmlformats.org/drawingml/2006/main" noGrp="1"/>
          </p:cNvSpPr>
          <p:nvPr/>
        </p:nvSpPr>
        <p:spPr>
          <a:xfrm xmlns:a="http://schemas.openxmlformats.org/drawingml/2006/main">
            <a:off x="514350" y="4000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45A3C"/>
                </a:solidFill>
                <a:latin typeface="Aptos"/>
                <a:ea typeface="Aptos"/>
                <a:cs typeface="Aptos"/>
              </a:defRPr>
            </a:pPr>
            <a:r>
              <a:rPr sz="1350" b="1">
                <a:solidFill>
                  <a:srgbClr val="E45A3C"/>
                </a:solidFill>
                <a:latin typeface="Aptos"/>
                <a:ea typeface="Aptos"/>
                <a:cs typeface="Aptos"/>
              </a:rPr>
              <a:t>HORIZON AUDIT</a:t>
            </a:r>
          </a:p>
        </p:txBody>
      </p:sp>
      <p:sp>
        <p:nvSpPr>
          <p:cNvPr id="3" name="Title">
            <a:extLst xmlns:a="http://schemas.openxmlformats.org/drawingml/2006/main">
              <a:ext uri="{FF2B5EF4-FFF2-40B4-BE49-F238E27FC236}">
                <a16:creationId xmlns:a16="http://schemas.microsoft.com/office/drawing/2014/main" id="{E705147F-3745-4CB7-9C28-C4EDCF1B0CC5}"/>
              </a:ext>
            </a:extLst>
          </p:cNvPr>
          <p:cNvSpPr>
            <a:spLocks xmlns:a="http://schemas.openxmlformats.org/drawingml/2006/main" noGrp="1"/>
          </p:cNvSpPr>
          <p:nvPr/>
        </p:nvSpPr>
        <p:spPr>
          <a:xfrm xmlns:a="http://schemas.openxmlformats.org/drawingml/2006/main">
            <a:off x="514350" y="742950"/>
            <a:ext cx="10668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2475" b="1">
                <a:solidFill>
                  <a:srgbClr val="0F172A"/>
                </a:solidFill>
                <a:latin typeface="Aptos Display"/>
                <a:ea typeface="Aptos Display"/>
                <a:cs typeface="Aptos Display"/>
              </a:defRPr>
            </a:pPr>
            <a:r>
              <a:rPr sz="2475" b="1">
                <a:solidFill>
                  <a:srgbClr val="0F172A"/>
                </a:solidFill>
                <a:latin typeface="Aptos Display"/>
                <a:ea typeface="Aptos Display"/>
                <a:cs typeface="Aptos Display"/>
              </a:rPr>
              <a:t>The new 2015-2024 horizon audit shows the mismatch recurring across multiple flood families</a:t>
            </a:r>
          </a:p>
        </p:txBody>
      </p:sp>
      <p:sp>
        <p:nvSpPr>
          <p:cNvPr id="4" name="SmallText">
            <a:extLst xmlns:a="http://schemas.openxmlformats.org/drawingml/2006/main">
              <a:ext uri="{FF2B5EF4-FFF2-40B4-BE49-F238E27FC236}">
                <a16:creationId xmlns:a16="http://schemas.microsoft.com/office/drawing/2014/main" id="{B53B73EB-31CE-4413-BC38-2C18ADBE9A19}"/>
              </a:ext>
            </a:extLst>
          </p:cNvPr>
          <p:cNvSpPr>
            <a:spLocks xmlns:a="http://schemas.openxmlformats.org/drawingml/2006/main" noGrp="1"/>
          </p:cNvSpPr>
          <p:nvPr/>
        </p:nvSpPr>
        <p:spPr>
          <a:xfrm xmlns:a="http://schemas.openxmlformats.org/drawingml/2006/main">
            <a:off x="514350" y="1390650"/>
            <a:ext cx="1009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The low match rate is not tied to one famous event. It reappears in different hydrologic settings from 2016 to 2024, with both Gaspar-heavy and JRC-heavy profiles.</a:t>
            </a:r>
          </a:p>
        </p:txBody>
      </p:sp>
      <p:sp>
        <p:nvSpPr>
          <p:cNvPr id="5" name="MetricCard">
            <a:extLst xmlns:a="http://schemas.openxmlformats.org/drawingml/2006/main">
              <a:ext uri="{FF2B5EF4-FFF2-40B4-BE49-F238E27FC236}">
                <a16:creationId xmlns:a16="http://schemas.microsoft.com/office/drawing/2014/main" id="{B5897140-C3C2-492C-9244-8F50F33092AF}"/>
              </a:ext>
            </a:extLst>
          </p:cNvPr>
          <p:cNvSpPr>
            <a:spLocks xmlns:a="http://schemas.openxmlformats.org/drawingml/2006/main" noGrp="1"/>
          </p:cNvSpPr>
          <p:nvPr/>
        </p:nvSpPr>
        <p:spPr>
          <a:xfrm xmlns:a="http://schemas.openxmlformats.org/drawingml/2006/main">
            <a:off x="514350" y="1752600"/>
            <a:ext cx="2171700" cy="1066800"/>
          </a:xfrm>
          <a:prstGeom xmlns:a="http://schemas.openxmlformats.org/drawingml/2006/main" prst="rect">
            <a:avLst/>
          </a:prstGeom>
          <a:solidFill xmlns:a="http://schemas.openxmlformats.org/drawingml/2006/main">
            <a:srgbClr val="EEF3FB"/>
          </a:solidFill>
          <a:ln xmlns:a="http://schemas.openxmlformats.org/drawingml/2006/main" w="9525">
            <a:solidFill>
              <a:srgbClr val="D7CEC0"/>
            </a:solidFill>
            <a:prstDash val="solid"/>
          </a:ln>
        </p:spPr>
      </p:sp>
      <p:sp>
        <p:nvSpPr>
          <p:cNvPr id="6" name="Rule">
            <a:extLst xmlns:a="http://schemas.openxmlformats.org/drawingml/2006/main">
              <a:ext uri="{FF2B5EF4-FFF2-40B4-BE49-F238E27FC236}">
                <a16:creationId xmlns:a16="http://schemas.microsoft.com/office/drawing/2014/main" id="{50C318A2-990D-4218-B933-463E307671FD}"/>
              </a:ext>
            </a:extLst>
          </p:cNvPr>
          <p:cNvSpPr>
            <a:spLocks xmlns:a="http://schemas.openxmlformats.org/drawingml/2006/main" noGrp="1"/>
          </p:cNvSpPr>
          <p:nvPr/>
        </p:nvSpPr>
        <p:spPr>
          <a:xfrm xmlns:a="http://schemas.openxmlformats.org/drawingml/2006/main">
            <a:off x="514350" y="1752600"/>
            <a:ext cx="2171700" cy="571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7" name="SmallText">
            <a:extLst xmlns:a="http://schemas.openxmlformats.org/drawingml/2006/main">
              <a:ext uri="{FF2B5EF4-FFF2-40B4-BE49-F238E27FC236}">
                <a16:creationId xmlns:a16="http://schemas.microsoft.com/office/drawing/2014/main" id="{E90E938B-5917-4D88-981C-4A700385873F}"/>
              </a:ext>
            </a:extLst>
          </p:cNvPr>
          <p:cNvSpPr>
            <a:spLocks xmlns:a="http://schemas.openxmlformats.org/drawingml/2006/main" noGrp="1"/>
          </p:cNvSpPr>
          <p:nvPr/>
        </p:nvSpPr>
        <p:spPr>
          <a:xfrm xmlns:a="http://schemas.openxmlformats.org/drawingml/2006/main">
            <a:off x="685800" y="1924050"/>
            <a:ext cx="1828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LARGEST MISMATCH</a:t>
            </a:r>
          </a:p>
        </p:txBody>
      </p:sp>
      <p:sp>
        <p:nvSpPr>
          <p:cNvPr id="8" name="MetricValue">
            <a:extLst xmlns:a="http://schemas.openxmlformats.org/drawingml/2006/main">
              <a:ext uri="{FF2B5EF4-FFF2-40B4-BE49-F238E27FC236}">
                <a16:creationId xmlns:a16="http://schemas.microsoft.com/office/drawing/2014/main" id="{40CC35D8-833C-42A5-A0E0-F11179EF11A5}"/>
              </a:ext>
            </a:extLst>
          </p:cNvPr>
          <p:cNvSpPr>
            <a:spLocks xmlns:a="http://schemas.openxmlformats.org/drawingml/2006/main" noGrp="1"/>
          </p:cNvSpPr>
          <p:nvPr/>
        </p:nvSpPr>
        <p:spPr>
          <a:xfrm xmlns:a="http://schemas.openxmlformats.org/drawingml/2006/main">
            <a:off x="685800" y="2190750"/>
            <a:ext cx="18288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1,312 communes</a:t>
            </a:r>
          </a:p>
        </p:txBody>
      </p:sp>
      <p:sp>
        <p:nvSpPr>
          <p:cNvPr id="9" name="MetricCard">
            <a:extLst xmlns:a="http://schemas.openxmlformats.org/drawingml/2006/main">
              <a:ext uri="{FF2B5EF4-FFF2-40B4-BE49-F238E27FC236}">
                <a16:creationId xmlns:a16="http://schemas.microsoft.com/office/drawing/2014/main" id="{33FE3805-524E-4137-87D4-F1CA7554DDB7}"/>
              </a:ext>
            </a:extLst>
          </p:cNvPr>
          <p:cNvSpPr>
            <a:spLocks xmlns:a="http://schemas.openxmlformats.org/drawingml/2006/main" noGrp="1"/>
          </p:cNvSpPr>
          <p:nvPr/>
        </p:nvSpPr>
        <p:spPr>
          <a:xfrm xmlns:a="http://schemas.openxmlformats.org/drawingml/2006/main">
            <a:off x="2838450" y="1752600"/>
            <a:ext cx="2171700" cy="1066800"/>
          </a:xfrm>
          <a:prstGeom xmlns:a="http://schemas.openxmlformats.org/drawingml/2006/main" prst="rect">
            <a:avLst/>
          </a:prstGeom>
          <a:solidFill xmlns:a="http://schemas.openxmlformats.org/drawingml/2006/main">
            <a:srgbClr val="FBEEE9"/>
          </a:solidFill>
          <a:ln xmlns:a="http://schemas.openxmlformats.org/drawingml/2006/main" w="9525">
            <a:solidFill>
              <a:srgbClr val="D7CEC0"/>
            </a:solidFill>
            <a:prstDash val="solid"/>
          </a:ln>
        </p:spPr>
      </p:sp>
      <p:sp>
        <p:nvSpPr>
          <p:cNvPr id="10" name="Rule">
            <a:extLst xmlns:a="http://schemas.openxmlformats.org/drawingml/2006/main">
              <a:ext uri="{FF2B5EF4-FFF2-40B4-BE49-F238E27FC236}">
                <a16:creationId xmlns:a16="http://schemas.microsoft.com/office/drawing/2014/main" id="{7F9698EF-CAA3-49D9-8818-8BC540F35290}"/>
              </a:ext>
            </a:extLst>
          </p:cNvPr>
          <p:cNvSpPr>
            <a:spLocks xmlns:a="http://schemas.openxmlformats.org/drawingml/2006/main" noGrp="1"/>
          </p:cNvSpPr>
          <p:nvPr/>
        </p:nvSpPr>
        <p:spPr>
          <a:xfrm xmlns:a="http://schemas.openxmlformats.org/drawingml/2006/main">
            <a:off x="2838450" y="1752600"/>
            <a:ext cx="2171700" cy="571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1" name="SmallText">
            <a:extLst xmlns:a="http://schemas.openxmlformats.org/drawingml/2006/main">
              <a:ext uri="{FF2B5EF4-FFF2-40B4-BE49-F238E27FC236}">
                <a16:creationId xmlns:a16="http://schemas.microsoft.com/office/drawing/2014/main" id="{CD5D60E2-F7C4-43D0-9CD8-A31D779DC512}"/>
              </a:ext>
            </a:extLst>
          </p:cNvPr>
          <p:cNvSpPr>
            <a:spLocks xmlns:a="http://schemas.openxmlformats.org/drawingml/2006/main" noGrp="1"/>
          </p:cNvSpPr>
          <p:nvPr/>
        </p:nvSpPr>
        <p:spPr>
          <a:xfrm xmlns:a="http://schemas.openxmlformats.org/drawingml/2006/main">
            <a:off x="3009900" y="1924050"/>
            <a:ext cx="1828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STRONGEST GASPAR QUARTER</a:t>
            </a:r>
          </a:p>
        </p:txBody>
      </p:sp>
      <p:sp>
        <p:nvSpPr>
          <p:cNvPr id="12" name="MetricValue">
            <a:extLst xmlns:a="http://schemas.openxmlformats.org/drawingml/2006/main">
              <a:ext uri="{FF2B5EF4-FFF2-40B4-BE49-F238E27FC236}">
                <a16:creationId xmlns:a16="http://schemas.microsoft.com/office/drawing/2014/main" id="{9A05CAEC-740B-4A2B-96E1-A88498BD3AC8}"/>
              </a:ext>
            </a:extLst>
          </p:cNvPr>
          <p:cNvSpPr>
            <a:spLocks xmlns:a="http://schemas.openxmlformats.org/drawingml/2006/main" noGrp="1"/>
          </p:cNvSpPr>
          <p:nvPr/>
        </p:nvSpPr>
        <p:spPr>
          <a:xfrm xmlns:a="http://schemas.openxmlformats.org/drawingml/2006/main">
            <a:off x="3009900" y="2190750"/>
            <a:ext cx="18288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707 Gaspar only</a:t>
            </a:r>
          </a:p>
        </p:txBody>
      </p:sp>
      <p:sp>
        <p:nvSpPr>
          <p:cNvPr id="13" name="MetricCard">
            <a:extLst xmlns:a="http://schemas.openxmlformats.org/drawingml/2006/main">
              <a:ext uri="{FF2B5EF4-FFF2-40B4-BE49-F238E27FC236}">
                <a16:creationId xmlns:a16="http://schemas.microsoft.com/office/drawing/2014/main" id="{D5F790DA-7B79-4699-BBE8-6563DE949022}"/>
              </a:ext>
            </a:extLst>
          </p:cNvPr>
          <p:cNvSpPr>
            <a:spLocks xmlns:a="http://schemas.openxmlformats.org/drawingml/2006/main" noGrp="1"/>
          </p:cNvSpPr>
          <p:nvPr/>
        </p:nvSpPr>
        <p:spPr>
          <a:xfrm xmlns:a="http://schemas.openxmlformats.org/drawingml/2006/main">
            <a:off x="5162550" y="1752600"/>
            <a:ext cx="2171700" cy="1066800"/>
          </a:xfrm>
          <a:prstGeom xmlns:a="http://schemas.openxmlformats.org/drawingml/2006/main" prst="rect">
            <a:avLst/>
          </a:prstGeom>
          <a:solidFill xmlns:a="http://schemas.openxmlformats.org/drawingml/2006/main">
            <a:srgbClr val="EAF5F3"/>
          </a:solidFill>
          <a:ln xmlns:a="http://schemas.openxmlformats.org/drawingml/2006/main" w="9525">
            <a:solidFill>
              <a:srgbClr val="D7CEC0"/>
            </a:solidFill>
            <a:prstDash val="solid"/>
          </a:ln>
        </p:spPr>
      </p:sp>
      <p:sp>
        <p:nvSpPr>
          <p:cNvPr id="14" name="Rule">
            <a:extLst xmlns:a="http://schemas.openxmlformats.org/drawingml/2006/main">
              <a:ext uri="{FF2B5EF4-FFF2-40B4-BE49-F238E27FC236}">
                <a16:creationId xmlns:a16="http://schemas.microsoft.com/office/drawing/2014/main" id="{335A6FEC-FDCD-4756-BCAE-71B437CA72AC}"/>
              </a:ext>
            </a:extLst>
          </p:cNvPr>
          <p:cNvSpPr>
            <a:spLocks xmlns:a="http://schemas.openxmlformats.org/drawingml/2006/main" noGrp="1"/>
          </p:cNvSpPr>
          <p:nvPr/>
        </p:nvSpPr>
        <p:spPr>
          <a:xfrm xmlns:a="http://schemas.openxmlformats.org/drawingml/2006/main">
            <a:off x="5162550" y="1752600"/>
            <a:ext cx="21717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15" name="SmallText">
            <a:extLst xmlns:a="http://schemas.openxmlformats.org/drawingml/2006/main">
              <a:ext uri="{FF2B5EF4-FFF2-40B4-BE49-F238E27FC236}">
                <a16:creationId xmlns:a16="http://schemas.microsoft.com/office/drawing/2014/main" id="{6F51FC49-8BEE-4C82-8A1A-E6422AAE0073}"/>
              </a:ext>
            </a:extLst>
          </p:cNvPr>
          <p:cNvSpPr>
            <a:spLocks xmlns:a="http://schemas.openxmlformats.org/drawingml/2006/main" noGrp="1"/>
          </p:cNvSpPr>
          <p:nvPr/>
        </p:nvSpPr>
        <p:spPr>
          <a:xfrm xmlns:a="http://schemas.openxmlformats.org/drawingml/2006/main">
            <a:off x="5334000" y="1924050"/>
            <a:ext cx="1828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RECENT MAJOR CASE</a:t>
            </a:r>
          </a:p>
        </p:txBody>
      </p:sp>
      <p:sp>
        <p:nvSpPr>
          <p:cNvPr id="16" name="MetricValue">
            <a:extLst xmlns:a="http://schemas.openxmlformats.org/drawingml/2006/main">
              <a:ext uri="{FF2B5EF4-FFF2-40B4-BE49-F238E27FC236}">
                <a16:creationId xmlns:a16="http://schemas.microsoft.com/office/drawing/2014/main" id="{0B7F44FC-C904-4E6B-A84A-081CCC5C4B90}"/>
              </a:ext>
            </a:extLst>
          </p:cNvPr>
          <p:cNvSpPr>
            <a:spLocks xmlns:a="http://schemas.openxmlformats.org/drawingml/2006/main" noGrp="1"/>
          </p:cNvSpPr>
          <p:nvPr/>
        </p:nvSpPr>
        <p:spPr>
          <a:xfrm xmlns:a="http://schemas.openxmlformats.org/drawingml/2006/main">
            <a:off x="5334000" y="2190750"/>
            <a:ext cx="18288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1,080 mismatch</a:t>
            </a:r>
          </a:p>
        </p:txBody>
      </p:sp>
      <p:sp>
        <p:nvSpPr>
          <p:cNvPr id="17" name="MetricCard">
            <a:extLst xmlns:a="http://schemas.openxmlformats.org/drawingml/2006/main">
              <a:ext uri="{FF2B5EF4-FFF2-40B4-BE49-F238E27FC236}">
                <a16:creationId xmlns:a16="http://schemas.microsoft.com/office/drawing/2014/main" id="{CC90CEB1-5574-41CB-AA73-3CFD030B4E58}"/>
              </a:ext>
            </a:extLst>
          </p:cNvPr>
          <p:cNvSpPr>
            <a:spLocks xmlns:a="http://schemas.openxmlformats.org/drawingml/2006/main" noGrp="1"/>
          </p:cNvSpPr>
          <p:nvPr/>
        </p:nvSpPr>
        <p:spPr>
          <a:xfrm xmlns:a="http://schemas.openxmlformats.org/drawingml/2006/main">
            <a:off x="7486650" y="1752600"/>
            <a:ext cx="3657600" cy="1066800"/>
          </a:xfrm>
          <a:prstGeom xmlns:a="http://schemas.openxmlformats.org/drawingml/2006/main" prst="rect">
            <a:avLst/>
          </a:prstGeom>
          <a:solidFill xmlns:a="http://schemas.openxmlformats.org/drawingml/2006/main">
            <a:srgbClr val="F7F1D9"/>
          </a:solidFill>
          <a:ln xmlns:a="http://schemas.openxmlformats.org/drawingml/2006/main" w="9525">
            <a:solidFill>
              <a:srgbClr val="D7CEC0"/>
            </a:solidFill>
            <a:prstDash val="solid"/>
          </a:ln>
        </p:spPr>
      </p:sp>
      <p:sp>
        <p:nvSpPr>
          <p:cNvPr id="18" name="Rule">
            <a:extLst xmlns:a="http://schemas.openxmlformats.org/drawingml/2006/main">
              <a:ext uri="{FF2B5EF4-FFF2-40B4-BE49-F238E27FC236}">
                <a16:creationId xmlns:a16="http://schemas.microsoft.com/office/drawing/2014/main" id="{3ED86505-CC52-4C4F-B8C1-4F7E33389FEC}"/>
              </a:ext>
            </a:extLst>
          </p:cNvPr>
          <p:cNvSpPr>
            <a:spLocks xmlns:a="http://schemas.openxmlformats.org/drawingml/2006/main" noGrp="1"/>
          </p:cNvSpPr>
          <p:nvPr/>
        </p:nvSpPr>
        <p:spPr>
          <a:xfrm xmlns:a="http://schemas.openxmlformats.org/drawingml/2006/main">
            <a:off x="7486650" y="1752600"/>
            <a:ext cx="3657600" cy="571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9" name="SmallText">
            <a:extLst xmlns:a="http://schemas.openxmlformats.org/drawingml/2006/main">
              <a:ext uri="{FF2B5EF4-FFF2-40B4-BE49-F238E27FC236}">
                <a16:creationId xmlns:a16="http://schemas.microsoft.com/office/drawing/2014/main" id="{3781C9C1-9C78-4A50-8063-F7FD0188F910}"/>
              </a:ext>
            </a:extLst>
          </p:cNvPr>
          <p:cNvSpPr>
            <a:spLocks xmlns:a="http://schemas.openxmlformats.org/drawingml/2006/main" noGrp="1"/>
          </p:cNvSpPr>
          <p:nvPr/>
        </p:nvSpPr>
        <p:spPr>
          <a:xfrm xmlns:a="http://schemas.openxmlformats.org/drawingml/2006/main">
            <a:off x="7658100" y="1924050"/>
            <a:ext cx="3314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COVERAGE HORIZON</a:t>
            </a:r>
          </a:p>
        </p:txBody>
      </p:sp>
      <p:sp>
        <p:nvSpPr>
          <p:cNvPr id="20" name="MetricValue">
            <a:extLst xmlns:a="http://schemas.openxmlformats.org/drawingml/2006/main">
              <a:ext uri="{FF2B5EF4-FFF2-40B4-BE49-F238E27FC236}">
                <a16:creationId xmlns:a16="http://schemas.microsoft.com/office/drawing/2014/main" id="{B84DB692-E0CC-4B99-B0D6-429262AF56B7}"/>
              </a:ext>
            </a:extLst>
          </p:cNvPr>
          <p:cNvSpPr>
            <a:spLocks xmlns:a="http://schemas.openxmlformats.org/drawingml/2006/main" noGrp="1"/>
          </p:cNvSpPr>
          <p:nvPr/>
        </p:nvSpPr>
        <p:spPr>
          <a:xfrm xmlns:a="http://schemas.openxmlformats.org/drawingml/2006/main">
            <a:off x="7658100" y="2190750"/>
            <a:ext cx="33147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2015-Q1 to 2024-Q4</a:t>
            </a:r>
          </a:p>
        </p:txBody>
      </p:sp>
      <p:sp>
        <p:nvSpPr>
          <p:cNvPr id="21" name="TopPeriodsPanel">
            <a:extLst xmlns:a="http://schemas.openxmlformats.org/drawingml/2006/main">
              <a:ext uri="{FF2B5EF4-FFF2-40B4-BE49-F238E27FC236}">
                <a16:creationId xmlns:a16="http://schemas.microsoft.com/office/drawing/2014/main" id="{FBFF4BE8-586C-4F40-9BD4-12AF0F0C1416}"/>
              </a:ext>
            </a:extLst>
          </p:cNvPr>
          <p:cNvSpPr>
            <a:spLocks xmlns:a="http://schemas.openxmlformats.org/drawingml/2006/main" noGrp="1"/>
          </p:cNvSpPr>
          <p:nvPr/>
        </p:nvSpPr>
        <p:spPr>
          <a:xfrm xmlns:a="http://schemas.openxmlformats.org/drawingml/2006/main">
            <a:off x="514350" y="3086100"/>
            <a:ext cx="6057900" cy="27622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22" name="BodyText">
            <a:extLst xmlns:a="http://schemas.openxmlformats.org/drawingml/2006/main">
              <a:ext uri="{FF2B5EF4-FFF2-40B4-BE49-F238E27FC236}">
                <a16:creationId xmlns:a16="http://schemas.microsoft.com/office/drawing/2014/main" id="{B5BC26E7-839D-401E-B31D-6E42BD3F04EF}"/>
              </a:ext>
            </a:extLst>
          </p:cNvPr>
          <p:cNvSpPr>
            <a:spLocks xmlns:a="http://schemas.openxmlformats.org/drawingml/2006/main" noGrp="1"/>
          </p:cNvSpPr>
          <p:nvPr/>
        </p:nvSpPr>
        <p:spPr>
          <a:xfrm xmlns:a="http://schemas.openxmlformats.org/drawingml/2006/main">
            <a:off x="742950" y="3295650"/>
            <a:ext cx="2476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latin typeface="Aptos Display"/>
                <a:ea typeface="Aptos Display"/>
                <a:cs typeface="Aptos Display"/>
              </a:defRPr>
            </a:pPr>
            <a:r>
              <a:rPr sz="1800" b="1">
                <a:solidFill>
                  <a:srgbClr val="0F172A"/>
                </a:solidFill>
                <a:latin typeface="Aptos Display"/>
                <a:ea typeface="Aptos Display"/>
                <a:cs typeface="Aptos Display"/>
              </a:rPr>
              <a:t>Top disagreement periods</a:t>
            </a:r>
          </a:p>
        </p:txBody>
      </p:sp>
      <p:sp>
        <p:nvSpPr>
          <p:cNvPr id="23" name="BodyText">
            <a:extLst xmlns:a="http://schemas.openxmlformats.org/drawingml/2006/main">
              <a:ext uri="{FF2B5EF4-FFF2-40B4-BE49-F238E27FC236}">
                <a16:creationId xmlns:a16="http://schemas.microsoft.com/office/drawing/2014/main" id="{417F853C-EB0C-4632-8A87-3BDFBA751351}"/>
              </a:ext>
            </a:extLst>
          </p:cNvPr>
          <p:cNvSpPr>
            <a:spLocks xmlns:a="http://schemas.openxmlformats.org/drawingml/2006/main" noGrp="1"/>
          </p:cNvSpPr>
          <p:nvPr/>
        </p:nvSpPr>
        <p:spPr>
          <a:xfrm xmlns:a="http://schemas.openxmlformats.org/drawingml/2006/main">
            <a:off x="742950" y="3752850"/>
            <a:ext cx="546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Display"/>
                <a:ea typeface="Aptos Display"/>
                <a:cs typeface="Aptos Display"/>
              </a:defRPr>
            </a:pPr>
            <a:r>
              <a:rPr sz="1350" b="1">
                <a:solidFill>
                  <a:srgbClr val="0F172A"/>
                </a:solidFill>
                <a:latin typeface="Aptos Display"/>
                <a:ea typeface="Aptos Display"/>
                <a:cs typeface="Aptos Display"/>
              </a:rPr>
              <a:t>Grand Est, Q1 2018: 1,312 disagreement communes | 8.4% overlap</a:t>
            </a:r>
          </a:p>
        </p:txBody>
      </p:sp>
      <p:sp>
        <p:nvSpPr>
          <p:cNvPr id="24" name="SmallText">
            <a:extLst xmlns:a="http://schemas.openxmlformats.org/drawingml/2006/main">
              <a:ext uri="{FF2B5EF4-FFF2-40B4-BE49-F238E27FC236}">
                <a16:creationId xmlns:a16="http://schemas.microsoft.com/office/drawing/2014/main" id="{B1227EF9-7E25-4D35-ABC0-0C807688862B}"/>
              </a:ext>
            </a:extLst>
          </p:cNvPr>
          <p:cNvSpPr>
            <a:spLocks xmlns:a="http://schemas.openxmlformats.org/drawingml/2006/main" noGrp="1"/>
          </p:cNvSpPr>
          <p:nvPr/>
        </p:nvSpPr>
        <p:spPr>
          <a:xfrm xmlns:a="http://schemas.openxmlformats.org/drawingml/2006/main">
            <a:off x="742950" y="4038600"/>
            <a:ext cx="546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Largest region-quarter mismatch in the ranking, dominated by a very broad JRC winter-flood corridor.</a:t>
            </a:r>
          </a:p>
        </p:txBody>
      </p:sp>
      <p:sp>
        <p:nvSpPr>
          <p:cNvPr id="25" name="BodyText">
            <a:extLst xmlns:a="http://schemas.openxmlformats.org/drawingml/2006/main">
              <a:ext uri="{FF2B5EF4-FFF2-40B4-BE49-F238E27FC236}">
                <a16:creationId xmlns:a16="http://schemas.microsoft.com/office/drawing/2014/main" id="{7CE13563-31DC-4026-8CFB-4E0452CFFA8C}"/>
              </a:ext>
            </a:extLst>
          </p:cNvPr>
          <p:cNvSpPr>
            <a:spLocks xmlns:a="http://schemas.openxmlformats.org/drawingml/2006/main" noGrp="1"/>
          </p:cNvSpPr>
          <p:nvPr/>
        </p:nvSpPr>
        <p:spPr>
          <a:xfrm xmlns:a="http://schemas.openxmlformats.org/drawingml/2006/main">
            <a:off x="742950" y="4438650"/>
            <a:ext cx="546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Display"/>
                <a:ea typeface="Aptos Display"/>
                <a:cs typeface="Aptos Display"/>
              </a:defRPr>
            </a:pPr>
            <a:r>
              <a:rPr sz="1350" b="1">
                <a:solidFill>
                  <a:srgbClr val="0F172A"/>
                </a:solidFill>
                <a:latin typeface="Aptos Display"/>
                <a:ea typeface="Aptos Display"/>
                <a:cs typeface="Aptos Display"/>
              </a:rPr>
              <a:t>Centre-Val de Loire, Q2 2016: 707 Gaspar only | 22 JRC only</a:t>
            </a:r>
          </a:p>
        </p:txBody>
      </p:sp>
      <p:sp>
        <p:nvSpPr>
          <p:cNvPr id="26" name="SmallText">
            <a:extLst xmlns:a="http://schemas.openxmlformats.org/drawingml/2006/main">
              <a:ext uri="{FF2B5EF4-FFF2-40B4-BE49-F238E27FC236}">
                <a16:creationId xmlns:a16="http://schemas.microsoft.com/office/drawing/2014/main" id="{D444BFB3-302E-4E78-93D8-8D6E5B490F2F}"/>
              </a:ext>
            </a:extLst>
          </p:cNvPr>
          <p:cNvSpPr>
            <a:spLocks xmlns:a="http://schemas.openxmlformats.org/drawingml/2006/main" noGrp="1"/>
          </p:cNvSpPr>
          <p:nvPr/>
        </p:nvSpPr>
        <p:spPr>
          <a:xfrm xmlns:a="http://schemas.openxmlformats.org/drawingml/2006/main">
            <a:off x="742950" y="4724400"/>
            <a:ext cx="546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Strongest high-activity Gaspar-dominant quarter during the late-May / early-June 2016 flood family.</a:t>
            </a:r>
          </a:p>
        </p:txBody>
      </p:sp>
      <p:sp>
        <p:nvSpPr>
          <p:cNvPr id="27" name="BodyText">
            <a:extLst xmlns:a="http://schemas.openxmlformats.org/drawingml/2006/main">
              <a:ext uri="{FF2B5EF4-FFF2-40B4-BE49-F238E27FC236}">
                <a16:creationId xmlns:a16="http://schemas.microsoft.com/office/drawing/2014/main" id="{C9463EA5-9469-4FA9-BD50-2040401399F6}"/>
              </a:ext>
            </a:extLst>
          </p:cNvPr>
          <p:cNvSpPr>
            <a:spLocks xmlns:a="http://schemas.openxmlformats.org/drawingml/2006/main" noGrp="1"/>
          </p:cNvSpPr>
          <p:nvPr/>
        </p:nvSpPr>
        <p:spPr>
          <a:xfrm xmlns:a="http://schemas.openxmlformats.org/drawingml/2006/main">
            <a:off x="742950" y="5124450"/>
            <a:ext cx="546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Display"/>
                <a:ea typeface="Aptos Display"/>
                <a:cs typeface="Aptos Display"/>
              </a:defRPr>
            </a:pPr>
            <a:r>
              <a:rPr sz="1350" b="1">
                <a:solidFill>
                  <a:srgbClr val="0F172A"/>
                </a:solidFill>
                <a:latin typeface="Aptos Display"/>
                <a:ea typeface="Aptos Display"/>
                <a:cs typeface="Aptos Display"/>
              </a:rPr>
              <a:t>Grand Est, Q2 2024: 1,080 disagreement communes | 9.2% overlap</a:t>
            </a:r>
          </a:p>
        </p:txBody>
      </p:sp>
      <p:sp>
        <p:nvSpPr>
          <p:cNvPr id="28" name="SmallText">
            <a:extLst xmlns:a="http://schemas.openxmlformats.org/drawingml/2006/main">
              <a:ext uri="{FF2B5EF4-FFF2-40B4-BE49-F238E27FC236}">
                <a16:creationId xmlns:a16="http://schemas.microsoft.com/office/drawing/2014/main" id="{5EF98383-9136-42E7-AB0D-B898535CADB7}"/>
              </a:ext>
            </a:extLst>
          </p:cNvPr>
          <p:cNvSpPr>
            <a:spLocks xmlns:a="http://schemas.openxmlformats.org/drawingml/2006/main" noGrp="1"/>
          </p:cNvSpPr>
          <p:nvPr/>
        </p:nvSpPr>
        <p:spPr>
          <a:xfrm xmlns:a="http://schemas.openxmlformats.org/drawingml/2006/main">
            <a:off x="742950" y="5410200"/>
            <a:ext cx="546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Recent end-of-horizon case where both real flood extent and administrative timing lag may matter.</a:t>
            </a:r>
          </a:p>
        </p:txBody>
      </p:sp>
      <p:sp>
        <p:nvSpPr>
          <p:cNvPr id="29" name="SupportPanel">
            <a:extLst xmlns:a="http://schemas.openxmlformats.org/drawingml/2006/main">
              <a:ext uri="{FF2B5EF4-FFF2-40B4-BE49-F238E27FC236}">
                <a16:creationId xmlns:a16="http://schemas.microsoft.com/office/drawing/2014/main" id="{F01A2417-515F-43A4-A085-635EF5396363}"/>
              </a:ext>
            </a:extLst>
          </p:cNvPr>
          <p:cNvSpPr>
            <a:spLocks xmlns:a="http://schemas.openxmlformats.org/drawingml/2006/main" noGrp="1"/>
          </p:cNvSpPr>
          <p:nvPr/>
        </p:nvSpPr>
        <p:spPr>
          <a:xfrm xmlns:a="http://schemas.openxmlformats.org/drawingml/2006/main">
            <a:off x="6800850" y="3086100"/>
            <a:ext cx="4343400" cy="2762250"/>
          </a:xfrm>
          <a:prstGeom xmlns:a="http://schemas.openxmlformats.org/drawingml/2006/main" prst="rect">
            <a:avLst/>
          </a:prstGeom>
          <a:solidFill xmlns:a="http://schemas.openxmlformats.org/drawingml/2006/main">
            <a:srgbClr val="F8FBFF"/>
          </a:solidFill>
          <a:ln xmlns:a="http://schemas.openxmlformats.org/drawingml/2006/main" w="9525">
            <a:solidFill>
              <a:srgbClr val="D7CEC0"/>
            </a:solidFill>
            <a:prstDash val="solid"/>
          </a:ln>
        </p:spPr>
      </p:sp>
      <p:sp>
        <p:nvSpPr>
          <p:cNvPr id="30" name="BodyText">
            <a:extLst xmlns:a="http://schemas.openxmlformats.org/drawingml/2006/main">
              <a:ext uri="{FF2B5EF4-FFF2-40B4-BE49-F238E27FC236}">
                <a16:creationId xmlns:a16="http://schemas.microsoft.com/office/drawing/2014/main" id="{C69BCA57-F95E-4155-A3A5-0475BBD57829}"/>
              </a:ext>
            </a:extLst>
          </p:cNvPr>
          <p:cNvSpPr>
            <a:spLocks xmlns:a="http://schemas.openxmlformats.org/drawingml/2006/main" noGrp="1"/>
          </p:cNvSpPr>
          <p:nvPr/>
        </p:nvSpPr>
        <p:spPr>
          <a:xfrm xmlns:a="http://schemas.openxmlformats.org/drawingml/2006/main">
            <a:off x="7029450" y="3295650"/>
            <a:ext cx="2667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latin typeface="Aptos Display"/>
                <a:ea typeface="Aptos Display"/>
                <a:cs typeface="Aptos Display"/>
              </a:defRPr>
            </a:pPr>
            <a:r>
              <a:rPr sz="1800" b="1">
                <a:solidFill>
                  <a:srgbClr val="0F172A"/>
                </a:solidFill>
                <a:latin typeface="Aptos Display"/>
                <a:ea typeface="Aptos Display"/>
                <a:cs typeface="Aptos Display"/>
              </a:rPr>
              <a:t>Other important flood families</a:t>
            </a:r>
          </a:p>
        </p:txBody>
      </p:sp>
      <p:sp>
        <p:nvSpPr>
          <p:cNvPr id="31" name="Bullet1">
            <a:extLst xmlns:a="http://schemas.openxmlformats.org/drawingml/2006/main">
              <a:ext uri="{FF2B5EF4-FFF2-40B4-BE49-F238E27FC236}">
                <a16:creationId xmlns:a16="http://schemas.microsoft.com/office/drawing/2014/main" id="{073CFF91-3ACC-4A93-96E7-DFE37BF8D5BA}"/>
              </a:ext>
            </a:extLst>
          </p:cNvPr>
          <p:cNvSpPr>
            <a:spLocks xmlns:a="http://schemas.openxmlformats.org/drawingml/2006/main" noGrp="1"/>
          </p:cNvSpPr>
          <p:nvPr/>
        </p:nvSpPr>
        <p:spPr>
          <a:xfrm xmlns:a="http://schemas.openxmlformats.org/drawingml/2006/main">
            <a:off x="7029450" y="3848100"/>
            <a:ext cx="95250" cy="952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32" name="BulletText1">
            <a:extLst xmlns:a="http://schemas.openxmlformats.org/drawingml/2006/main">
              <a:ext uri="{FF2B5EF4-FFF2-40B4-BE49-F238E27FC236}">
                <a16:creationId xmlns:a16="http://schemas.microsoft.com/office/drawing/2014/main" id="{B36A73EE-C40E-48D1-A1AD-BE570E638DEB}"/>
              </a:ext>
            </a:extLst>
          </p:cNvPr>
          <p:cNvSpPr>
            <a:spLocks xmlns:a="http://schemas.openxmlformats.org/drawingml/2006/main" noGrp="1"/>
          </p:cNvSpPr>
          <p:nvPr/>
        </p:nvSpPr>
        <p:spPr>
          <a:xfrm xmlns:a="http://schemas.openxmlformats.org/drawingml/2006/main">
            <a:off x="7239000" y="3771900"/>
            <a:ext cx="35433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Ile-de-France, Q2 2016: 583 Gaspar-only communes in the same national flood family as Centre-Val de Loire 2016.</a:t>
            </a:r>
          </a:p>
        </p:txBody>
      </p:sp>
      <p:sp>
        <p:nvSpPr>
          <p:cNvPr id="33" name="Bullet2">
            <a:extLst xmlns:a="http://schemas.openxmlformats.org/drawingml/2006/main">
              <a:ext uri="{FF2B5EF4-FFF2-40B4-BE49-F238E27FC236}">
                <a16:creationId xmlns:a16="http://schemas.microsoft.com/office/drawing/2014/main" id="{B3D6C36F-6DB9-4378-9BD2-1E48AC50AA08}"/>
              </a:ext>
            </a:extLst>
          </p:cNvPr>
          <p:cNvSpPr>
            <a:spLocks xmlns:a="http://schemas.openxmlformats.org/drawingml/2006/main" noGrp="1"/>
          </p:cNvSpPr>
          <p:nvPr/>
        </p:nvSpPr>
        <p:spPr>
          <a:xfrm xmlns:a="http://schemas.openxmlformats.org/drawingml/2006/main">
            <a:off x="7029450" y="4552950"/>
            <a:ext cx="95250" cy="952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34" name="BulletText2">
            <a:extLst xmlns:a="http://schemas.openxmlformats.org/drawingml/2006/main">
              <a:ext uri="{FF2B5EF4-FFF2-40B4-BE49-F238E27FC236}">
                <a16:creationId xmlns:a16="http://schemas.microsoft.com/office/drawing/2014/main" id="{6637D06B-5117-4361-8C49-9ABB9D2C95DA}"/>
              </a:ext>
            </a:extLst>
          </p:cNvPr>
          <p:cNvSpPr>
            <a:spLocks xmlns:a="http://schemas.openxmlformats.org/drawingml/2006/main" noGrp="1"/>
          </p:cNvSpPr>
          <p:nvPr/>
        </p:nvSpPr>
        <p:spPr>
          <a:xfrm xmlns:a="http://schemas.openxmlformats.org/drawingml/2006/main">
            <a:off x="7239000" y="4476750"/>
            <a:ext cx="35433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PACA, Q4 2019: 305 Gaspar-only communes during the Var and Alpes-Maritimes Mediterranean floods.</a:t>
            </a:r>
          </a:p>
        </p:txBody>
      </p:sp>
      <p:sp>
        <p:nvSpPr>
          <p:cNvPr id="35" name="Bullet3">
            <a:extLst xmlns:a="http://schemas.openxmlformats.org/drawingml/2006/main">
              <a:ext uri="{FF2B5EF4-FFF2-40B4-BE49-F238E27FC236}">
                <a16:creationId xmlns:a16="http://schemas.microsoft.com/office/drawing/2014/main" id="{D09A90D9-835D-4D1D-9BB4-2D561A69B18F}"/>
              </a:ext>
            </a:extLst>
          </p:cNvPr>
          <p:cNvSpPr>
            <a:spLocks xmlns:a="http://schemas.openxmlformats.org/drawingml/2006/main" noGrp="1"/>
          </p:cNvSpPr>
          <p:nvPr/>
        </p:nvSpPr>
        <p:spPr>
          <a:xfrm xmlns:a="http://schemas.openxmlformats.org/drawingml/2006/main">
            <a:off x="7029450" y="5257800"/>
            <a:ext cx="95250" cy="952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36" name="BulletText3">
            <a:extLst xmlns:a="http://schemas.openxmlformats.org/drawingml/2006/main">
              <a:ext uri="{FF2B5EF4-FFF2-40B4-BE49-F238E27FC236}">
                <a16:creationId xmlns:a16="http://schemas.microsoft.com/office/drawing/2014/main" id="{3629D49E-D502-4C72-A13C-724C9C7FCAFF}"/>
              </a:ext>
            </a:extLst>
          </p:cNvPr>
          <p:cNvSpPr>
            <a:spLocks xmlns:a="http://schemas.openxmlformats.org/drawingml/2006/main" noGrp="1"/>
          </p:cNvSpPr>
          <p:nvPr/>
        </p:nvSpPr>
        <p:spPr>
          <a:xfrm xmlns:a="http://schemas.openxmlformats.org/drawingml/2006/main">
            <a:off x="7239000" y="5181600"/>
            <a:ext cx="35433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Hauts-de-France, Q4 2023: 302 Gaspar-only communes during the Pas-de-Calais and Nord flood sequence.</a:t>
            </a:r>
          </a:p>
        </p:txBody>
      </p:sp>
      <p:sp>
        <p:nvSpPr>
          <p:cNvPr id="37" name="ConclusionStrip">
            <a:extLst xmlns:a="http://schemas.openxmlformats.org/drawingml/2006/main">
              <a:ext uri="{FF2B5EF4-FFF2-40B4-BE49-F238E27FC236}">
                <a16:creationId xmlns:a16="http://schemas.microsoft.com/office/drawing/2014/main" id="{202217BE-B148-4FF0-B726-538C6BBA4BAB}"/>
              </a:ext>
            </a:extLst>
          </p:cNvPr>
          <p:cNvSpPr>
            <a:spLocks xmlns:a="http://schemas.openxmlformats.org/drawingml/2006/main" noGrp="1"/>
          </p:cNvSpPr>
          <p:nvPr/>
        </p:nvSpPr>
        <p:spPr>
          <a:xfrm xmlns:a="http://schemas.openxmlformats.org/drawingml/2006/main">
            <a:off x="514350" y="6057900"/>
            <a:ext cx="1062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sp>
      <p:sp>
        <p:nvSpPr>
          <p:cNvPr id="38" name="BodyText">
            <a:extLst xmlns:a="http://schemas.openxmlformats.org/drawingml/2006/main">
              <a:ext uri="{FF2B5EF4-FFF2-40B4-BE49-F238E27FC236}">
                <a16:creationId xmlns:a16="http://schemas.microsoft.com/office/drawing/2014/main" id="{E7274EC3-CBEB-44EF-9131-1A3BF8513806}"/>
              </a:ext>
            </a:extLst>
          </p:cNvPr>
          <p:cNvSpPr>
            <a:spLocks xmlns:a="http://schemas.openxmlformats.org/drawingml/2006/main" noGrp="1"/>
          </p:cNvSpPr>
          <p:nvPr/>
        </p:nvSpPr>
        <p:spPr>
          <a:xfrm xmlns:a="http://schemas.openxmlformats.org/drawingml/2006/main">
            <a:off x="514350" y="6057900"/>
            <a:ext cx="10629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F172A"/>
                </a:solidFill>
                <a:latin typeface="Aptos Display"/>
                <a:ea typeface="Aptos Display"/>
                <a:cs typeface="Aptos Display"/>
              </a:defRPr>
            </a:pPr>
            <a:r>
              <a:rPr sz="1500" b="1">
                <a:solidFill>
                  <a:srgbClr val="0F172A"/>
                </a:solidFill>
                <a:latin typeface="Aptos Display"/>
                <a:ea typeface="Aptos Display"/>
                <a:cs typeface="Aptos Display"/>
              </a:rPr>
              <a:t>Bottom line: the mismatch is historically persistent and changes shape over time, rather than disappearing once one famous flood is explained.</a:t>
            </a:r>
          </a:p>
        </p:txBody>
      </p:sp>
      <p:sp>
        <p:nvSpPr>
          <p:cNvPr id="39" name="Rule">
            <a:extLst xmlns:a="http://schemas.openxmlformats.org/drawingml/2006/main">
              <a:ext uri="{FF2B5EF4-FFF2-40B4-BE49-F238E27FC236}">
                <a16:creationId xmlns:a16="http://schemas.microsoft.com/office/drawing/2014/main" id="{60E59E01-6532-4B1F-ABE9-CD002CDB1DF9}"/>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D7CEC0"/>
          </a:solidFill>
          <a:ln xmlns:a="http://schemas.openxmlformats.org/drawingml/2006/main" w="0">
            <a:solidFill>
              <a:srgbClr val="000000">
                <a:alpha val="0"/>
              </a:srgbClr>
            </a:solidFill>
            <a:prstDash val="solid"/>
          </a:ln>
        </p:spPr>
      </p:sp>
      <p:sp>
        <p:nvSpPr>
          <p:cNvPr id="40" name="SmallText">
            <a:extLst xmlns:a="http://schemas.openxmlformats.org/drawingml/2006/main">
              <a:ext uri="{FF2B5EF4-FFF2-40B4-BE49-F238E27FC236}">
                <a16:creationId xmlns:a16="http://schemas.microsoft.com/office/drawing/2014/main" id="{592307E7-A1E6-4185-9A53-EED774BB8748}"/>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Source: docs/gaspar_jrc_horizon_audit_en.md and ..._fr.md, generated from the region-quarter ranking and mapped manual checks.</a:t>
            </a:r>
          </a:p>
        </p:txBody>
      </p:sp>
    </p:spTree>
    <p:extLst>
      <p:ext uri="{BB962C8B-B14F-4D97-AF65-F5344CB8AC3E}">
        <p14:creationId xmlns:p14="http://schemas.microsoft.com/office/powerpoint/2010/main" val="52614132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25F6B36-4931-48D7-A96C-EAFA48C84B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1E8"/>
          </a:solidFill>
          <a:ln xmlns:a="http://schemas.openxmlformats.org/drawingml/2006/main" w="0">
            <a:solidFill>
              <a:srgbClr val="000000">
                <a:alpha val="0"/>
              </a:srgbClr>
            </a:solidFill>
            <a:prstDash val="solid"/>
          </a:ln>
        </p:spPr>
      </p:sp>
      <p:sp>
        <p:nvSpPr>
          <p:cNvPr id="2" name="Label">
            <a:extLst xmlns:a="http://schemas.openxmlformats.org/drawingml/2006/main">
              <a:ext uri="{FF2B5EF4-FFF2-40B4-BE49-F238E27FC236}">
                <a16:creationId xmlns:a16="http://schemas.microsoft.com/office/drawing/2014/main" id="{4E2500CB-E54A-410D-BAE4-A12147FBEF2C}"/>
              </a:ext>
            </a:extLst>
          </p:cNvPr>
          <p:cNvSpPr>
            <a:spLocks xmlns:a="http://schemas.openxmlformats.org/drawingml/2006/main" noGrp="1"/>
          </p:cNvSpPr>
          <p:nvPr/>
        </p:nvSpPr>
        <p:spPr>
          <a:xfrm xmlns:a="http://schemas.openxmlformats.org/drawingml/2006/main">
            <a:off x="514350" y="4000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45A3C"/>
                </a:solidFill>
                <a:latin typeface="Aptos"/>
                <a:ea typeface="Aptos"/>
                <a:cs typeface="Aptos"/>
              </a:defRPr>
            </a:pPr>
            <a:r>
              <a:rPr sz="1350" b="1">
                <a:solidFill>
                  <a:srgbClr val="E45A3C"/>
                </a:solidFill>
                <a:latin typeface="Aptos"/>
                <a:ea typeface="Aptos"/>
                <a:cs typeface="Aptos"/>
              </a:rPr>
              <a:t>MANUAL CHECKS</a:t>
            </a:r>
          </a:p>
        </p:txBody>
      </p:sp>
      <p:sp>
        <p:nvSpPr>
          <p:cNvPr id="3" name="Title">
            <a:extLst xmlns:a="http://schemas.openxmlformats.org/drawingml/2006/main">
              <a:ext uri="{FF2B5EF4-FFF2-40B4-BE49-F238E27FC236}">
                <a16:creationId xmlns:a16="http://schemas.microsoft.com/office/drawing/2014/main" id="{59171990-9721-4317-985B-F504D408F2C9}"/>
              </a:ext>
            </a:extLst>
          </p:cNvPr>
          <p:cNvSpPr>
            <a:spLocks xmlns:a="http://schemas.openxmlformats.org/drawingml/2006/main" noGrp="1"/>
          </p:cNvSpPr>
          <p:nvPr/>
        </p:nvSpPr>
        <p:spPr>
          <a:xfrm xmlns:a="http://schemas.openxmlformats.org/drawingml/2006/main">
            <a:off x="514350" y="742950"/>
            <a:ext cx="10668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Mapped manual checks now cover both Gaspar-dominant and JRC-dominant flood families across the horizon</a:t>
            </a:r>
          </a:p>
        </p:txBody>
      </p:sp>
      <p:sp>
        <p:nvSpPr>
          <p:cNvPr id="4" name="SmallText">
            <a:extLst xmlns:a="http://schemas.openxmlformats.org/drawingml/2006/main">
              <a:ext uri="{FF2B5EF4-FFF2-40B4-BE49-F238E27FC236}">
                <a16:creationId xmlns:a16="http://schemas.microsoft.com/office/drawing/2014/main" id="{8750AD82-5250-4822-8ED3-403AA6CCC9F9}"/>
              </a:ext>
            </a:extLst>
          </p:cNvPr>
          <p:cNvSpPr>
            <a:spLocks xmlns:a="http://schemas.openxmlformats.org/drawingml/2006/main" noGrp="1"/>
          </p:cNvSpPr>
          <p:nvPr/>
        </p:nvSpPr>
        <p:spPr>
          <a:xfrm xmlns:a="http://schemas.openxmlformats.org/drawingml/2006/main">
            <a:off x="514350" y="1390650"/>
            <a:ext cx="990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These maps use the same commune-activity logic as the Streamlit app, but focus on quarter-region period overlap rather than event-pair matching.</a:t>
            </a:r>
          </a:p>
        </p:txBody>
      </p:sp>
      <p:sp>
        <p:nvSpPr>
          <p:cNvPr id="5" name="ManualCase1">
            <a:extLst xmlns:a="http://schemas.openxmlformats.org/drawingml/2006/main">
              <a:ext uri="{FF2B5EF4-FFF2-40B4-BE49-F238E27FC236}">
                <a16:creationId xmlns:a16="http://schemas.microsoft.com/office/drawing/2014/main" id="{B1BAAD2D-4206-4684-8E8E-CE5B178836FE}"/>
              </a:ext>
            </a:extLst>
          </p:cNvPr>
          <p:cNvSpPr>
            <a:spLocks xmlns:a="http://schemas.openxmlformats.org/drawingml/2006/main" noGrp="1"/>
          </p:cNvSpPr>
          <p:nvPr/>
        </p:nvSpPr>
        <p:spPr>
          <a:xfrm xmlns:a="http://schemas.openxmlformats.org/drawingml/2006/main">
            <a:off x="514350" y="1866900"/>
            <a:ext cx="3295650" cy="42291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6" name="BodyText">
            <a:extLst xmlns:a="http://schemas.openxmlformats.org/drawingml/2006/main">
              <a:ext uri="{FF2B5EF4-FFF2-40B4-BE49-F238E27FC236}">
                <a16:creationId xmlns:a16="http://schemas.microsoft.com/office/drawing/2014/main" id="{B3FD8F77-BD0B-43B5-8275-67A10ECB1A99}"/>
              </a:ext>
            </a:extLst>
          </p:cNvPr>
          <p:cNvSpPr>
            <a:spLocks xmlns:a="http://schemas.openxmlformats.org/drawingml/2006/main" noGrp="1"/>
          </p:cNvSpPr>
          <p:nvPr/>
        </p:nvSpPr>
        <p:spPr>
          <a:xfrm xmlns:a="http://schemas.openxmlformats.org/drawingml/2006/main">
            <a:off x="685800" y="20383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F172A"/>
                </a:solidFill>
                <a:latin typeface="Aptos Display"/>
                <a:ea typeface="Aptos Display"/>
                <a:cs typeface="Aptos Display"/>
              </a:defRPr>
            </a:pPr>
            <a:r>
              <a:rPr sz="1650" b="1">
                <a:solidFill>
                  <a:srgbClr val="0F172A"/>
                </a:solidFill>
                <a:latin typeface="Aptos Display"/>
                <a:ea typeface="Aptos Display"/>
                <a:cs typeface="Aptos Display"/>
              </a:rPr>
              <a:t>Grand Est, Q1 2018</a:t>
            </a:r>
          </a:p>
        </p:txBody>
      </p:sp>
      <p:sp>
        <p:nvSpPr>
          <p:cNvPr id="7" name="SmallText">
            <a:extLst xmlns:a="http://schemas.openxmlformats.org/drawingml/2006/main">
              <a:ext uri="{FF2B5EF4-FFF2-40B4-BE49-F238E27FC236}">
                <a16:creationId xmlns:a16="http://schemas.microsoft.com/office/drawing/2014/main" id="{505D68A9-1957-4B8D-B21A-D96213AC8485}"/>
              </a:ext>
            </a:extLst>
          </p:cNvPr>
          <p:cNvSpPr>
            <a:spLocks xmlns:a="http://schemas.openxmlformats.org/drawingml/2006/main" noGrp="1"/>
          </p:cNvSpPr>
          <p:nvPr/>
        </p:nvSpPr>
        <p:spPr>
          <a:xfrm xmlns:a="http://schemas.openxmlformats.org/drawingml/2006/main">
            <a:off x="685800" y="236220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Both 120 | Gaspar only 48 | JRC only 1,264</a:t>
            </a:r>
          </a:p>
        </p:txBody>
      </p:sp>
      <p:sp>
        <p:nvSpPr>
          <p:cNvPr id="8" name="ImageFrame">
            <a:extLst xmlns:a="http://schemas.openxmlformats.org/drawingml/2006/main">
              <a:ext uri="{FF2B5EF4-FFF2-40B4-BE49-F238E27FC236}">
                <a16:creationId xmlns:a16="http://schemas.microsoft.com/office/drawing/2014/main" id="{BBC996EB-FC49-4E5C-9E11-A2DBE1337D18}"/>
              </a:ext>
            </a:extLst>
          </p:cNvPr>
          <p:cNvSpPr>
            <a:spLocks xmlns:a="http://schemas.openxmlformats.org/drawingml/2006/main" noGrp="1"/>
          </p:cNvSpPr>
          <p:nvPr/>
        </p:nvSpPr>
        <p:spPr>
          <a:xfrm xmlns:a="http://schemas.openxmlformats.org/drawingml/2006/main">
            <a:off x="685800" y="2686050"/>
            <a:ext cx="2952750" cy="1905000"/>
          </a:xfrm>
          <a:prstGeom xmlns:a="http://schemas.openxmlformats.org/drawingml/2006/main" prst="rect">
            <a:avLst/>
          </a:prstGeom>
          <a:solidFill xmlns:a="http://schemas.openxmlformats.org/drawingml/2006/main">
            <a:srgbClr val="FBFBFB"/>
          </a:solidFill>
          <a:ln xmlns:a="http://schemas.openxmlformats.org/drawingml/2006/main" w="9525">
            <a:solidFill>
              <a:srgbClr val="D7CEC0"/>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331470f03ee4686"/>
          <a:stretch xmlns:a="http://schemas.openxmlformats.org/drawingml/2006/main"/>
        </p:blipFill>
        <p:spPr>
          <a:xfrm xmlns:a="http://schemas.openxmlformats.org/drawingml/2006/main">
            <a:off x="762000" y="3162699"/>
            <a:ext cx="2800350" cy="951702"/>
          </a:xfrm>
          <a:prstGeom xmlns:a="http://schemas.openxmlformats.org/drawingml/2006/main" prst="rect">
            <a:avLst/>
          </a:prstGeom>
        </p:spPr>
      </p:pic>
      <p:sp>
        <p:nvSpPr>
          <p:cNvPr id="10" name="BodyText">
            <a:extLst xmlns:a="http://schemas.openxmlformats.org/drawingml/2006/main">
              <a:ext uri="{FF2B5EF4-FFF2-40B4-BE49-F238E27FC236}">
                <a16:creationId xmlns:a16="http://schemas.microsoft.com/office/drawing/2014/main" id="{5AAF0BD1-9D69-4CD0-AB4C-54276D34537C}"/>
              </a:ext>
            </a:extLst>
          </p:cNvPr>
          <p:cNvSpPr>
            <a:spLocks xmlns:a="http://schemas.openxmlformats.org/drawingml/2006/main" noGrp="1"/>
          </p:cNvSpPr>
          <p:nvPr/>
        </p:nvSpPr>
        <p:spPr>
          <a:xfrm xmlns:a="http://schemas.openxmlformats.org/drawingml/2006/main">
            <a:off x="685800" y="4762500"/>
            <a:ext cx="2952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A very wide winter-flood corridor appears in JRC, while Gaspar remains concentrated in a much smaller administrative footprint.</a:t>
            </a:r>
          </a:p>
        </p:txBody>
      </p:sp>
      <p:sp>
        <p:nvSpPr>
          <p:cNvPr id="11" name="ManualCase2">
            <a:extLst xmlns:a="http://schemas.openxmlformats.org/drawingml/2006/main">
              <a:ext uri="{FF2B5EF4-FFF2-40B4-BE49-F238E27FC236}">
                <a16:creationId xmlns:a16="http://schemas.microsoft.com/office/drawing/2014/main" id="{BC284A9F-1F62-4663-A5D4-8A8AF698DA0A}"/>
              </a:ext>
            </a:extLst>
          </p:cNvPr>
          <p:cNvSpPr>
            <a:spLocks xmlns:a="http://schemas.openxmlformats.org/drawingml/2006/main" noGrp="1"/>
          </p:cNvSpPr>
          <p:nvPr/>
        </p:nvSpPr>
        <p:spPr>
          <a:xfrm xmlns:a="http://schemas.openxmlformats.org/drawingml/2006/main">
            <a:off x="4076700" y="1866900"/>
            <a:ext cx="3295650" cy="42291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12" name="BodyText">
            <a:extLst xmlns:a="http://schemas.openxmlformats.org/drawingml/2006/main">
              <a:ext uri="{FF2B5EF4-FFF2-40B4-BE49-F238E27FC236}">
                <a16:creationId xmlns:a16="http://schemas.microsoft.com/office/drawing/2014/main" id="{2E06C68B-5976-4D1F-B17C-F6EE2126FFBB}"/>
              </a:ext>
            </a:extLst>
          </p:cNvPr>
          <p:cNvSpPr>
            <a:spLocks xmlns:a="http://schemas.openxmlformats.org/drawingml/2006/main" noGrp="1"/>
          </p:cNvSpPr>
          <p:nvPr/>
        </p:nvSpPr>
        <p:spPr>
          <a:xfrm xmlns:a="http://schemas.openxmlformats.org/drawingml/2006/main">
            <a:off x="4248150" y="20383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F172A"/>
                </a:solidFill>
                <a:latin typeface="Aptos Display"/>
                <a:ea typeface="Aptos Display"/>
                <a:cs typeface="Aptos Display"/>
              </a:defRPr>
            </a:pPr>
            <a:r>
              <a:rPr sz="1650" b="1">
                <a:solidFill>
                  <a:srgbClr val="0F172A"/>
                </a:solidFill>
                <a:latin typeface="Aptos Display"/>
                <a:ea typeface="Aptos Display"/>
                <a:cs typeface="Aptos Display"/>
              </a:rPr>
              <a:t>Centre-Val de Loire, Q2 2016</a:t>
            </a:r>
          </a:p>
        </p:txBody>
      </p:sp>
      <p:sp>
        <p:nvSpPr>
          <p:cNvPr id="13" name="SmallText">
            <a:extLst xmlns:a="http://schemas.openxmlformats.org/drawingml/2006/main">
              <a:ext uri="{FF2B5EF4-FFF2-40B4-BE49-F238E27FC236}">
                <a16:creationId xmlns:a16="http://schemas.microsoft.com/office/drawing/2014/main" id="{0A376207-FB23-46A9-8F23-D58755C9E3A3}"/>
              </a:ext>
            </a:extLst>
          </p:cNvPr>
          <p:cNvSpPr>
            <a:spLocks xmlns:a="http://schemas.openxmlformats.org/drawingml/2006/main" noGrp="1"/>
          </p:cNvSpPr>
          <p:nvPr/>
        </p:nvSpPr>
        <p:spPr>
          <a:xfrm xmlns:a="http://schemas.openxmlformats.org/drawingml/2006/main">
            <a:off x="4248150" y="236220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Both 89 | Gaspar only 707 | JRC only 22</a:t>
            </a:r>
          </a:p>
        </p:txBody>
      </p:sp>
      <p:sp>
        <p:nvSpPr>
          <p:cNvPr id="14" name="ImageFrame">
            <a:extLst xmlns:a="http://schemas.openxmlformats.org/drawingml/2006/main">
              <a:ext uri="{FF2B5EF4-FFF2-40B4-BE49-F238E27FC236}">
                <a16:creationId xmlns:a16="http://schemas.microsoft.com/office/drawing/2014/main" id="{F18D299F-04EF-456F-B598-ED73500690AD}"/>
              </a:ext>
            </a:extLst>
          </p:cNvPr>
          <p:cNvSpPr>
            <a:spLocks xmlns:a="http://schemas.openxmlformats.org/drawingml/2006/main" noGrp="1"/>
          </p:cNvSpPr>
          <p:nvPr/>
        </p:nvSpPr>
        <p:spPr>
          <a:xfrm xmlns:a="http://schemas.openxmlformats.org/drawingml/2006/main">
            <a:off x="4248150" y="2686050"/>
            <a:ext cx="2952750" cy="1905000"/>
          </a:xfrm>
          <a:prstGeom xmlns:a="http://schemas.openxmlformats.org/drawingml/2006/main" prst="rect">
            <a:avLst/>
          </a:prstGeom>
          <a:solidFill xmlns:a="http://schemas.openxmlformats.org/drawingml/2006/main">
            <a:srgbClr val="FBFBFB"/>
          </a:solidFill>
          <a:ln xmlns:a="http://schemas.openxmlformats.org/drawingml/2006/main" w="9525">
            <a:solidFill>
              <a:srgbClr val="D7CEC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d758dee6e7a4bf6"/>
          <a:stretch xmlns:a="http://schemas.openxmlformats.org/drawingml/2006/main"/>
        </p:blipFill>
        <p:spPr>
          <a:xfrm xmlns:a="http://schemas.openxmlformats.org/drawingml/2006/main">
            <a:off x="4324350" y="3090346"/>
            <a:ext cx="2800350" cy="1096408"/>
          </a:xfrm>
          <a:prstGeom xmlns:a="http://schemas.openxmlformats.org/drawingml/2006/main" prst="rect">
            <a:avLst/>
          </a:prstGeom>
        </p:spPr>
      </p:pic>
      <p:sp>
        <p:nvSpPr>
          <p:cNvPr id="16" name="BodyText">
            <a:extLst xmlns:a="http://schemas.openxmlformats.org/drawingml/2006/main">
              <a:ext uri="{FF2B5EF4-FFF2-40B4-BE49-F238E27FC236}">
                <a16:creationId xmlns:a16="http://schemas.microsoft.com/office/drawing/2014/main" id="{906E9246-0600-4A06-9147-C92F7CC21576}"/>
              </a:ext>
            </a:extLst>
          </p:cNvPr>
          <p:cNvSpPr>
            <a:spLocks xmlns:a="http://schemas.openxmlformats.org/drawingml/2006/main" noGrp="1"/>
          </p:cNvSpPr>
          <p:nvPr/>
        </p:nvSpPr>
        <p:spPr>
          <a:xfrm xmlns:a="http://schemas.openxmlformats.org/drawingml/2006/main">
            <a:off x="4248150" y="4762500"/>
            <a:ext cx="2952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The Loire flood family is heavily recognized in Gaspar, but much less aligned with JRC at commune level.</a:t>
            </a:r>
          </a:p>
        </p:txBody>
      </p:sp>
      <p:sp>
        <p:nvSpPr>
          <p:cNvPr id="17" name="ManualCase3">
            <a:extLst xmlns:a="http://schemas.openxmlformats.org/drawingml/2006/main">
              <a:ext uri="{FF2B5EF4-FFF2-40B4-BE49-F238E27FC236}">
                <a16:creationId xmlns:a16="http://schemas.microsoft.com/office/drawing/2014/main" id="{0AB5556A-29A1-46CA-85B8-A0DCA0A6C9B0}"/>
              </a:ext>
            </a:extLst>
          </p:cNvPr>
          <p:cNvSpPr>
            <a:spLocks xmlns:a="http://schemas.openxmlformats.org/drawingml/2006/main" noGrp="1"/>
          </p:cNvSpPr>
          <p:nvPr/>
        </p:nvSpPr>
        <p:spPr>
          <a:xfrm xmlns:a="http://schemas.openxmlformats.org/drawingml/2006/main">
            <a:off x="7639050" y="1866900"/>
            <a:ext cx="3295650" cy="42291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18" name="BodyText">
            <a:extLst xmlns:a="http://schemas.openxmlformats.org/drawingml/2006/main">
              <a:ext uri="{FF2B5EF4-FFF2-40B4-BE49-F238E27FC236}">
                <a16:creationId xmlns:a16="http://schemas.microsoft.com/office/drawing/2014/main" id="{8CA36391-A896-42AB-87E5-52E61B7365AE}"/>
              </a:ext>
            </a:extLst>
          </p:cNvPr>
          <p:cNvSpPr>
            <a:spLocks xmlns:a="http://schemas.openxmlformats.org/drawingml/2006/main" noGrp="1"/>
          </p:cNvSpPr>
          <p:nvPr/>
        </p:nvSpPr>
        <p:spPr>
          <a:xfrm xmlns:a="http://schemas.openxmlformats.org/drawingml/2006/main">
            <a:off x="7810500" y="20383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F172A"/>
                </a:solidFill>
                <a:latin typeface="Aptos Display"/>
                <a:ea typeface="Aptos Display"/>
                <a:cs typeface="Aptos Display"/>
              </a:defRPr>
            </a:pPr>
            <a:r>
              <a:rPr sz="1650" b="1">
                <a:solidFill>
                  <a:srgbClr val="0F172A"/>
                </a:solidFill>
                <a:latin typeface="Aptos Display"/>
                <a:ea typeface="Aptos Display"/>
                <a:cs typeface="Aptos Display"/>
              </a:rPr>
              <a:t>Grand Est, Q2 2024</a:t>
            </a:r>
          </a:p>
        </p:txBody>
      </p:sp>
      <p:sp>
        <p:nvSpPr>
          <p:cNvPr id="19" name="SmallText">
            <a:extLst xmlns:a="http://schemas.openxmlformats.org/drawingml/2006/main">
              <a:ext uri="{FF2B5EF4-FFF2-40B4-BE49-F238E27FC236}">
                <a16:creationId xmlns:a16="http://schemas.microsoft.com/office/drawing/2014/main" id="{4BA1CC4F-7076-414A-B47B-5ECCE9D706A6}"/>
              </a:ext>
            </a:extLst>
          </p:cNvPr>
          <p:cNvSpPr>
            <a:spLocks xmlns:a="http://schemas.openxmlformats.org/drawingml/2006/main" noGrp="1"/>
          </p:cNvSpPr>
          <p:nvPr/>
        </p:nvSpPr>
        <p:spPr>
          <a:xfrm xmlns:a="http://schemas.openxmlformats.org/drawingml/2006/main">
            <a:off x="7810500" y="236220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Both 110 | Gaspar only 348 | JRC only 732</a:t>
            </a:r>
          </a:p>
        </p:txBody>
      </p:sp>
      <p:sp>
        <p:nvSpPr>
          <p:cNvPr id="20" name="ImageFrame">
            <a:extLst xmlns:a="http://schemas.openxmlformats.org/drawingml/2006/main">
              <a:ext uri="{FF2B5EF4-FFF2-40B4-BE49-F238E27FC236}">
                <a16:creationId xmlns:a16="http://schemas.microsoft.com/office/drawing/2014/main" id="{137769EB-E58A-4865-9FE0-D8B9C45973B4}"/>
              </a:ext>
            </a:extLst>
          </p:cNvPr>
          <p:cNvSpPr>
            <a:spLocks xmlns:a="http://schemas.openxmlformats.org/drawingml/2006/main" noGrp="1"/>
          </p:cNvSpPr>
          <p:nvPr/>
        </p:nvSpPr>
        <p:spPr>
          <a:xfrm xmlns:a="http://schemas.openxmlformats.org/drawingml/2006/main">
            <a:off x="7810500" y="2686050"/>
            <a:ext cx="2952750" cy="1905000"/>
          </a:xfrm>
          <a:prstGeom xmlns:a="http://schemas.openxmlformats.org/drawingml/2006/main" prst="rect">
            <a:avLst/>
          </a:prstGeom>
          <a:solidFill xmlns:a="http://schemas.openxmlformats.org/drawingml/2006/main">
            <a:srgbClr val="FBFBFB"/>
          </a:solidFill>
          <a:ln xmlns:a="http://schemas.openxmlformats.org/drawingml/2006/main" w="9525">
            <a:solidFill>
              <a:srgbClr val="D7CEC0"/>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98c37b139df4b40"/>
          <a:stretch xmlns:a="http://schemas.openxmlformats.org/drawingml/2006/main"/>
        </p:blipFill>
        <p:spPr>
          <a:xfrm xmlns:a="http://schemas.openxmlformats.org/drawingml/2006/main">
            <a:off x="7886700" y="3163134"/>
            <a:ext cx="2800350" cy="950833"/>
          </a:xfrm>
          <a:prstGeom xmlns:a="http://schemas.openxmlformats.org/drawingml/2006/main" prst="rect">
            <a:avLst/>
          </a:prstGeom>
        </p:spPr>
      </p:pic>
      <p:sp>
        <p:nvSpPr>
          <p:cNvPr id="22" name="BodyText">
            <a:extLst xmlns:a="http://schemas.openxmlformats.org/drawingml/2006/main">
              <a:ext uri="{FF2B5EF4-FFF2-40B4-BE49-F238E27FC236}">
                <a16:creationId xmlns:a16="http://schemas.microsoft.com/office/drawing/2014/main" id="{2A48D797-6E4A-4A10-B21E-9CDDD2FEF996}"/>
              </a:ext>
            </a:extLst>
          </p:cNvPr>
          <p:cNvSpPr>
            <a:spLocks xmlns:a="http://schemas.openxmlformats.org/drawingml/2006/main" noGrp="1"/>
          </p:cNvSpPr>
          <p:nvPr/>
        </p:nvSpPr>
        <p:spPr>
          <a:xfrm xmlns:a="http://schemas.openxmlformats.org/drawingml/2006/main">
            <a:off x="7810500" y="4762500"/>
            <a:ext cx="2952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A recent case with large disagreement in both directions, consistent with both flood-extent differences and timing effects.</a:t>
            </a:r>
          </a:p>
        </p:txBody>
      </p:sp>
      <p:sp>
        <p:nvSpPr>
          <p:cNvPr id="23" name="Rule">
            <a:extLst xmlns:a="http://schemas.openxmlformats.org/drawingml/2006/main">
              <a:ext uri="{FF2B5EF4-FFF2-40B4-BE49-F238E27FC236}">
                <a16:creationId xmlns:a16="http://schemas.microsoft.com/office/drawing/2014/main" id="{85D2BFE0-73E2-432B-8086-9E94BFFBEB53}"/>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D7CEC0"/>
          </a:solidFill>
          <a:ln xmlns:a="http://schemas.openxmlformats.org/drawingml/2006/main" w="0">
            <a:solidFill>
              <a:srgbClr val="000000">
                <a:alpha val="0"/>
              </a:srgbClr>
            </a:solidFill>
            <a:prstDash val="solid"/>
          </a:ln>
        </p:spPr>
      </p:sp>
      <p:sp>
        <p:nvSpPr>
          <p:cNvPr id="24" name="SmallText">
            <a:extLst xmlns:a="http://schemas.openxmlformats.org/drawingml/2006/main">
              <a:ext uri="{FF2B5EF4-FFF2-40B4-BE49-F238E27FC236}">
                <a16:creationId xmlns:a16="http://schemas.microsoft.com/office/drawing/2014/main" id="{AA2D5D42-AB89-41EF-8E15-9E5822436C25}"/>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Rendered audit figures live in docs/assets/gaspar_jrc_horizon_audit and are referenced by the bilingual horizon-audit report.</a:t>
            </a:r>
          </a:p>
        </p:txBody>
      </p:sp>
    </p:spTree>
    <p:extLst>
      <p:ext uri="{BB962C8B-B14F-4D97-AF65-F5344CB8AC3E}">
        <p14:creationId xmlns:p14="http://schemas.microsoft.com/office/powerpoint/2010/main" val="62224596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0272115F-F585-4AF1-B7AE-2A3B78F29A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1E8"/>
          </a:solidFill>
          <a:ln xmlns:a="http://schemas.openxmlformats.org/drawingml/2006/main" w="0">
            <a:solidFill>
              <a:srgbClr val="000000">
                <a:alpha val="0"/>
              </a:srgbClr>
            </a:solidFill>
            <a:prstDash val="solid"/>
          </a:ln>
        </p:spPr>
      </p:sp>
      <p:sp>
        <p:nvSpPr>
          <p:cNvPr id="2" name="Label">
            <a:extLst xmlns:a="http://schemas.openxmlformats.org/drawingml/2006/main">
              <a:ext uri="{FF2B5EF4-FFF2-40B4-BE49-F238E27FC236}">
                <a16:creationId xmlns:a16="http://schemas.microsoft.com/office/drawing/2014/main" id="{55F09DC0-32B6-427F-85CD-46860408ACEA}"/>
              </a:ext>
            </a:extLst>
          </p:cNvPr>
          <p:cNvSpPr>
            <a:spLocks xmlns:a="http://schemas.openxmlformats.org/drawingml/2006/main" noGrp="1"/>
          </p:cNvSpPr>
          <p:nvPr/>
        </p:nvSpPr>
        <p:spPr>
          <a:xfrm xmlns:a="http://schemas.openxmlformats.org/drawingml/2006/main">
            <a:off x="514350" y="4000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45A3C"/>
                </a:solidFill>
                <a:latin typeface="Aptos"/>
                <a:ea typeface="Aptos"/>
                <a:cs typeface="Aptos"/>
              </a:defRPr>
            </a:pPr>
            <a:r>
              <a:rPr sz="1350" b="1">
                <a:solidFill>
                  <a:srgbClr val="E45A3C"/>
                </a:solidFill>
                <a:latin typeface="Aptos"/>
                <a:ea typeface="Aptos"/>
                <a:cs typeface="Aptos"/>
              </a:rPr>
              <a:t>T20 CHECK</a:t>
            </a:r>
          </a:p>
        </p:txBody>
      </p:sp>
      <p:sp>
        <p:nvSpPr>
          <p:cNvPr id="3" name="Title">
            <a:extLst xmlns:a="http://schemas.openxmlformats.org/drawingml/2006/main">
              <a:ext uri="{FF2B5EF4-FFF2-40B4-BE49-F238E27FC236}">
                <a16:creationId xmlns:a16="http://schemas.microsoft.com/office/drawing/2014/main" id="{43CCD0F4-AFF1-42FF-A005-8D637382533A}"/>
              </a:ext>
            </a:extLst>
          </p:cNvPr>
          <p:cNvSpPr>
            <a:spLocks xmlns:a="http://schemas.openxmlformats.org/drawingml/2006/main" noGrp="1"/>
          </p:cNvSpPr>
          <p:nvPr/>
        </p:nvSpPr>
        <p:spPr>
          <a:xfrm xmlns:a="http://schemas.openxmlformats.org/drawingml/2006/main">
            <a:off x="514350" y="742950"/>
            <a:ext cx="10668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The T20 rule is operational, but positive local JRC hits are rare in the current sample</a:t>
            </a:r>
          </a:p>
        </p:txBody>
      </p:sp>
      <p:sp>
        <p:nvSpPr>
          <p:cNvPr id="4" name="MetricCard">
            <a:extLst xmlns:a="http://schemas.openxmlformats.org/drawingml/2006/main">
              <a:ext uri="{FF2B5EF4-FFF2-40B4-BE49-F238E27FC236}">
                <a16:creationId xmlns:a16="http://schemas.microsoft.com/office/drawing/2014/main" id="{C9DB4D16-EEB0-44B1-986E-73E1F791F945}"/>
              </a:ext>
            </a:extLst>
          </p:cNvPr>
          <p:cNvSpPr>
            <a:spLocks xmlns:a="http://schemas.openxmlformats.org/drawingml/2006/main" noGrp="1"/>
          </p:cNvSpPr>
          <p:nvPr/>
        </p:nvSpPr>
        <p:spPr>
          <a:xfrm xmlns:a="http://schemas.openxmlformats.org/drawingml/2006/main">
            <a:off x="514350" y="1771650"/>
            <a:ext cx="19431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7CEC0"/>
            </a:solidFill>
            <a:prstDash val="solid"/>
          </a:ln>
        </p:spPr>
      </p:sp>
      <p:sp>
        <p:nvSpPr>
          <p:cNvPr id="5" name="Rule">
            <a:extLst xmlns:a="http://schemas.openxmlformats.org/drawingml/2006/main">
              <a:ext uri="{FF2B5EF4-FFF2-40B4-BE49-F238E27FC236}">
                <a16:creationId xmlns:a16="http://schemas.microsoft.com/office/drawing/2014/main" id="{86EF2BE8-A5F3-4013-99CA-519FEAD49D1E}"/>
              </a:ext>
            </a:extLst>
          </p:cNvPr>
          <p:cNvSpPr>
            <a:spLocks xmlns:a="http://schemas.openxmlformats.org/drawingml/2006/main" noGrp="1"/>
          </p:cNvSpPr>
          <p:nvPr/>
        </p:nvSpPr>
        <p:spPr>
          <a:xfrm xmlns:a="http://schemas.openxmlformats.org/drawingml/2006/main">
            <a:off x="514350" y="1771650"/>
            <a:ext cx="1943100" cy="57150"/>
          </a:xfrm>
          <a:prstGeom xmlns:a="http://schemas.openxmlformats.org/drawingml/2006/main" prst="rect">
            <a:avLst/>
          </a:prstGeom>
          <a:solidFill xmlns:a="http://schemas.openxmlformats.org/drawingml/2006/main">
            <a:srgbClr val="1E293B"/>
          </a:solidFill>
          <a:ln xmlns:a="http://schemas.openxmlformats.org/drawingml/2006/main" w="0">
            <a:solidFill>
              <a:srgbClr val="000000">
                <a:alpha val="0"/>
              </a:srgbClr>
            </a:solidFill>
            <a:prstDash val="solid"/>
          </a:ln>
        </p:spPr>
      </p:sp>
      <p:sp>
        <p:nvSpPr>
          <p:cNvPr id="6" name="SmallText">
            <a:extLst xmlns:a="http://schemas.openxmlformats.org/drawingml/2006/main">
              <a:ext uri="{FF2B5EF4-FFF2-40B4-BE49-F238E27FC236}">
                <a16:creationId xmlns:a16="http://schemas.microsoft.com/office/drawing/2014/main" id="{55DFA106-2907-4519-9160-F67EB584026C}"/>
              </a:ext>
            </a:extLst>
          </p:cNvPr>
          <p:cNvSpPr>
            <a:spLocks xmlns:a="http://schemas.openxmlformats.org/drawingml/2006/main" noGrp="1"/>
          </p:cNvSpPr>
          <p:nvPr/>
        </p:nvSpPr>
        <p:spPr>
          <a:xfrm xmlns:a="http://schemas.openxmlformats.org/drawingml/2006/main">
            <a:off x="685800" y="19431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ROWS CHECKED</a:t>
            </a:r>
          </a:p>
        </p:txBody>
      </p:sp>
      <p:sp>
        <p:nvSpPr>
          <p:cNvPr id="7" name="MetricValue">
            <a:extLst xmlns:a="http://schemas.openxmlformats.org/drawingml/2006/main">
              <a:ext uri="{FF2B5EF4-FFF2-40B4-BE49-F238E27FC236}">
                <a16:creationId xmlns:a16="http://schemas.microsoft.com/office/drawing/2014/main" id="{2F3E4D3E-A751-4FE9-93E1-64F836A3D468}"/>
              </a:ext>
            </a:extLst>
          </p:cNvPr>
          <p:cNvSpPr>
            <a:spLocks xmlns:a="http://schemas.openxmlformats.org/drawingml/2006/main" noGrp="1"/>
          </p:cNvSpPr>
          <p:nvPr/>
        </p:nvSpPr>
        <p:spPr>
          <a:xfrm xmlns:a="http://schemas.openxmlformats.org/drawingml/2006/main">
            <a:off x="685800" y="2209800"/>
            <a:ext cx="16002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49</a:t>
            </a:r>
          </a:p>
        </p:txBody>
      </p:sp>
      <p:sp>
        <p:nvSpPr>
          <p:cNvPr id="8" name="MetricCard">
            <a:extLst xmlns:a="http://schemas.openxmlformats.org/drawingml/2006/main">
              <a:ext uri="{FF2B5EF4-FFF2-40B4-BE49-F238E27FC236}">
                <a16:creationId xmlns:a16="http://schemas.microsoft.com/office/drawing/2014/main" id="{C6F53587-12A1-4705-AA93-F7FD892A25F9}"/>
              </a:ext>
            </a:extLst>
          </p:cNvPr>
          <p:cNvSpPr>
            <a:spLocks xmlns:a="http://schemas.openxmlformats.org/drawingml/2006/main" noGrp="1"/>
          </p:cNvSpPr>
          <p:nvPr/>
        </p:nvSpPr>
        <p:spPr>
          <a:xfrm xmlns:a="http://schemas.openxmlformats.org/drawingml/2006/main">
            <a:off x="2647950" y="1771650"/>
            <a:ext cx="1943100" cy="1028700"/>
          </a:xfrm>
          <a:prstGeom xmlns:a="http://schemas.openxmlformats.org/drawingml/2006/main" prst="rect">
            <a:avLst/>
          </a:prstGeom>
          <a:solidFill xmlns:a="http://schemas.openxmlformats.org/drawingml/2006/main">
            <a:srgbClr val="EEF3FB"/>
          </a:solidFill>
          <a:ln xmlns:a="http://schemas.openxmlformats.org/drawingml/2006/main" w="9525">
            <a:solidFill>
              <a:srgbClr val="D7CEC0"/>
            </a:solidFill>
            <a:prstDash val="solid"/>
          </a:ln>
        </p:spPr>
      </p:sp>
      <p:sp>
        <p:nvSpPr>
          <p:cNvPr id="9" name="Rule">
            <a:extLst xmlns:a="http://schemas.openxmlformats.org/drawingml/2006/main">
              <a:ext uri="{FF2B5EF4-FFF2-40B4-BE49-F238E27FC236}">
                <a16:creationId xmlns:a16="http://schemas.microsoft.com/office/drawing/2014/main" id="{26F25E00-620C-42D0-AC49-619200DDC85B}"/>
              </a:ext>
            </a:extLst>
          </p:cNvPr>
          <p:cNvSpPr>
            <a:spLocks xmlns:a="http://schemas.openxmlformats.org/drawingml/2006/main" noGrp="1"/>
          </p:cNvSpPr>
          <p:nvPr/>
        </p:nvSpPr>
        <p:spPr>
          <a:xfrm xmlns:a="http://schemas.openxmlformats.org/drawingml/2006/main">
            <a:off x="2647950" y="1771650"/>
            <a:ext cx="1943100" cy="571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10" name="SmallText">
            <a:extLst xmlns:a="http://schemas.openxmlformats.org/drawingml/2006/main">
              <a:ext uri="{FF2B5EF4-FFF2-40B4-BE49-F238E27FC236}">
                <a16:creationId xmlns:a16="http://schemas.microsoft.com/office/drawing/2014/main" id="{F0AEC115-47AF-4E51-A08E-B125A231483A}"/>
              </a:ext>
            </a:extLst>
          </p:cNvPr>
          <p:cNvSpPr>
            <a:spLocks xmlns:a="http://schemas.openxmlformats.org/drawingml/2006/main" noGrp="1"/>
          </p:cNvSpPr>
          <p:nvPr/>
        </p:nvSpPr>
        <p:spPr>
          <a:xfrm xmlns:a="http://schemas.openxmlformats.org/drawingml/2006/main">
            <a:off x="2819400" y="19431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LAU MATCHED</a:t>
            </a:r>
          </a:p>
        </p:txBody>
      </p:sp>
      <p:sp>
        <p:nvSpPr>
          <p:cNvPr id="11" name="MetricValue">
            <a:extLst xmlns:a="http://schemas.openxmlformats.org/drawingml/2006/main">
              <a:ext uri="{FF2B5EF4-FFF2-40B4-BE49-F238E27FC236}">
                <a16:creationId xmlns:a16="http://schemas.microsoft.com/office/drawing/2014/main" id="{F5D64FD1-E563-444D-9757-41479BE841E9}"/>
              </a:ext>
            </a:extLst>
          </p:cNvPr>
          <p:cNvSpPr>
            <a:spLocks xmlns:a="http://schemas.openxmlformats.org/drawingml/2006/main" noGrp="1"/>
          </p:cNvSpPr>
          <p:nvPr/>
        </p:nvSpPr>
        <p:spPr>
          <a:xfrm xmlns:a="http://schemas.openxmlformats.org/drawingml/2006/main">
            <a:off x="2819400" y="2209800"/>
            <a:ext cx="16002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44</a:t>
            </a:r>
          </a:p>
        </p:txBody>
      </p:sp>
      <p:sp>
        <p:nvSpPr>
          <p:cNvPr id="12" name="MetricCard">
            <a:extLst xmlns:a="http://schemas.openxmlformats.org/drawingml/2006/main">
              <a:ext uri="{FF2B5EF4-FFF2-40B4-BE49-F238E27FC236}">
                <a16:creationId xmlns:a16="http://schemas.microsoft.com/office/drawing/2014/main" id="{EDE961C3-D38A-4E98-B9FE-A833197D622A}"/>
              </a:ext>
            </a:extLst>
          </p:cNvPr>
          <p:cNvSpPr>
            <a:spLocks xmlns:a="http://schemas.openxmlformats.org/drawingml/2006/main" noGrp="1"/>
          </p:cNvSpPr>
          <p:nvPr/>
        </p:nvSpPr>
        <p:spPr>
          <a:xfrm xmlns:a="http://schemas.openxmlformats.org/drawingml/2006/main">
            <a:off x="4781550" y="1771650"/>
            <a:ext cx="1943100" cy="1028700"/>
          </a:xfrm>
          <a:prstGeom xmlns:a="http://schemas.openxmlformats.org/drawingml/2006/main" prst="rect">
            <a:avLst/>
          </a:prstGeom>
          <a:solidFill xmlns:a="http://schemas.openxmlformats.org/drawingml/2006/main">
            <a:srgbClr val="EAF5F3"/>
          </a:solidFill>
          <a:ln xmlns:a="http://schemas.openxmlformats.org/drawingml/2006/main" w="9525">
            <a:solidFill>
              <a:srgbClr val="D7CEC0"/>
            </a:solidFill>
            <a:prstDash val="solid"/>
          </a:ln>
        </p:spPr>
      </p:sp>
      <p:sp>
        <p:nvSpPr>
          <p:cNvPr id="13" name="Rule">
            <a:extLst xmlns:a="http://schemas.openxmlformats.org/drawingml/2006/main">
              <a:ext uri="{FF2B5EF4-FFF2-40B4-BE49-F238E27FC236}">
                <a16:creationId xmlns:a16="http://schemas.microsoft.com/office/drawing/2014/main" id="{56B9E2E1-AA65-4B2B-9CBD-1E53CD90EFBA}"/>
              </a:ext>
            </a:extLst>
          </p:cNvPr>
          <p:cNvSpPr>
            <a:spLocks xmlns:a="http://schemas.openxmlformats.org/drawingml/2006/main" noGrp="1"/>
          </p:cNvSpPr>
          <p:nvPr/>
        </p:nvSpPr>
        <p:spPr>
          <a:xfrm xmlns:a="http://schemas.openxmlformats.org/drawingml/2006/main">
            <a:off x="4781550" y="1771650"/>
            <a:ext cx="19431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14" name="SmallText">
            <a:extLst xmlns:a="http://schemas.openxmlformats.org/drawingml/2006/main">
              <a:ext uri="{FF2B5EF4-FFF2-40B4-BE49-F238E27FC236}">
                <a16:creationId xmlns:a16="http://schemas.microsoft.com/office/drawing/2014/main" id="{ED002DD8-E977-40E5-91E4-538ECE8D6AE5}"/>
              </a:ext>
            </a:extLst>
          </p:cNvPr>
          <p:cNvSpPr>
            <a:spLocks xmlns:a="http://schemas.openxmlformats.org/drawingml/2006/main" noGrp="1"/>
          </p:cNvSpPr>
          <p:nvPr/>
        </p:nvSpPr>
        <p:spPr>
          <a:xfrm xmlns:a="http://schemas.openxmlformats.org/drawingml/2006/main">
            <a:off x="4953000" y="19431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ANY JRC EVENT IN LAU</a:t>
            </a:r>
          </a:p>
        </p:txBody>
      </p:sp>
      <p:sp>
        <p:nvSpPr>
          <p:cNvPr id="15" name="MetricValue">
            <a:extLst xmlns:a="http://schemas.openxmlformats.org/drawingml/2006/main">
              <a:ext uri="{FF2B5EF4-FFF2-40B4-BE49-F238E27FC236}">
                <a16:creationId xmlns:a16="http://schemas.microsoft.com/office/drawing/2014/main" id="{53BFAD57-7BFC-4746-BBA0-526D1F460CFB}"/>
              </a:ext>
            </a:extLst>
          </p:cNvPr>
          <p:cNvSpPr>
            <a:spLocks xmlns:a="http://schemas.openxmlformats.org/drawingml/2006/main" noGrp="1"/>
          </p:cNvSpPr>
          <p:nvPr/>
        </p:nvSpPr>
        <p:spPr>
          <a:xfrm xmlns:a="http://schemas.openxmlformats.org/drawingml/2006/main">
            <a:off x="4953000" y="2209800"/>
            <a:ext cx="16002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8</a:t>
            </a:r>
          </a:p>
        </p:txBody>
      </p:sp>
      <p:sp>
        <p:nvSpPr>
          <p:cNvPr id="16" name="MetricCard">
            <a:extLst xmlns:a="http://schemas.openxmlformats.org/drawingml/2006/main">
              <a:ext uri="{FF2B5EF4-FFF2-40B4-BE49-F238E27FC236}">
                <a16:creationId xmlns:a16="http://schemas.microsoft.com/office/drawing/2014/main" id="{63B0BAEF-C0BF-419B-B952-6B22E628C44D}"/>
              </a:ext>
            </a:extLst>
          </p:cNvPr>
          <p:cNvSpPr>
            <a:spLocks xmlns:a="http://schemas.openxmlformats.org/drawingml/2006/main" noGrp="1"/>
          </p:cNvSpPr>
          <p:nvPr/>
        </p:nvSpPr>
        <p:spPr>
          <a:xfrm xmlns:a="http://schemas.openxmlformats.org/drawingml/2006/main">
            <a:off x="6915150" y="1771650"/>
            <a:ext cx="1943100" cy="1028700"/>
          </a:xfrm>
          <a:prstGeom xmlns:a="http://schemas.openxmlformats.org/drawingml/2006/main" prst="rect">
            <a:avLst/>
          </a:prstGeom>
          <a:solidFill xmlns:a="http://schemas.openxmlformats.org/drawingml/2006/main">
            <a:srgbClr val="FBEEE9"/>
          </a:solidFill>
          <a:ln xmlns:a="http://schemas.openxmlformats.org/drawingml/2006/main" w="9525">
            <a:solidFill>
              <a:srgbClr val="D7CEC0"/>
            </a:solidFill>
            <a:prstDash val="solid"/>
          </a:ln>
        </p:spPr>
      </p:sp>
      <p:sp>
        <p:nvSpPr>
          <p:cNvPr id="17" name="Rule">
            <a:extLst xmlns:a="http://schemas.openxmlformats.org/drawingml/2006/main">
              <a:ext uri="{FF2B5EF4-FFF2-40B4-BE49-F238E27FC236}">
                <a16:creationId xmlns:a16="http://schemas.microsoft.com/office/drawing/2014/main" id="{1CC644F6-E55D-4097-B01E-7BC50FE3F943}"/>
              </a:ext>
            </a:extLst>
          </p:cNvPr>
          <p:cNvSpPr>
            <a:spLocks xmlns:a="http://schemas.openxmlformats.org/drawingml/2006/main" noGrp="1"/>
          </p:cNvSpPr>
          <p:nvPr/>
        </p:nvSpPr>
        <p:spPr>
          <a:xfrm xmlns:a="http://schemas.openxmlformats.org/drawingml/2006/main">
            <a:off x="6915150" y="1771650"/>
            <a:ext cx="1943100" cy="571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8" name="SmallText">
            <a:extLst xmlns:a="http://schemas.openxmlformats.org/drawingml/2006/main">
              <a:ext uri="{FF2B5EF4-FFF2-40B4-BE49-F238E27FC236}">
                <a16:creationId xmlns:a16="http://schemas.microsoft.com/office/drawing/2014/main" id="{3DC2CF8F-9A31-4333-8B64-C5FC0FDD7A5D}"/>
              </a:ext>
            </a:extLst>
          </p:cNvPr>
          <p:cNvSpPr>
            <a:spLocks xmlns:a="http://schemas.openxmlformats.org/drawingml/2006/main" noGrp="1"/>
          </p:cNvSpPr>
          <p:nvPr/>
        </p:nvSpPr>
        <p:spPr>
          <a:xfrm xmlns:a="http://schemas.openxmlformats.org/drawingml/2006/main">
            <a:off x="7086600" y="19431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POSITIVE LOCAL HIT</a:t>
            </a:r>
          </a:p>
        </p:txBody>
      </p:sp>
      <p:sp>
        <p:nvSpPr>
          <p:cNvPr id="19" name="MetricValue">
            <a:extLst xmlns:a="http://schemas.openxmlformats.org/drawingml/2006/main">
              <a:ext uri="{FF2B5EF4-FFF2-40B4-BE49-F238E27FC236}">
                <a16:creationId xmlns:a16="http://schemas.microsoft.com/office/drawing/2014/main" id="{FA5A0942-F655-45B9-A5A5-3DF46141B496}"/>
              </a:ext>
            </a:extLst>
          </p:cNvPr>
          <p:cNvSpPr>
            <a:spLocks xmlns:a="http://schemas.openxmlformats.org/drawingml/2006/main" noGrp="1"/>
          </p:cNvSpPr>
          <p:nvPr/>
        </p:nvSpPr>
        <p:spPr>
          <a:xfrm xmlns:a="http://schemas.openxmlformats.org/drawingml/2006/main">
            <a:off x="7086600" y="2209800"/>
            <a:ext cx="16002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1</a:t>
            </a:r>
          </a:p>
        </p:txBody>
      </p:sp>
      <p:sp>
        <p:nvSpPr>
          <p:cNvPr id="20" name="MetricCard">
            <a:extLst xmlns:a="http://schemas.openxmlformats.org/drawingml/2006/main">
              <a:ext uri="{FF2B5EF4-FFF2-40B4-BE49-F238E27FC236}">
                <a16:creationId xmlns:a16="http://schemas.microsoft.com/office/drawing/2014/main" id="{87A74465-F1A6-47AE-AEEF-43CA8221D8F0}"/>
              </a:ext>
            </a:extLst>
          </p:cNvPr>
          <p:cNvSpPr>
            <a:spLocks xmlns:a="http://schemas.openxmlformats.org/drawingml/2006/main" noGrp="1"/>
          </p:cNvSpPr>
          <p:nvPr/>
        </p:nvSpPr>
        <p:spPr>
          <a:xfrm xmlns:a="http://schemas.openxmlformats.org/drawingml/2006/main">
            <a:off x="9048750" y="1771650"/>
            <a:ext cx="1943100" cy="1028700"/>
          </a:xfrm>
          <a:prstGeom xmlns:a="http://schemas.openxmlformats.org/drawingml/2006/main" prst="rect">
            <a:avLst/>
          </a:prstGeom>
          <a:solidFill xmlns:a="http://schemas.openxmlformats.org/drawingml/2006/main">
            <a:srgbClr val="F7F1D9"/>
          </a:solidFill>
          <a:ln xmlns:a="http://schemas.openxmlformats.org/drawingml/2006/main" w="9525">
            <a:solidFill>
              <a:srgbClr val="D7CEC0"/>
            </a:solidFill>
            <a:prstDash val="solid"/>
          </a:ln>
        </p:spPr>
      </p:sp>
      <p:sp>
        <p:nvSpPr>
          <p:cNvPr id="21" name="Rule">
            <a:extLst xmlns:a="http://schemas.openxmlformats.org/drawingml/2006/main">
              <a:ext uri="{FF2B5EF4-FFF2-40B4-BE49-F238E27FC236}">
                <a16:creationId xmlns:a16="http://schemas.microsoft.com/office/drawing/2014/main" id="{E159CC04-B341-4456-BD3A-AD5283AA13F1}"/>
              </a:ext>
            </a:extLst>
          </p:cNvPr>
          <p:cNvSpPr>
            <a:spLocks xmlns:a="http://schemas.openxmlformats.org/drawingml/2006/main" noGrp="1"/>
          </p:cNvSpPr>
          <p:nvPr/>
        </p:nvSpPr>
        <p:spPr>
          <a:xfrm xmlns:a="http://schemas.openxmlformats.org/drawingml/2006/main">
            <a:off x="9048750" y="1771650"/>
            <a:ext cx="1943100" cy="571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22" name="SmallText">
            <a:extLst xmlns:a="http://schemas.openxmlformats.org/drawingml/2006/main">
              <a:ext uri="{FF2B5EF4-FFF2-40B4-BE49-F238E27FC236}">
                <a16:creationId xmlns:a16="http://schemas.microsoft.com/office/drawing/2014/main" id="{88054715-D1DF-437B-91D1-0E7BF48923D4}"/>
              </a:ext>
            </a:extLst>
          </p:cNvPr>
          <p:cNvSpPr>
            <a:spLocks xmlns:a="http://schemas.openxmlformats.org/drawingml/2006/main" noGrp="1"/>
          </p:cNvSpPr>
          <p:nvPr/>
        </p:nvSpPr>
        <p:spPr>
          <a:xfrm xmlns:a="http://schemas.openxmlformats.org/drawingml/2006/main">
            <a:off x="9220200" y="19431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POSITIVE EVENT HITS</a:t>
            </a:r>
          </a:p>
        </p:txBody>
      </p:sp>
      <p:sp>
        <p:nvSpPr>
          <p:cNvPr id="23" name="MetricValue">
            <a:extLst xmlns:a="http://schemas.openxmlformats.org/drawingml/2006/main">
              <a:ext uri="{FF2B5EF4-FFF2-40B4-BE49-F238E27FC236}">
                <a16:creationId xmlns:a16="http://schemas.microsoft.com/office/drawing/2014/main" id="{00F45EE2-3E07-4787-89C8-FBD5B9FF2D0B}"/>
              </a:ext>
            </a:extLst>
          </p:cNvPr>
          <p:cNvSpPr>
            <a:spLocks xmlns:a="http://schemas.openxmlformats.org/drawingml/2006/main" noGrp="1"/>
          </p:cNvSpPr>
          <p:nvPr/>
        </p:nvSpPr>
        <p:spPr>
          <a:xfrm xmlns:a="http://schemas.openxmlformats.org/drawingml/2006/main">
            <a:off x="9220200" y="2209800"/>
            <a:ext cx="16002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172A"/>
                </a:solidFill>
                <a:latin typeface="Aptos Display"/>
                <a:ea typeface="Aptos Display"/>
                <a:cs typeface="Aptos Display"/>
              </a:defRPr>
            </a:pPr>
            <a:r>
              <a:rPr sz="2100" b="1">
                <a:solidFill>
                  <a:srgbClr val="0F172A"/>
                </a:solidFill>
                <a:latin typeface="Aptos Display"/>
                <a:ea typeface="Aptos Display"/>
                <a:cs typeface="Aptos Display"/>
              </a:rPr>
              <a:t>4</a:t>
            </a:r>
          </a:p>
        </p:txBody>
      </p:sp>
      <p:sp>
        <p:nvSpPr>
          <p:cNvPr id="24" name="RulePanel">
            <a:extLst xmlns:a="http://schemas.openxmlformats.org/drawingml/2006/main">
              <a:ext uri="{FF2B5EF4-FFF2-40B4-BE49-F238E27FC236}">
                <a16:creationId xmlns:a16="http://schemas.microsoft.com/office/drawing/2014/main" id="{86C741DA-3D56-4892-AB87-8CF5E2A3E1EB}"/>
              </a:ext>
            </a:extLst>
          </p:cNvPr>
          <p:cNvSpPr>
            <a:spLocks xmlns:a="http://schemas.openxmlformats.org/drawingml/2006/main" noGrp="1"/>
          </p:cNvSpPr>
          <p:nvPr/>
        </p:nvSpPr>
        <p:spPr>
          <a:xfrm xmlns:a="http://schemas.openxmlformats.org/drawingml/2006/main">
            <a:off x="514350" y="3086100"/>
            <a:ext cx="4762500" cy="28765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25" name="BodyText">
            <a:extLst xmlns:a="http://schemas.openxmlformats.org/drawingml/2006/main">
              <a:ext uri="{FF2B5EF4-FFF2-40B4-BE49-F238E27FC236}">
                <a16:creationId xmlns:a16="http://schemas.microsoft.com/office/drawing/2014/main" id="{BE57CF43-9CF2-4E35-949F-04AED5E6EE9A}"/>
              </a:ext>
            </a:extLst>
          </p:cNvPr>
          <p:cNvSpPr>
            <a:spLocks xmlns:a="http://schemas.openxmlformats.org/drawingml/2006/main" noGrp="1"/>
          </p:cNvSpPr>
          <p:nvPr/>
        </p:nvSpPr>
        <p:spPr>
          <a:xfrm xmlns:a="http://schemas.openxmlformats.org/drawingml/2006/main">
            <a:off x="742950" y="32956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Display"/>
                <a:ea typeface="Aptos Display"/>
                <a:cs typeface="Aptos Display"/>
              </a:defRPr>
            </a:pPr>
            <a:r>
              <a:rPr sz="1725" b="1">
                <a:solidFill>
                  <a:srgbClr val="0F172A"/>
                </a:solidFill>
                <a:latin typeface="Aptos Display"/>
                <a:ea typeface="Aptos Display"/>
                <a:cs typeface="Aptos Display"/>
              </a:rPr>
              <a:t>Applied rule</a:t>
            </a:r>
          </a:p>
        </p:txBody>
      </p:sp>
      <p:sp>
        <p:nvSpPr>
          <p:cNvPr id="26" name="Bullet1">
            <a:extLst xmlns:a="http://schemas.openxmlformats.org/drawingml/2006/main">
              <a:ext uri="{FF2B5EF4-FFF2-40B4-BE49-F238E27FC236}">
                <a16:creationId xmlns:a16="http://schemas.microsoft.com/office/drawing/2014/main" id="{E1F2FC9A-406E-4BE0-8327-CD1EC99717CE}"/>
              </a:ext>
            </a:extLst>
          </p:cNvPr>
          <p:cNvSpPr>
            <a:spLocks xmlns:a="http://schemas.openxmlformats.org/drawingml/2006/main" noGrp="1"/>
          </p:cNvSpPr>
          <p:nvPr/>
        </p:nvSpPr>
        <p:spPr>
          <a:xfrm xmlns:a="http://schemas.openxmlformats.org/drawingml/2006/main">
            <a:off x="742950" y="381000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27" name="BulletText1">
            <a:extLst xmlns:a="http://schemas.openxmlformats.org/drawingml/2006/main">
              <a:ext uri="{FF2B5EF4-FFF2-40B4-BE49-F238E27FC236}">
                <a16:creationId xmlns:a16="http://schemas.microsoft.com/office/drawing/2014/main" id="{B8B7F35A-6BAA-4FA3-8505-7F28DD5A4EF0}"/>
              </a:ext>
            </a:extLst>
          </p:cNvPr>
          <p:cNvSpPr>
            <a:spLocks xmlns:a="http://schemas.openxmlformats.org/drawingml/2006/main" noGrp="1"/>
          </p:cNvSpPr>
          <p:nvPr/>
        </p:nvSpPr>
        <p:spPr>
          <a:xfrm xmlns:a="http://schemas.openxmlformats.org/drawingml/2006/main">
            <a:off x="952500" y="3733800"/>
            <a:ext cx="39624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Map each LAT / LONG point to a French LAU.</a:t>
            </a:r>
          </a:p>
        </p:txBody>
      </p:sp>
      <p:sp>
        <p:nvSpPr>
          <p:cNvPr id="28" name="Bullet2">
            <a:extLst xmlns:a="http://schemas.openxmlformats.org/drawingml/2006/main">
              <a:ext uri="{FF2B5EF4-FFF2-40B4-BE49-F238E27FC236}">
                <a16:creationId xmlns:a16="http://schemas.microsoft.com/office/drawing/2014/main" id="{6809E849-5851-4699-B5E9-96365C6DC115}"/>
              </a:ext>
            </a:extLst>
          </p:cNvPr>
          <p:cNvSpPr>
            <a:spLocks xmlns:a="http://schemas.openxmlformats.org/drawingml/2006/main" noGrp="1"/>
          </p:cNvSpPr>
          <p:nvPr/>
        </p:nvSpPr>
        <p:spPr>
          <a:xfrm xmlns:a="http://schemas.openxmlformats.org/drawingml/2006/main">
            <a:off x="742950" y="436245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29" name="BulletText2">
            <a:extLst xmlns:a="http://schemas.openxmlformats.org/drawingml/2006/main">
              <a:ext uri="{FF2B5EF4-FFF2-40B4-BE49-F238E27FC236}">
                <a16:creationId xmlns:a16="http://schemas.microsoft.com/office/drawing/2014/main" id="{984F6D7A-E799-4FB2-A5EA-3CA6A44C3567}"/>
              </a:ext>
            </a:extLst>
          </p:cNvPr>
          <p:cNvSpPr>
            <a:spLocks xmlns:a="http://schemas.openxmlformats.org/drawingml/2006/main" noGrp="1"/>
          </p:cNvSpPr>
          <p:nvPr/>
        </p:nvSpPr>
        <p:spPr>
          <a:xfrm xmlns:a="http://schemas.openxmlformats.org/drawingml/2006/main">
            <a:off x="952500" y="4286250"/>
            <a:ext cx="39624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Keep only JRC events touching that LAU.</a:t>
            </a:r>
          </a:p>
        </p:txBody>
      </p:sp>
      <p:sp>
        <p:nvSpPr>
          <p:cNvPr id="30" name="Bullet3">
            <a:extLst xmlns:a="http://schemas.openxmlformats.org/drawingml/2006/main">
              <a:ext uri="{FF2B5EF4-FFF2-40B4-BE49-F238E27FC236}">
                <a16:creationId xmlns:a16="http://schemas.microsoft.com/office/drawing/2014/main" id="{8EA78F1C-3B52-4A28-AACC-0EE0A4D930D5}"/>
              </a:ext>
            </a:extLst>
          </p:cNvPr>
          <p:cNvSpPr>
            <a:spLocks xmlns:a="http://schemas.openxmlformats.org/drawingml/2006/main" noGrp="1"/>
          </p:cNvSpPr>
          <p:nvPr/>
        </p:nvSpPr>
        <p:spPr>
          <a:xfrm xmlns:a="http://schemas.openxmlformats.org/drawingml/2006/main">
            <a:off x="742950" y="491490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31" name="BulletText3">
            <a:extLst xmlns:a="http://schemas.openxmlformats.org/drawingml/2006/main">
              <a:ext uri="{FF2B5EF4-FFF2-40B4-BE49-F238E27FC236}">
                <a16:creationId xmlns:a16="http://schemas.microsoft.com/office/drawing/2014/main" id="{AF463C43-A97B-4E95-8C21-B6A037DBF9A0}"/>
              </a:ext>
            </a:extLst>
          </p:cNvPr>
          <p:cNvSpPr>
            <a:spLocks xmlns:a="http://schemas.openxmlformats.org/drawingml/2006/main" noGrp="1"/>
          </p:cNvSpPr>
          <p:nvPr/>
        </p:nvSpPr>
        <p:spPr>
          <a:xfrm xmlns:a="http://schemas.openxmlformats.org/drawingml/2006/main">
            <a:off x="952500" y="4838700"/>
            <a:ext cx="39624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Use full history up to Closed_Default_Date, or Cut_off_Date when needed.</a:t>
            </a:r>
          </a:p>
        </p:txBody>
      </p:sp>
      <p:sp>
        <p:nvSpPr>
          <p:cNvPr id="32" name="Bullet4">
            <a:extLst xmlns:a="http://schemas.openxmlformats.org/drawingml/2006/main">
              <a:ext uri="{FF2B5EF4-FFF2-40B4-BE49-F238E27FC236}">
                <a16:creationId xmlns:a16="http://schemas.microsoft.com/office/drawing/2014/main" id="{E29E6241-F513-4EC5-BBC4-EAACBAC55980}"/>
              </a:ext>
            </a:extLst>
          </p:cNvPr>
          <p:cNvSpPr>
            <a:spLocks xmlns:a="http://schemas.openxmlformats.org/drawingml/2006/main" noGrp="1"/>
          </p:cNvSpPr>
          <p:nvPr/>
        </p:nvSpPr>
        <p:spPr>
          <a:xfrm xmlns:a="http://schemas.openxmlformats.org/drawingml/2006/main">
            <a:off x="742950" y="546735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33" name="BulletText4">
            <a:extLst xmlns:a="http://schemas.openxmlformats.org/drawingml/2006/main">
              <a:ext uri="{FF2B5EF4-FFF2-40B4-BE49-F238E27FC236}">
                <a16:creationId xmlns:a16="http://schemas.microsoft.com/office/drawing/2014/main" id="{207E3379-6311-4006-A28C-F80BADE0745C}"/>
              </a:ext>
            </a:extLst>
          </p:cNvPr>
          <p:cNvSpPr>
            <a:spLocks xmlns:a="http://schemas.openxmlformats.org/drawingml/2006/main" noGrp="1"/>
          </p:cNvSpPr>
          <p:nvPr/>
        </p:nvSpPr>
        <p:spPr>
          <a:xfrm xmlns:a="http://schemas.openxmlformats.org/drawingml/2006/main">
            <a:off x="952500" y="5391150"/>
            <a:ext cx="39624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275" b="0">
                <a:solidFill>
                  <a:srgbClr val="0F172A"/>
                </a:solidFill>
                <a:latin typeface="Aptos"/>
                <a:ea typeface="Aptos"/>
                <a:cs typeface="Aptos"/>
              </a:defRPr>
            </a:pPr>
            <a:r>
              <a:rPr sz="1275" b="0">
                <a:solidFill>
                  <a:srgbClr val="0F172A"/>
                </a:solidFill>
                <a:latin typeface="Aptos"/>
                <a:ea typeface="Aptos"/>
                <a:cs typeface="Aptos"/>
              </a:rPr>
              <a:t>Check local flood pixels in a 40 m point buffer and a 1 km surrounding buffer.</a:t>
            </a:r>
          </a:p>
        </p:txBody>
      </p:sp>
      <p:sp>
        <p:nvSpPr>
          <p:cNvPr id="34" name="DecisionPanel">
            <a:extLst xmlns:a="http://schemas.openxmlformats.org/drawingml/2006/main">
              <a:ext uri="{FF2B5EF4-FFF2-40B4-BE49-F238E27FC236}">
                <a16:creationId xmlns:a16="http://schemas.microsoft.com/office/drawing/2014/main" id="{6D56A7D1-1910-46CC-8492-F897F88B77CB}"/>
              </a:ext>
            </a:extLst>
          </p:cNvPr>
          <p:cNvSpPr>
            <a:spLocks xmlns:a="http://schemas.openxmlformats.org/drawingml/2006/main" noGrp="1"/>
          </p:cNvSpPr>
          <p:nvPr/>
        </p:nvSpPr>
        <p:spPr>
          <a:xfrm xmlns:a="http://schemas.openxmlformats.org/drawingml/2006/main">
            <a:off x="5505450" y="3086100"/>
            <a:ext cx="5638800" cy="28765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35" name="BodyText">
            <a:extLst xmlns:a="http://schemas.openxmlformats.org/drawingml/2006/main">
              <a:ext uri="{FF2B5EF4-FFF2-40B4-BE49-F238E27FC236}">
                <a16:creationId xmlns:a16="http://schemas.microsoft.com/office/drawing/2014/main" id="{154115BA-92FA-41B3-A8FA-642CAD909600}"/>
              </a:ext>
            </a:extLst>
          </p:cNvPr>
          <p:cNvSpPr>
            <a:spLocks xmlns:a="http://schemas.openxmlformats.org/drawingml/2006/main" noGrp="1"/>
          </p:cNvSpPr>
          <p:nvPr/>
        </p:nvSpPr>
        <p:spPr>
          <a:xfrm xmlns:a="http://schemas.openxmlformats.org/drawingml/2006/main">
            <a:off x="5734050" y="32956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Display"/>
                <a:ea typeface="Aptos Display"/>
                <a:cs typeface="Aptos Display"/>
              </a:defRPr>
            </a:pPr>
            <a:r>
              <a:rPr sz="1725" b="1">
                <a:solidFill>
                  <a:srgbClr val="0F172A"/>
                </a:solidFill>
                <a:latin typeface="Aptos Display"/>
                <a:ea typeface="Aptos Display"/>
                <a:cs typeface="Aptos Display"/>
              </a:rPr>
              <a:t>Decision-path breakdown</a:t>
            </a:r>
          </a:p>
        </p:txBody>
      </p:sp>
      <p:sp>
        <p:nvSpPr>
          <p:cNvPr id="36" name="SmallText">
            <a:extLst xmlns:a="http://schemas.openxmlformats.org/drawingml/2006/main">
              <a:ext uri="{FF2B5EF4-FFF2-40B4-BE49-F238E27FC236}">
                <a16:creationId xmlns:a16="http://schemas.microsoft.com/office/drawing/2014/main" id="{2D8B4A72-A85B-4454-80D4-5DE5CDC2E7B9}"/>
              </a:ext>
            </a:extLst>
          </p:cNvPr>
          <p:cNvSpPr>
            <a:spLocks xmlns:a="http://schemas.openxmlformats.org/drawingml/2006/main" noGrp="1"/>
          </p:cNvSpPr>
          <p:nvPr/>
        </p:nvSpPr>
        <p:spPr>
          <a:xfrm xmlns:a="http://schemas.openxmlformats.org/drawingml/2006/main">
            <a:off x="5734050" y="3733800"/>
            <a:ext cx="2667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LAU not touched in processed JRC events</a:t>
            </a:r>
          </a:p>
        </p:txBody>
      </p:sp>
      <p:sp>
        <p:nvSpPr>
          <p:cNvPr id="37" name="SmallText">
            <a:extLst xmlns:a="http://schemas.openxmlformats.org/drawingml/2006/main">
              <a:ext uri="{FF2B5EF4-FFF2-40B4-BE49-F238E27FC236}">
                <a16:creationId xmlns:a16="http://schemas.microsoft.com/office/drawing/2014/main" id="{F70D6249-8BF9-4EAA-BD0C-42FF67068F33}"/>
              </a:ext>
            </a:extLst>
          </p:cNvPr>
          <p:cNvSpPr>
            <a:spLocks xmlns:a="http://schemas.openxmlformats.org/drawingml/2006/main" noGrp="1"/>
          </p:cNvSpPr>
          <p:nvPr/>
        </p:nvSpPr>
        <p:spPr>
          <a:xfrm xmlns:a="http://schemas.openxmlformats.org/drawingml/2006/main">
            <a:off x="10306050" y="37338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36</a:t>
            </a:r>
          </a:p>
        </p:txBody>
      </p:sp>
      <p:sp>
        <p:nvSpPr>
          <p:cNvPr id="38" name="DecisionTrack">
            <a:extLst xmlns:a="http://schemas.openxmlformats.org/drawingml/2006/main">
              <a:ext uri="{FF2B5EF4-FFF2-40B4-BE49-F238E27FC236}">
                <a16:creationId xmlns:a16="http://schemas.microsoft.com/office/drawing/2014/main" id="{D2F6CD12-6115-4776-B8DC-6F0E0A457ACC}"/>
              </a:ext>
            </a:extLst>
          </p:cNvPr>
          <p:cNvSpPr>
            <a:spLocks xmlns:a="http://schemas.openxmlformats.org/drawingml/2006/main" noGrp="1"/>
          </p:cNvSpPr>
          <p:nvPr/>
        </p:nvSpPr>
        <p:spPr>
          <a:xfrm xmlns:a="http://schemas.openxmlformats.org/drawingml/2006/main">
            <a:off x="5734050" y="3962400"/>
            <a:ext cx="4953000" cy="15240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39" name="DecisionFill">
            <a:extLst xmlns:a="http://schemas.openxmlformats.org/drawingml/2006/main">
              <a:ext uri="{FF2B5EF4-FFF2-40B4-BE49-F238E27FC236}">
                <a16:creationId xmlns:a16="http://schemas.microsoft.com/office/drawing/2014/main" id="{477A38EE-E753-4684-86D4-9C735867F0B8}"/>
              </a:ext>
            </a:extLst>
          </p:cNvPr>
          <p:cNvSpPr>
            <a:spLocks xmlns:a="http://schemas.openxmlformats.org/drawingml/2006/main" noGrp="1"/>
          </p:cNvSpPr>
          <p:nvPr/>
        </p:nvSpPr>
        <p:spPr>
          <a:xfrm xmlns:a="http://schemas.openxmlformats.org/drawingml/2006/main">
            <a:off x="5734050" y="3962400"/>
            <a:ext cx="3638550" cy="15240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40" name="SmallText">
            <a:extLst xmlns:a="http://schemas.openxmlformats.org/drawingml/2006/main">
              <a:ext uri="{FF2B5EF4-FFF2-40B4-BE49-F238E27FC236}">
                <a16:creationId xmlns:a16="http://schemas.microsoft.com/office/drawing/2014/main" id="{E6BE45A6-D53E-42E5-9EF1-BF726E076CDE}"/>
              </a:ext>
            </a:extLst>
          </p:cNvPr>
          <p:cNvSpPr>
            <a:spLocks xmlns:a="http://schemas.openxmlformats.org/drawingml/2006/main" noGrp="1"/>
          </p:cNvSpPr>
          <p:nvPr/>
        </p:nvSpPr>
        <p:spPr>
          <a:xfrm xmlns:a="http://schemas.openxmlformats.org/drawingml/2006/main">
            <a:off x="5734050" y="4267200"/>
            <a:ext cx="2667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Touched, but no local flooded pixel above threshold</a:t>
            </a:r>
          </a:p>
        </p:txBody>
      </p:sp>
      <p:sp>
        <p:nvSpPr>
          <p:cNvPr id="41" name="SmallText">
            <a:extLst xmlns:a="http://schemas.openxmlformats.org/drawingml/2006/main">
              <a:ext uri="{FF2B5EF4-FFF2-40B4-BE49-F238E27FC236}">
                <a16:creationId xmlns:a16="http://schemas.microsoft.com/office/drawing/2014/main" id="{0D666C45-79D8-44E7-993A-65009DA66162}"/>
              </a:ext>
            </a:extLst>
          </p:cNvPr>
          <p:cNvSpPr>
            <a:spLocks xmlns:a="http://schemas.openxmlformats.org/drawingml/2006/main" noGrp="1"/>
          </p:cNvSpPr>
          <p:nvPr/>
        </p:nvSpPr>
        <p:spPr>
          <a:xfrm xmlns:a="http://schemas.openxmlformats.org/drawingml/2006/main">
            <a:off x="10306050" y="4267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7</a:t>
            </a:r>
          </a:p>
        </p:txBody>
      </p:sp>
      <p:sp>
        <p:nvSpPr>
          <p:cNvPr id="42" name="DecisionTrack">
            <a:extLst xmlns:a="http://schemas.openxmlformats.org/drawingml/2006/main">
              <a:ext uri="{FF2B5EF4-FFF2-40B4-BE49-F238E27FC236}">
                <a16:creationId xmlns:a16="http://schemas.microsoft.com/office/drawing/2014/main" id="{4D20B029-FA3B-479E-AC2B-55C39ACF17DA}"/>
              </a:ext>
            </a:extLst>
          </p:cNvPr>
          <p:cNvSpPr>
            <a:spLocks xmlns:a="http://schemas.openxmlformats.org/drawingml/2006/main" noGrp="1"/>
          </p:cNvSpPr>
          <p:nvPr/>
        </p:nvSpPr>
        <p:spPr>
          <a:xfrm xmlns:a="http://schemas.openxmlformats.org/drawingml/2006/main">
            <a:off x="5734050" y="4495800"/>
            <a:ext cx="4953000" cy="15240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43" name="DecisionFill">
            <a:extLst xmlns:a="http://schemas.openxmlformats.org/drawingml/2006/main">
              <a:ext uri="{FF2B5EF4-FFF2-40B4-BE49-F238E27FC236}">
                <a16:creationId xmlns:a16="http://schemas.microsoft.com/office/drawing/2014/main" id="{E267664F-29D7-4E4D-84F1-1F4D457626BF}"/>
              </a:ext>
            </a:extLst>
          </p:cNvPr>
          <p:cNvSpPr>
            <a:spLocks xmlns:a="http://schemas.openxmlformats.org/drawingml/2006/main" noGrp="1"/>
          </p:cNvSpPr>
          <p:nvPr/>
        </p:nvSpPr>
        <p:spPr>
          <a:xfrm xmlns:a="http://schemas.openxmlformats.org/drawingml/2006/main">
            <a:off x="5734050" y="4495800"/>
            <a:ext cx="704850" cy="1524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44" name="SmallText">
            <a:extLst xmlns:a="http://schemas.openxmlformats.org/drawingml/2006/main">
              <a:ext uri="{FF2B5EF4-FFF2-40B4-BE49-F238E27FC236}">
                <a16:creationId xmlns:a16="http://schemas.microsoft.com/office/drawing/2014/main" id="{A6F573A9-EC67-43B5-9C5B-0F369B392FE6}"/>
              </a:ext>
            </a:extLst>
          </p:cNvPr>
          <p:cNvSpPr>
            <a:spLocks xmlns:a="http://schemas.openxmlformats.org/drawingml/2006/main" noGrp="1"/>
          </p:cNvSpPr>
          <p:nvPr/>
        </p:nvSpPr>
        <p:spPr>
          <a:xfrm xmlns:a="http://schemas.openxmlformats.org/drawingml/2006/main">
            <a:off x="5734050" y="4800600"/>
            <a:ext cx="2667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Point outside LAU polygon</a:t>
            </a:r>
          </a:p>
        </p:txBody>
      </p:sp>
      <p:sp>
        <p:nvSpPr>
          <p:cNvPr id="45" name="SmallText">
            <a:extLst xmlns:a="http://schemas.openxmlformats.org/drawingml/2006/main">
              <a:ext uri="{FF2B5EF4-FFF2-40B4-BE49-F238E27FC236}">
                <a16:creationId xmlns:a16="http://schemas.microsoft.com/office/drawing/2014/main" id="{67CC5C6E-AE83-4BAD-9DD5-3452B01826D6}"/>
              </a:ext>
            </a:extLst>
          </p:cNvPr>
          <p:cNvSpPr>
            <a:spLocks xmlns:a="http://schemas.openxmlformats.org/drawingml/2006/main" noGrp="1"/>
          </p:cNvSpPr>
          <p:nvPr/>
        </p:nvSpPr>
        <p:spPr>
          <a:xfrm xmlns:a="http://schemas.openxmlformats.org/drawingml/2006/main">
            <a:off x="10306050" y="48006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5</a:t>
            </a:r>
          </a:p>
        </p:txBody>
      </p:sp>
      <p:sp>
        <p:nvSpPr>
          <p:cNvPr id="46" name="DecisionTrack">
            <a:extLst xmlns:a="http://schemas.openxmlformats.org/drawingml/2006/main">
              <a:ext uri="{FF2B5EF4-FFF2-40B4-BE49-F238E27FC236}">
                <a16:creationId xmlns:a16="http://schemas.microsoft.com/office/drawing/2014/main" id="{D0C2BD0B-08BE-4ABB-9B19-252167FFC88C}"/>
              </a:ext>
            </a:extLst>
          </p:cNvPr>
          <p:cNvSpPr>
            <a:spLocks xmlns:a="http://schemas.openxmlformats.org/drawingml/2006/main" noGrp="1"/>
          </p:cNvSpPr>
          <p:nvPr/>
        </p:nvSpPr>
        <p:spPr>
          <a:xfrm xmlns:a="http://schemas.openxmlformats.org/drawingml/2006/main">
            <a:off x="5734050" y="5029200"/>
            <a:ext cx="4953000" cy="15240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47" name="DecisionFill">
            <a:extLst xmlns:a="http://schemas.openxmlformats.org/drawingml/2006/main">
              <a:ext uri="{FF2B5EF4-FFF2-40B4-BE49-F238E27FC236}">
                <a16:creationId xmlns:a16="http://schemas.microsoft.com/office/drawing/2014/main" id="{026CD78F-81D9-4FA1-91C7-934133553A5F}"/>
              </a:ext>
            </a:extLst>
          </p:cNvPr>
          <p:cNvSpPr>
            <a:spLocks xmlns:a="http://schemas.openxmlformats.org/drawingml/2006/main" noGrp="1"/>
          </p:cNvSpPr>
          <p:nvPr/>
        </p:nvSpPr>
        <p:spPr>
          <a:xfrm xmlns:a="http://schemas.openxmlformats.org/drawingml/2006/main">
            <a:off x="5734050" y="5029200"/>
            <a:ext cx="504825" cy="15240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48" name="SmallText">
            <a:extLst xmlns:a="http://schemas.openxmlformats.org/drawingml/2006/main">
              <a:ext uri="{FF2B5EF4-FFF2-40B4-BE49-F238E27FC236}">
                <a16:creationId xmlns:a16="http://schemas.microsoft.com/office/drawing/2014/main" id="{3D0231FD-F7C7-47AE-AD98-CE77FB0DA5A3}"/>
              </a:ext>
            </a:extLst>
          </p:cNvPr>
          <p:cNvSpPr>
            <a:spLocks xmlns:a="http://schemas.openxmlformats.org/drawingml/2006/main" noGrp="1"/>
          </p:cNvSpPr>
          <p:nvPr/>
        </p:nvSpPr>
        <p:spPr>
          <a:xfrm xmlns:a="http://schemas.openxmlformats.org/drawingml/2006/main">
            <a:off x="5734050" y="5334000"/>
            <a:ext cx="2667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Positive local flood hit</a:t>
            </a:r>
          </a:p>
        </p:txBody>
      </p:sp>
      <p:sp>
        <p:nvSpPr>
          <p:cNvPr id="49" name="SmallText">
            <a:extLst xmlns:a="http://schemas.openxmlformats.org/drawingml/2006/main">
              <a:ext uri="{FF2B5EF4-FFF2-40B4-BE49-F238E27FC236}">
                <a16:creationId xmlns:a16="http://schemas.microsoft.com/office/drawing/2014/main" id="{EA4F8457-50D4-4158-9CB8-6DE4A574A5DF}"/>
              </a:ext>
            </a:extLst>
          </p:cNvPr>
          <p:cNvSpPr>
            <a:spLocks xmlns:a="http://schemas.openxmlformats.org/drawingml/2006/main" noGrp="1"/>
          </p:cNvSpPr>
          <p:nvPr/>
        </p:nvSpPr>
        <p:spPr>
          <a:xfrm xmlns:a="http://schemas.openxmlformats.org/drawingml/2006/main">
            <a:off x="10306050" y="53340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F6675"/>
                </a:solidFill>
                <a:latin typeface="Aptos"/>
                <a:ea typeface="Aptos"/>
                <a:cs typeface="Aptos"/>
              </a:defRPr>
            </a:pPr>
            <a:r>
              <a:rPr sz="1050" b="0">
                <a:solidFill>
                  <a:srgbClr val="5F6675"/>
                </a:solidFill>
                <a:latin typeface="Aptos"/>
                <a:ea typeface="Aptos"/>
                <a:cs typeface="Aptos"/>
              </a:rPr>
              <a:t>1</a:t>
            </a:r>
          </a:p>
        </p:txBody>
      </p:sp>
      <p:sp>
        <p:nvSpPr>
          <p:cNvPr id="50" name="DecisionTrack">
            <a:extLst xmlns:a="http://schemas.openxmlformats.org/drawingml/2006/main">
              <a:ext uri="{FF2B5EF4-FFF2-40B4-BE49-F238E27FC236}">
                <a16:creationId xmlns:a16="http://schemas.microsoft.com/office/drawing/2014/main" id="{22A09970-6CBA-49B2-8681-62527B5930FC}"/>
              </a:ext>
            </a:extLst>
          </p:cNvPr>
          <p:cNvSpPr>
            <a:spLocks xmlns:a="http://schemas.openxmlformats.org/drawingml/2006/main" noGrp="1"/>
          </p:cNvSpPr>
          <p:nvPr/>
        </p:nvSpPr>
        <p:spPr>
          <a:xfrm xmlns:a="http://schemas.openxmlformats.org/drawingml/2006/main">
            <a:off x="5734050" y="5562600"/>
            <a:ext cx="4953000" cy="152400"/>
          </a:xfrm>
          <a:prstGeom xmlns:a="http://schemas.openxmlformats.org/drawingml/2006/main" prst="rect">
            <a:avLst/>
          </a:prstGeom>
          <a:solidFill xmlns:a="http://schemas.openxmlformats.org/drawingml/2006/main">
            <a:srgbClr val="EFE7DB"/>
          </a:solidFill>
          <a:ln xmlns:a="http://schemas.openxmlformats.org/drawingml/2006/main" w="0">
            <a:solidFill>
              <a:srgbClr val="000000">
                <a:alpha val="0"/>
              </a:srgbClr>
            </a:solidFill>
            <a:prstDash val="solid"/>
          </a:ln>
        </p:spPr>
      </p:sp>
      <p:sp>
        <p:nvSpPr>
          <p:cNvPr id="51" name="DecisionFill">
            <a:extLst xmlns:a="http://schemas.openxmlformats.org/drawingml/2006/main">
              <a:ext uri="{FF2B5EF4-FFF2-40B4-BE49-F238E27FC236}">
                <a16:creationId xmlns:a16="http://schemas.microsoft.com/office/drawing/2014/main" id="{61425D5F-2C18-4660-8042-D3850026AE2B}"/>
              </a:ext>
            </a:extLst>
          </p:cNvPr>
          <p:cNvSpPr>
            <a:spLocks xmlns:a="http://schemas.openxmlformats.org/drawingml/2006/main" noGrp="1"/>
          </p:cNvSpPr>
          <p:nvPr/>
        </p:nvSpPr>
        <p:spPr>
          <a:xfrm xmlns:a="http://schemas.openxmlformats.org/drawingml/2006/main">
            <a:off x="5734050" y="5562600"/>
            <a:ext cx="104775" cy="15240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52" name="CasePanel">
            <a:extLst xmlns:a="http://schemas.openxmlformats.org/drawingml/2006/main">
              <a:ext uri="{FF2B5EF4-FFF2-40B4-BE49-F238E27FC236}">
                <a16:creationId xmlns:a16="http://schemas.microsoft.com/office/drawing/2014/main" id="{C4E753E5-0CA3-421C-A4A3-19BCAFED7BFB}"/>
              </a:ext>
            </a:extLst>
          </p:cNvPr>
          <p:cNvSpPr>
            <a:spLocks xmlns:a="http://schemas.openxmlformats.org/drawingml/2006/main" noGrp="1"/>
          </p:cNvSpPr>
          <p:nvPr/>
        </p:nvSpPr>
        <p:spPr>
          <a:xfrm xmlns:a="http://schemas.openxmlformats.org/drawingml/2006/main">
            <a:off x="514350" y="6153150"/>
            <a:ext cx="10629900" cy="4191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0"/>
            </a:solidFill>
            <a:prstDash val="solid"/>
          </a:ln>
        </p:spPr>
      </p:sp>
      <p:sp>
        <p:nvSpPr>
          <p:cNvPr id="53" name="BodyText">
            <a:extLst xmlns:a="http://schemas.openxmlformats.org/drawingml/2006/main">
              <a:ext uri="{FF2B5EF4-FFF2-40B4-BE49-F238E27FC236}">
                <a16:creationId xmlns:a16="http://schemas.microsoft.com/office/drawing/2014/main" id="{CA5939CE-D3A5-40D2-A4B5-E21EC13C9509}"/>
              </a:ext>
            </a:extLst>
          </p:cNvPr>
          <p:cNvSpPr>
            <a:spLocks xmlns:a="http://schemas.openxmlformats.org/drawingml/2006/main" noGrp="1"/>
          </p:cNvSpPr>
          <p:nvPr/>
        </p:nvSpPr>
        <p:spPr>
          <a:xfrm xmlns:a="http://schemas.openxmlformats.org/drawingml/2006/main">
            <a:off x="742950" y="6267450"/>
            <a:ext cx="10172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Positive case: Allenjoie (Doubs, 25) is the only positive local case, with four matched event hits from 2018 to 2021.</a:t>
            </a:r>
          </a:p>
        </p:txBody>
      </p:sp>
      <p:sp>
        <p:nvSpPr>
          <p:cNvPr id="54" name="Rule">
            <a:extLst xmlns:a="http://schemas.openxmlformats.org/drawingml/2006/main">
              <a:ext uri="{FF2B5EF4-FFF2-40B4-BE49-F238E27FC236}">
                <a16:creationId xmlns:a16="http://schemas.microsoft.com/office/drawing/2014/main" id="{AF33708F-71CE-4FA7-B41D-61E7F4C07BF2}"/>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D7CEC0"/>
          </a:solidFill>
          <a:ln xmlns:a="http://schemas.openxmlformats.org/drawingml/2006/main" w="0">
            <a:solidFill>
              <a:srgbClr val="000000">
                <a:alpha val="0"/>
              </a:srgbClr>
            </a:solidFill>
            <a:prstDash val="solid"/>
          </a:ln>
        </p:spPr>
      </p:sp>
      <p:sp>
        <p:nvSpPr>
          <p:cNvPr id="55" name="SmallText">
            <a:extLst xmlns:a="http://schemas.openxmlformats.org/drawingml/2006/main">
              <a:ext uri="{FF2B5EF4-FFF2-40B4-BE49-F238E27FC236}">
                <a16:creationId xmlns:a16="http://schemas.microsoft.com/office/drawing/2014/main" id="{173745BC-4474-4D7A-976C-42689B050B29}"/>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Workbook: data/processed/T20_Anonymised_jrc_flood_check.xlsx. Decision paths show why most rows stay negative even after successful LAU geocoding.</a:t>
            </a:r>
          </a:p>
        </p:txBody>
      </p:sp>
    </p:spTree>
    <p:extLst>
      <p:ext uri="{BB962C8B-B14F-4D97-AF65-F5344CB8AC3E}">
        <p14:creationId xmlns:p14="http://schemas.microsoft.com/office/powerpoint/2010/main" val="21402389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77F7FA75-361E-4B5F-BE90-A01B65FAE3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01826"/>
              </a:gs>
              <a:gs pos="100000">
                <a:srgbClr val="1B2840"/>
              </a:gs>
            </a:gsLst>
            <a:lin ang="10800000"/>
          </a:gradFill>
          <a:ln xmlns:a="http://schemas.openxmlformats.org/drawingml/2006/main" w="0">
            <a:solidFill>
              <a:srgbClr val="000000">
                <a:alpha val="0"/>
              </a:srgbClr>
            </a:solidFill>
            <a:prstDash val="solid"/>
          </a:ln>
        </p:spPr>
      </p:sp>
      <p:sp>
        <p:nvSpPr>
          <p:cNvPr id="2" name="Label">
            <a:extLst xmlns:a="http://schemas.openxmlformats.org/drawingml/2006/main">
              <a:ext uri="{FF2B5EF4-FFF2-40B4-BE49-F238E27FC236}">
                <a16:creationId xmlns:a16="http://schemas.microsoft.com/office/drawing/2014/main" id="{2CDFC33D-BF37-48EB-A7F8-672EE493CD16}"/>
              </a:ext>
            </a:extLst>
          </p:cNvPr>
          <p:cNvSpPr>
            <a:spLocks xmlns:a="http://schemas.openxmlformats.org/drawingml/2006/main" noGrp="1"/>
          </p:cNvSpPr>
          <p:nvPr/>
        </p:nvSpPr>
        <p:spPr>
          <a:xfrm xmlns:a="http://schemas.openxmlformats.org/drawingml/2006/main">
            <a:off x="514350" y="4000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B39F"/>
                </a:solidFill>
                <a:latin typeface="Aptos"/>
                <a:ea typeface="Aptos"/>
                <a:cs typeface="Aptos"/>
              </a:defRPr>
            </a:pPr>
            <a:r>
              <a:rPr sz="1350" b="1">
                <a:solidFill>
                  <a:srgbClr val="F4B39F"/>
                </a:solidFill>
                <a:latin typeface="Aptos"/>
                <a:ea typeface="Aptos"/>
                <a:cs typeface="Aptos"/>
              </a:rPr>
              <a:t>READY NOW / NEXT</a:t>
            </a:r>
          </a:p>
        </p:txBody>
      </p:sp>
      <p:sp>
        <p:nvSpPr>
          <p:cNvPr id="3" name="Title">
            <a:extLst xmlns:a="http://schemas.openxmlformats.org/drawingml/2006/main">
              <a:ext uri="{FF2B5EF4-FFF2-40B4-BE49-F238E27FC236}">
                <a16:creationId xmlns:a16="http://schemas.microsoft.com/office/drawing/2014/main" id="{2C7CB756-8BCA-4037-A8D2-896ED506BB34}"/>
              </a:ext>
            </a:extLst>
          </p:cNvPr>
          <p:cNvSpPr>
            <a:spLocks xmlns:a="http://schemas.openxmlformats.org/drawingml/2006/main" noGrp="1"/>
          </p:cNvSpPr>
          <p:nvPr/>
        </p:nvSpPr>
        <p:spPr>
          <a:xfrm xmlns:a="http://schemas.openxmlformats.org/drawingml/2006/main">
            <a:off x="514350" y="742950"/>
            <a:ext cx="10287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57150" bIns="0" anchor="t"/>
          <a:lstStyle xmlns:a="http://schemas.openxmlformats.org/drawingml/2006/main"/>
          <a:p xmlns:a="http://schemas.openxmlformats.org/drawingml/2006/main">
            <a:pPr algn="l">
              <a:defRPr sz="2850" b="1">
                <a:solidFill>
                  <a:srgbClr val="F5F1E8"/>
                </a:solidFill>
                <a:latin typeface="Aptos Display"/>
                <a:ea typeface="Aptos Display"/>
                <a:cs typeface="Aptos Display"/>
              </a:defRPr>
            </a:pPr>
            <a:r>
              <a:rPr sz="2850" b="1">
                <a:solidFill>
                  <a:srgbClr val="F5F1E8"/>
                </a:solidFill>
                <a:latin typeface="Aptos Display"/>
                <a:ea typeface="Aptos Display"/>
                <a:cs typeface="Aptos Display"/>
              </a:rPr>
              <a:t>The project now has both a decision tool and a validation backlog</a:t>
            </a:r>
          </a:p>
        </p:txBody>
      </p:sp>
      <p:sp>
        <p:nvSpPr>
          <p:cNvPr id="4" name="ReadyPanel">
            <a:extLst xmlns:a="http://schemas.openxmlformats.org/drawingml/2006/main">
              <a:ext uri="{FF2B5EF4-FFF2-40B4-BE49-F238E27FC236}">
                <a16:creationId xmlns:a16="http://schemas.microsoft.com/office/drawing/2014/main" id="{9F4103CE-6F3A-463D-B058-4794C40A991E}"/>
              </a:ext>
            </a:extLst>
          </p:cNvPr>
          <p:cNvSpPr>
            <a:spLocks xmlns:a="http://schemas.openxmlformats.org/drawingml/2006/main" noGrp="1"/>
          </p:cNvSpPr>
          <p:nvPr/>
        </p:nvSpPr>
        <p:spPr>
          <a:xfrm xmlns:a="http://schemas.openxmlformats.org/drawingml/2006/main">
            <a:off x="514350" y="1828800"/>
            <a:ext cx="4972050" cy="3886200"/>
          </a:xfrm>
          <a:prstGeom xmlns:a="http://schemas.openxmlformats.org/drawingml/2006/main" prst="rect">
            <a:avLst/>
          </a:prstGeom>
          <a:solidFill xmlns:a="http://schemas.openxmlformats.org/drawingml/2006/main">
            <a:srgbClr val="F7EFE6"/>
          </a:solidFill>
          <a:ln xmlns:a="http://schemas.openxmlformats.org/drawingml/2006/main" w="0">
            <a:solidFill>
              <a:srgbClr val="000000">
                <a:alpha val="0"/>
              </a:srgbClr>
            </a:solidFill>
            <a:prstDash val="solid"/>
          </a:ln>
        </p:spPr>
      </p:sp>
      <p:sp>
        <p:nvSpPr>
          <p:cNvPr id="5" name="BodyText">
            <a:extLst xmlns:a="http://schemas.openxmlformats.org/drawingml/2006/main">
              <a:ext uri="{FF2B5EF4-FFF2-40B4-BE49-F238E27FC236}">
                <a16:creationId xmlns:a16="http://schemas.microsoft.com/office/drawing/2014/main" id="{F2278383-5670-4381-8645-7C154D504590}"/>
              </a:ext>
            </a:extLst>
          </p:cNvPr>
          <p:cNvSpPr>
            <a:spLocks xmlns:a="http://schemas.openxmlformats.org/drawingml/2006/main" noGrp="1"/>
          </p:cNvSpPr>
          <p:nvPr/>
        </p:nvSpPr>
        <p:spPr>
          <a:xfrm xmlns:a="http://schemas.openxmlformats.org/drawingml/2006/main">
            <a:off x="781050" y="20764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latin typeface="Aptos Display"/>
                <a:ea typeface="Aptos Display"/>
                <a:cs typeface="Aptos Display"/>
              </a:defRPr>
            </a:pPr>
            <a:r>
              <a:rPr sz="1800" b="1">
                <a:solidFill>
                  <a:srgbClr val="0F172A"/>
                </a:solidFill>
                <a:latin typeface="Aptos Display"/>
                <a:ea typeface="Aptos Display"/>
                <a:cs typeface="Aptos Display"/>
              </a:rPr>
              <a:t>Ready today</a:t>
            </a:r>
          </a:p>
        </p:txBody>
      </p:sp>
      <p:sp>
        <p:nvSpPr>
          <p:cNvPr id="6" name="Bullet1">
            <a:extLst xmlns:a="http://schemas.openxmlformats.org/drawingml/2006/main">
              <a:ext uri="{FF2B5EF4-FFF2-40B4-BE49-F238E27FC236}">
                <a16:creationId xmlns:a16="http://schemas.microsoft.com/office/drawing/2014/main" id="{00ECB2C5-D6DA-473B-8FF3-EF22E15E9C00}"/>
              </a:ext>
            </a:extLst>
          </p:cNvPr>
          <p:cNvSpPr>
            <a:spLocks xmlns:a="http://schemas.openxmlformats.org/drawingml/2006/main" noGrp="1"/>
          </p:cNvSpPr>
          <p:nvPr/>
        </p:nvSpPr>
        <p:spPr>
          <a:xfrm xmlns:a="http://schemas.openxmlformats.org/drawingml/2006/main">
            <a:off x="781050" y="264795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7" name="BulletText1">
            <a:extLst xmlns:a="http://schemas.openxmlformats.org/drawingml/2006/main">
              <a:ext uri="{FF2B5EF4-FFF2-40B4-BE49-F238E27FC236}">
                <a16:creationId xmlns:a16="http://schemas.microsoft.com/office/drawing/2014/main" id="{B276FCBC-6D53-49AC-BB76-F91E16510848}"/>
              </a:ext>
            </a:extLst>
          </p:cNvPr>
          <p:cNvSpPr>
            <a:spLocks xmlns:a="http://schemas.openxmlformats.org/drawingml/2006/main" noGrp="1"/>
          </p:cNvSpPr>
          <p:nvPr/>
        </p:nvSpPr>
        <p:spPr>
          <a:xfrm xmlns:a="http://schemas.openxmlformats.org/drawingml/2006/main">
            <a:off x="990600" y="2571750"/>
            <a:ext cx="39624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France commune comparison app with map-first diagnostics</a:t>
            </a:r>
          </a:p>
        </p:txBody>
      </p:sp>
      <p:sp>
        <p:nvSpPr>
          <p:cNvPr id="8" name="Bullet2">
            <a:extLst xmlns:a="http://schemas.openxmlformats.org/drawingml/2006/main">
              <a:ext uri="{FF2B5EF4-FFF2-40B4-BE49-F238E27FC236}">
                <a16:creationId xmlns:a16="http://schemas.microsoft.com/office/drawing/2014/main" id="{6922D987-C437-4390-893F-1906178214CC}"/>
              </a:ext>
            </a:extLst>
          </p:cNvPr>
          <p:cNvSpPr>
            <a:spLocks xmlns:a="http://schemas.openxmlformats.org/drawingml/2006/main" noGrp="1"/>
          </p:cNvSpPr>
          <p:nvPr/>
        </p:nvSpPr>
        <p:spPr>
          <a:xfrm xmlns:a="http://schemas.openxmlformats.org/drawingml/2006/main">
            <a:off x="781050" y="339090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9" name="BulletText2">
            <a:extLst xmlns:a="http://schemas.openxmlformats.org/drawingml/2006/main">
              <a:ext uri="{FF2B5EF4-FFF2-40B4-BE49-F238E27FC236}">
                <a16:creationId xmlns:a16="http://schemas.microsoft.com/office/drawing/2014/main" id="{0EC989BB-177C-4420-9FBB-CC2444DF6F5C}"/>
              </a:ext>
            </a:extLst>
          </p:cNvPr>
          <p:cNvSpPr>
            <a:spLocks xmlns:a="http://schemas.openxmlformats.org/drawingml/2006/main" noGrp="1"/>
          </p:cNvSpPr>
          <p:nvPr/>
        </p:nvSpPr>
        <p:spPr>
          <a:xfrm xmlns:a="http://schemas.openxmlformats.org/drawingml/2006/main">
            <a:off x="990600" y="3314700"/>
            <a:ext cx="39624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Bilingual Gaspar / JRC match audit docs plus the 2015-2024 horizon extension</a:t>
            </a:r>
          </a:p>
        </p:txBody>
      </p:sp>
      <p:sp>
        <p:nvSpPr>
          <p:cNvPr id="10" name="Bullet3">
            <a:extLst xmlns:a="http://schemas.openxmlformats.org/drawingml/2006/main">
              <a:ext uri="{FF2B5EF4-FFF2-40B4-BE49-F238E27FC236}">
                <a16:creationId xmlns:a16="http://schemas.microsoft.com/office/drawing/2014/main" id="{7B5ECCFD-D1B0-4389-85DC-C13342F5586B}"/>
              </a:ext>
            </a:extLst>
          </p:cNvPr>
          <p:cNvSpPr>
            <a:spLocks xmlns:a="http://schemas.openxmlformats.org/drawingml/2006/main" noGrp="1"/>
          </p:cNvSpPr>
          <p:nvPr/>
        </p:nvSpPr>
        <p:spPr>
          <a:xfrm xmlns:a="http://schemas.openxmlformats.org/drawingml/2006/main">
            <a:off x="781050" y="413385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1" name="BulletText3">
            <a:extLst xmlns:a="http://schemas.openxmlformats.org/drawingml/2006/main">
              <a:ext uri="{FF2B5EF4-FFF2-40B4-BE49-F238E27FC236}">
                <a16:creationId xmlns:a16="http://schemas.microsoft.com/office/drawing/2014/main" id="{85B0A44F-A6BD-4549-9837-88703221768C}"/>
              </a:ext>
            </a:extLst>
          </p:cNvPr>
          <p:cNvSpPr>
            <a:spLocks xmlns:a="http://schemas.openxmlformats.org/drawingml/2006/main" noGrp="1"/>
          </p:cNvSpPr>
          <p:nvPr/>
        </p:nvSpPr>
        <p:spPr>
          <a:xfrm xmlns:a="http://schemas.openxmlformats.org/drawingml/2006/main">
            <a:off x="990600" y="4057650"/>
            <a:ext cx="39624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July 2021 mismatch evidence report with public links</a:t>
            </a:r>
          </a:p>
        </p:txBody>
      </p:sp>
      <p:sp>
        <p:nvSpPr>
          <p:cNvPr id="12" name="Bullet4">
            <a:extLst xmlns:a="http://schemas.openxmlformats.org/drawingml/2006/main">
              <a:ext uri="{FF2B5EF4-FFF2-40B4-BE49-F238E27FC236}">
                <a16:creationId xmlns:a16="http://schemas.microsoft.com/office/drawing/2014/main" id="{CB7DA5A8-E192-445D-BEA2-A00AFFD63F17}"/>
              </a:ext>
            </a:extLst>
          </p:cNvPr>
          <p:cNvSpPr>
            <a:spLocks xmlns:a="http://schemas.openxmlformats.org/drawingml/2006/main" noGrp="1"/>
          </p:cNvSpPr>
          <p:nvPr/>
        </p:nvSpPr>
        <p:spPr>
          <a:xfrm xmlns:a="http://schemas.openxmlformats.org/drawingml/2006/main">
            <a:off x="781050" y="4876800"/>
            <a:ext cx="95250" cy="95250"/>
          </a:xfrm>
          <a:prstGeom xmlns:a="http://schemas.openxmlformats.org/drawingml/2006/main" prst="rect">
            <a:avLst/>
          </a:prstGeom>
          <a:solidFill xmlns:a="http://schemas.openxmlformats.org/drawingml/2006/main">
            <a:srgbClr val="E45A3C"/>
          </a:solidFill>
          <a:ln xmlns:a="http://schemas.openxmlformats.org/drawingml/2006/main" w="0">
            <a:solidFill>
              <a:srgbClr val="000000">
                <a:alpha val="0"/>
              </a:srgbClr>
            </a:solidFill>
            <a:prstDash val="solid"/>
          </a:ln>
        </p:spPr>
      </p:sp>
      <p:sp>
        <p:nvSpPr>
          <p:cNvPr id="13" name="BulletText4">
            <a:extLst xmlns:a="http://schemas.openxmlformats.org/drawingml/2006/main">
              <a:ext uri="{FF2B5EF4-FFF2-40B4-BE49-F238E27FC236}">
                <a16:creationId xmlns:a16="http://schemas.microsoft.com/office/drawing/2014/main" id="{EB812EE4-F338-470B-8D5C-E46E44047405}"/>
              </a:ext>
            </a:extLst>
          </p:cNvPr>
          <p:cNvSpPr>
            <a:spLocks xmlns:a="http://schemas.openxmlformats.org/drawingml/2006/main" noGrp="1"/>
          </p:cNvSpPr>
          <p:nvPr/>
        </p:nvSpPr>
        <p:spPr>
          <a:xfrm xmlns:a="http://schemas.openxmlformats.org/drawingml/2006/main">
            <a:off x="990600" y="4800600"/>
            <a:ext cx="39624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T20 workbook checked against processed JRC flood rasters</a:t>
            </a:r>
          </a:p>
        </p:txBody>
      </p:sp>
      <p:sp>
        <p:nvSpPr>
          <p:cNvPr id="14" name="NextPanel">
            <a:extLst xmlns:a="http://schemas.openxmlformats.org/drawingml/2006/main">
              <a:ext uri="{FF2B5EF4-FFF2-40B4-BE49-F238E27FC236}">
                <a16:creationId xmlns:a16="http://schemas.microsoft.com/office/drawing/2014/main" id="{1D8564C4-A75B-4CF2-9515-1BC44F2B0516}"/>
              </a:ext>
            </a:extLst>
          </p:cNvPr>
          <p:cNvSpPr>
            <a:spLocks xmlns:a="http://schemas.openxmlformats.org/drawingml/2006/main" noGrp="1"/>
          </p:cNvSpPr>
          <p:nvPr/>
        </p:nvSpPr>
        <p:spPr>
          <a:xfrm xmlns:a="http://schemas.openxmlformats.org/drawingml/2006/main">
            <a:off x="5657850" y="1828800"/>
            <a:ext cx="5486400" cy="3886200"/>
          </a:xfrm>
          <a:prstGeom xmlns:a="http://schemas.openxmlformats.org/drawingml/2006/main" prst="rect">
            <a:avLst/>
          </a:prstGeom>
          <a:solidFill xmlns:a="http://schemas.openxmlformats.org/drawingml/2006/main">
            <a:srgbClr val="EEF3FB"/>
          </a:solidFill>
          <a:ln xmlns:a="http://schemas.openxmlformats.org/drawingml/2006/main" w="0">
            <a:solidFill>
              <a:srgbClr val="000000">
                <a:alpha val="0"/>
              </a:srgbClr>
            </a:solidFill>
            <a:prstDash val="solid"/>
          </a:ln>
        </p:spPr>
      </p:sp>
      <p:sp>
        <p:nvSpPr>
          <p:cNvPr id="15" name="BodyText">
            <a:extLst xmlns:a="http://schemas.openxmlformats.org/drawingml/2006/main">
              <a:ext uri="{FF2B5EF4-FFF2-40B4-BE49-F238E27FC236}">
                <a16:creationId xmlns:a16="http://schemas.microsoft.com/office/drawing/2014/main" id="{86C0E13D-F3C2-4D75-B224-6A1AAA183B99}"/>
              </a:ext>
            </a:extLst>
          </p:cNvPr>
          <p:cNvSpPr>
            <a:spLocks xmlns:a="http://schemas.openxmlformats.org/drawingml/2006/main" noGrp="1"/>
          </p:cNvSpPr>
          <p:nvPr/>
        </p:nvSpPr>
        <p:spPr>
          <a:xfrm xmlns:a="http://schemas.openxmlformats.org/drawingml/2006/main">
            <a:off x="5924550" y="20764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latin typeface="Aptos Display"/>
                <a:ea typeface="Aptos Display"/>
                <a:cs typeface="Aptos Display"/>
              </a:defRPr>
            </a:pPr>
            <a:r>
              <a:rPr sz="1800" b="1">
                <a:solidFill>
                  <a:srgbClr val="0F172A"/>
                </a:solidFill>
                <a:latin typeface="Aptos Display"/>
                <a:ea typeface="Aptos Display"/>
                <a:cs typeface="Aptos Display"/>
              </a:rPr>
              <a:t>Best next questions</a:t>
            </a:r>
          </a:p>
        </p:txBody>
      </p:sp>
      <p:sp>
        <p:nvSpPr>
          <p:cNvPr id="16" name="Bullet1">
            <a:extLst xmlns:a="http://schemas.openxmlformats.org/drawingml/2006/main">
              <a:ext uri="{FF2B5EF4-FFF2-40B4-BE49-F238E27FC236}">
                <a16:creationId xmlns:a16="http://schemas.microsoft.com/office/drawing/2014/main" id="{BF711665-D67C-419A-8B84-65ECF7AF165A}"/>
              </a:ext>
            </a:extLst>
          </p:cNvPr>
          <p:cNvSpPr>
            <a:spLocks xmlns:a="http://schemas.openxmlformats.org/drawingml/2006/main" noGrp="1"/>
          </p:cNvSpPr>
          <p:nvPr/>
        </p:nvSpPr>
        <p:spPr>
          <a:xfrm xmlns:a="http://schemas.openxmlformats.org/drawingml/2006/main">
            <a:off x="5924550" y="2647950"/>
            <a:ext cx="95250" cy="952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17" name="BulletText1">
            <a:extLst xmlns:a="http://schemas.openxmlformats.org/drawingml/2006/main">
              <a:ext uri="{FF2B5EF4-FFF2-40B4-BE49-F238E27FC236}">
                <a16:creationId xmlns:a16="http://schemas.microsoft.com/office/drawing/2014/main" id="{9E67E2FD-DF20-4FB6-A379-05A57240BD85}"/>
              </a:ext>
            </a:extLst>
          </p:cNvPr>
          <p:cNvSpPr>
            <a:spLocks xmlns:a="http://schemas.openxmlformats.org/drawingml/2006/main" noGrp="1"/>
          </p:cNvSpPr>
          <p:nvPr/>
        </p:nvSpPr>
        <p:spPr>
          <a:xfrm xmlns:a="http://schemas.openxmlformats.org/drawingml/2006/main">
            <a:off x="6134100" y="257175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Test alternative event-grouping rules using the department-to-commune gap as a benchmark.</a:t>
            </a:r>
          </a:p>
        </p:txBody>
      </p:sp>
      <p:sp>
        <p:nvSpPr>
          <p:cNvPr id="18" name="Bullet2">
            <a:extLst xmlns:a="http://schemas.openxmlformats.org/drawingml/2006/main">
              <a:ext uri="{FF2B5EF4-FFF2-40B4-BE49-F238E27FC236}">
                <a16:creationId xmlns:a16="http://schemas.microsoft.com/office/drawing/2014/main" id="{C86E6420-6733-4ACA-9F8F-BF1B43C0817E}"/>
              </a:ext>
            </a:extLst>
          </p:cNvPr>
          <p:cNvSpPr>
            <a:spLocks xmlns:a="http://schemas.openxmlformats.org/drawingml/2006/main" noGrp="1"/>
          </p:cNvSpPr>
          <p:nvPr/>
        </p:nvSpPr>
        <p:spPr>
          <a:xfrm xmlns:a="http://schemas.openxmlformats.org/drawingml/2006/main">
            <a:off x="5924550" y="3390900"/>
            <a:ext cx="95250" cy="952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19" name="BulletText2">
            <a:extLst xmlns:a="http://schemas.openxmlformats.org/drawingml/2006/main">
              <a:ext uri="{FF2B5EF4-FFF2-40B4-BE49-F238E27FC236}">
                <a16:creationId xmlns:a16="http://schemas.microsoft.com/office/drawing/2014/main" id="{E016F000-6CC7-40D1-8442-1A58E1C6694E}"/>
              </a:ext>
            </a:extLst>
          </p:cNvPr>
          <p:cNvSpPr>
            <a:spLocks xmlns:a="http://schemas.openxmlformats.org/drawingml/2006/main" noGrp="1"/>
          </p:cNvSpPr>
          <p:nvPr/>
        </p:nvSpPr>
        <p:spPr>
          <a:xfrm xmlns:a="http://schemas.openxmlformats.org/drawingml/2006/main">
            <a:off x="6134100" y="331470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Add more quarter-region manual checks where the horizon audit still shows the largest mismatch.</a:t>
            </a:r>
          </a:p>
        </p:txBody>
      </p:sp>
      <p:sp>
        <p:nvSpPr>
          <p:cNvPr id="20" name="Bullet3">
            <a:extLst xmlns:a="http://schemas.openxmlformats.org/drawingml/2006/main">
              <a:ext uri="{FF2B5EF4-FFF2-40B4-BE49-F238E27FC236}">
                <a16:creationId xmlns:a16="http://schemas.microsoft.com/office/drawing/2014/main" id="{50EB9900-6EA4-485D-B8A7-80F8D44BDC84}"/>
              </a:ext>
            </a:extLst>
          </p:cNvPr>
          <p:cNvSpPr>
            <a:spLocks xmlns:a="http://schemas.openxmlformats.org/drawingml/2006/main" noGrp="1"/>
          </p:cNvSpPr>
          <p:nvPr/>
        </p:nvSpPr>
        <p:spPr>
          <a:xfrm xmlns:a="http://schemas.openxmlformats.org/drawingml/2006/main">
            <a:off x="5924550" y="4133850"/>
            <a:ext cx="95250" cy="952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21" name="BulletText3">
            <a:extLst xmlns:a="http://schemas.openxmlformats.org/drawingml/2006/main">
              <a:ext uri="{FF2B5EF4-FFF2-40B4-BE49-F238E27FC236}">
                <a16:creationId xmlns:a16="http://schemas.microsoft.com/office/drawing/2014/main" id="{37FD724D-0996-4DC3-BBDB-D67A995055B7}"/>
              </a:ext>
            </a:extLst>
          </p:cNvPr>
          <p:cNvSpPr>
            <a:spLocks xmlns:a="http://schemas.openxmlformats.org/drawingml/2006/main" noGrp="1"/>
          </p:cNvSpPr>
          <p:nvPr/>
        </p:nvSpPr>
        <p:spPr>
          <a:xfrm xmlns:a="http://schemas.openxmlformats.org/drawingml/2006/main">
            <a:off x="6134100" y="405765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Decide whether to add a LAU-geometry map mode alongside current communes.</a:t>
            </a:r>
          </a:p>
        </p:txBody>
      </p:sp>
      <p:sp>
        <p:nvSpPr>
          <p:cNvPr id="22" name="Bullet4">
            <a:extLst xmlns:a="http://schemas.openxmlformats.org/drawingml/2006/main">
              <a:ext uri="{FF2B5EF4-FFF2-40B4-BE49-F238E27FC236}">
                <a16:creationId xmlns:a16="http://schemas.microsoft.com/office/drawing/2014/main" id="{97CB8614-2B89-40DE-976A-D2D53EED294F}"/>
              </a:ext>
            </a:extLst>
          </p:cNvPr>
          <p:cNvSpPr>
            <a:spLocks xmlns:a="http://schemas.openxmlformats.org/drawingml/2006/main" noGrp="1"/>
          </p:cNvSpPr>
          <p:nvPr/>
        </p:nvSpPr>
        <p:spPr>
          <a:xfrm xmlns:a="http://schemas.openxmlformats.org/drawingml/2006/main">
            <a:off x="5924550" y="4876800"/>
            <a:ext cx="95250" cy="95250"/>
          </a:xfrm>
          <a:prstGeom xmlns:a="http://schemas.openxmlformats.org/drawingml/2006/main" prst="rect">
            <a:avLst/>
          </a:prstGeom>
          <a:solidFill xmlns:a="http://schemas.openxmlformats.org/drawingml/2006/main">
            <a:srgbClr val="3158D3"/>
          </a:solidFill>
          <a:ln xmlns:a="http://schemas.openxmlformats.org/drawingml/2006/main" w="0">
            <a:solidFill>
              <a:srgbClr val="000000">
                <a:alpha val="0"/>
              </a:srgbClr>
            </a:solidFill>
            <a:prstDash val="solid"/>
          </a:ln>
        </p:spPr>
      </p:sp>
      <p:sp>
        <p:nvSpPr>
          <p:cNvPr id="23" name="BulletText4">
            <a:extLst xmlns:a="http://schemas.openxmlformats.org/drawingml/2006/main">
              <a:ext uri="{FF2B5EF4-FFF2-40B4-BE49-F238E27FC236}">
                <a16:creationId xmlns:a16="http://schemas.microsoft.com/office/drawing/2014/main" id="{60CA1CC0-6055-4F24-937D-84809CE2F754}"/>
              </a:ext>
            </a:extLst>
          </p:cNvPr>
          <p:cNvSpPr>
            <a:spLocks xmlns:a="http://schemas.openxmlformats.org/drawingml/2006/main" noGrp="1"/>
          </p:cNvSpPr>
          <p:nvPr/>
        </p:nvSpPr>
        <p:spPr>
          <a:xfrm xmlns:a="http://schemas.openxmlformats.org/drawingml/2006/main">
            <a:off x="6134100" y="480060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a:solidFill>
                  <a:srgbClr val="0F172A"/>
                </a:solidFill>
                <a:latin typeface="Aptos"/>
                <a:ea typeface="Aptos"/>
                <a:cs typeface="Aptos"/>
              </a:defRPr>
            </a:pPr>
            <a:r>
              <a:rPr sz="1350" b="0">
                <a:solidFill>
                  <a:srgbClr val="0F172A"/>
                </a:solidFill>
                <a:latin typeface="Aptos"/>
                <a:ea typeface="Aptos"/>
                <a:cs typeface="Aptos"/>
              </a:rPr>
              <a:t>Use the same point-screening workflow on additional credit portfolios.</a:t>
            </a:r>
          </a:p>
        </p:txBody>
      </p:sp>
      <p:sp>
        <p:nvSpPr>
          <p:cNvPr id="24" name="BodyText">
            <a:extLst xmlns:a="http://schemas.openxmlformats.org/drawingml/2006/main">
              <a:ext uri="{FF2B5EF4-FFF2-40B4-BE49-F238E27FC236}">
                <a16:creationId xmlns:a16="http://schemas.microsoft.com/office/drawing/2014/main" id="{D5FD9E35-CEE6-4C3A-AE48-CC357B40C8A6}"/>
              </a:ext>
            </a:extLst>
          </p:cNvPr>
          <p:cNvSpPr>
            <a:spLocks xmlns:a="http://schemas.openxmlformats.org/drawingml/2006/main" noGrp="1"/>
          </p:cNvSpPr>
          <p:nvPr/>
        </p:nvSpPr>
        <p:spPr>
          <a:xfrm xmlns:a="http://schemas.openxmlformats.org/drawingml/2006/main">
            <a:off x="514350" y="5962650"/>
            <a:ext cx="1062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5F1E8"/>
                </a:solidFill>
                <a:latin typeface="Aptos Display"/>
                <a:ea typeface="Aptos Display"/>
                <a:cs typeface="Aptos Display"/>
              </a:defRPr>
            </a:pPr>
            <a:r>
              <a:rPr sz="1575" b="1">
                <a:solidFill>
                  <a:srgbClr val="F5F1E8"/>
                </a:solidFill>
                <a:latin typeface="Aptos Display"/>
                <a:ea typeface="Aptos Display"/>
                <a:cs typeface="Aptos Display"/>
              </a:rPr>
              <a:t>Bottom line: the project moved from isolated scripts to a coherent comparison workflow with commune diagnostics, department-level contrast, and a reproducible audit trail across the 2015-2024 horizon.</a:t>
            </a:r>
          </a:p>
        </p:txBody>
      </p:sp>
      <p:sp>
        <p:nvSpPr>
          <p:cNvPr id="25" name="Rule">
            <a:extLst xmlns:a="http://schemas.openxmlformats.org/drawingml/2006/main">
              <a:ext uri="{FF2B5EF4-FFF2-40B4-BE49-F238E27FC236}">
                <a16:creationId xmlns:a16="http://schemas.microsoft.com/office/drawing/2014/main" id="{9B02C4CB-FE00-4769-A7AE-3CB877C5A9B7}"/>
              </a:ext>
            </a:extLst>
          </p:cNvPr>
          <p:cNvSpPr>
            <a:spLocks xmlns:a="http://schemas.openxmlformats.org/drawingml/2006/main" noGrp="1"/>
          </p:cNvSpPr>
          <p:nvPr/>
        </p:nvSpPr>
        <p:spPr>
          <a:xfrm xmlns:a="http://schemas.openxmlformats.org/drawingml/2006/main">
            <a:off x="457200" y="6457950"/>
            <a:ext cx="11277600" cy="9525"/>
          </a:xfrm>
          <a:prstGeom xmlns:a="http://schemas.openxmlformats.org/drawingml/2006/main" prst="rect">
            <a:avLst/>
          </a:prstGeom>
          <a:solidFill xmlns:a="http://schemas.openxmlformats.org/drawingml/2006/main">
            <a:srgbClr val="324157"/>
          </a:solidFill>
          <a:ln xmlns:a="http://schemas.openxmlformats.org/drawingml/2006/main" w="0">
            <a:solidFill>
              <a:srgbClr val="000000">
                <a:alpha val="0"/>
              </a:srgbClr>
            </a:solidFill>
            <a:prstDash val="solid"/>
          </a:ln>
        </p:spPr>
      </p:sp>
      <p:sp>
        <p:nvSpPr>
          <p:cNvPr id="26" name="SmallText">
            <a:extLst xmlns:a="http://schemas.openxmlformats.org/drawingml/2006/main">
              <a:ext uri="{FF2B5EF4-FFF2-40B4-BE49-F238E27FC236}">
                <a16:creationId xmlns:a16="http://schemas.microsoft.com/office/drawing/2014/main" id="{F65C0A1A-376D-463A-ABA4-CA2B768D6617}"/>
              </a:ext>
            </a:extLst>
          </p:cNvPr>
          <p:cNvSpPr>
            <a:spLocks xmlns:a="http://schemas.openxmlformats.org/drawingml/2006/main" noGrp="1"/>
          </p:cNvSpPr>
          <p:nvPr/>
        </p:nvSpPr>
        <p:spPr>
          <a:xfrm xmlns:a="http://schemas.openxmlformats.org/drawingml/2006/main">
            <a:off x="457200" y="6553200"/>
            <a:ext cx="11277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F6675"/>
                </a:solidFill>
                <a:latin typeface="Aptos"/>
                <a:ea typeface="Aptos"/>
                <a:cs typeface="Aptos"/>
              </a:defRPr>
            </a:pPr>
            <a:r>
              <a:rPr sz="1050" b="0">
                <a:solidFill>
                  <a:srgbClr val="5F6675"/>
                </a:solidFill>
                <a:latin typeface="Aptos"/>
                <a:ea typeface="Aptos"/>
                <a:cs typeface="Aptos"/>
              </a:rPr>
              <a:t>Deliverables shipped this cycle: France comparison app, bilingual audit, 2015-2024 horizon audit, July 2021 evidence note, and T20 JRC flood-check workbook.</a:t>
            </a:r>
          </a:p>
        </p:txBody>
      </p:sp>
    </p:spTree>
    <p:extLst>
      <p:ext uri="{BB962C8B-B14F-4D97-AF65-F5344CB8AC3E}">
        <p14:creationId xmlns:p14="http://schemas.microsoft.com/office/powerpoint/2010/main" val="688253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2026-06-04T11:48:38.7820000Z</dcterms:created>
  <dcterms:modified xsi:type="dcterms:W3CDTF">2026-06-04T11:48:38.7820000Z</dcterms:modified>
</coreProperties>
</file>